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recysaathi.vercel.app" TargetMode="External"/><Relationship Id="rId5" Type="http://schemas.openxmlformats.org/officeDocument/2006/relationships/hyperlink" Target="https://youtu.be/ewastesetu-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b="1" sz="2800" u="none">
                <a:solidFill>
                  <a:srgbClr val="1E3A8A"/>
                </a:solidFill>
                <a:latin typeface="Calibri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8640" y="777240"/>
            <a:ext cx="5943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600" u="none">
                <a:solidFill>
                  <a:srgbClr val="166534"/>
                </a:solidFill>
                <a:latin typeface="Calibri"/>
              </a:rPr>
              <a:t>E-Waste Setu (ई-कचरा सेतु)</a:t>
            </a:r>
          </a:p>
          <a:p>
            <a:pPr>
              <a:spcBef>
                <a:spcPts val="400"/>
              </a:spcBef>
            </a:pPr>
            <a:r>
              <a:rPr b="0" sz="1300" u="none">
                <a:solidFill>
                  <a:srgbClr val="334155"/>
                </a:solidFill>
                <a:latin typeface="Calibri"/>
              </a:rPr>
              <a:t>AI-Driven Vernacular Inclusion Platform for Informal Waste Workers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1920240"/>
            <a:ext cx="594360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201168" bIns="164592"/>
          <a:lstStyle/>
          <a:p>
            <a:pPr algn="ctr"/>
            <a:r>
              <a:rPr b="1" sz="1350" u="none">
                <a:solidFill>
                  <a:srgbClr val="166534"/>
                </a:solidFill>
                <a:latin typeface="Calibri"/>
              </a:rPr>
              <a:t>PROJECT &amp; TEAM REGISTRATION DETAILS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Problem Statement ID: </a:t>
            </a:r>
            <a:r>
              <a:rPr b="1" sz="1300" u="none">
                <a:solidFill>
                  <a:srgbClr val="0F172A"/>
                </a:solidFill>
                <a:latin typeface="Calibri"/>
              </a:rPr>
              <a:t>26229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Problem Statement Title: </a:t>
            </a:r>
            <a:r>
              <a:rPr b="0" sz="1300" u="none">
                <a:solidFill>
                  <a:srgbClr val="0F172A"/>
                </a:solidFill>
                <a:latin typeface="Calibri"/>
              </a:rPr>
              <a:t>Kabadiwala Connect – Bringing Informal Collectors to Formal Recycling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Ministry / Nodal Body: </a:t>
            </a:r>
            <a:r>
              <a:rPr b="0" sz="1300" u="none">
                <a:solidFill>
                  <a:srgbClr val="0F172A"/>
                </a:solidFill>
                <a:latin typeface="Calibri"/>
              </a:rPr>
              <a:t>Ministry of Mines (MoM) / JNARDDC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Theme &amp; PS Category: </a:t>
            </a:r>
            <a:r>
              <a:rPr b="0" sz="1300" u="none">
                <a:solidFill>
                  <a:srgbClr val="0F172A"/>
                </a:solidFill>
                <a:latin typeface="Calibri"/>
              </a:rPr>
              <a:t>Clean &amp; Green Technology / Circular Economy  |  Software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Team Name &amp; ID: </a:t>
            </a:r>
            <a:r>
              <a:rPr b="1" sz="1300" u="none">
                <a:solidFill>
                  <a:srgbClr val="0F172A"/>
                </a:solidFill>
                <a:latin typeface="Calibri"/>
              </a:rPr>
              <a:t>HelloWorldWarriors  |  Team ID: 170413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Team Leader: </a:t>
            </a:r>
            <a:r>
              <a:rPr b="0" sz="1300" u="none">
                <a:solidFill>
                  <a:srgbClr val="0F172A"/>
                </a:solidFill>
                <a:latin typeface="Calibri"/>
              </a:rPr>
              <a:t>Satya Prakash (Registered on Portal)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b="1" sz="1300" u="none">
                <a:solidFill>
                  <a:srgbClr val="166534"/>
                </a:solidFill>
                <a:latin typeface="Calibri"/>
              </a:rPr>
              <a:t>• Live Prototype App: </a:t>
            </a:r>
            <a:r>
              <a:rPr b="0" sz="1300" u="none">
                <a:solidFill>
                  <a:srgbClr val="0F172A"/>
                </a:solidFill>
                <a:latin typeface="Calibri"/>
              </a:rPr>
              <a:t>https://recysaathi.vercel.app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b="1" sz="2800" u="none">
                <a:solidFill>
                  <a:srgbClr val="0F172A"/>
                </a:solidFill>
                <a:latin typeface="Calibri"/>
              </a:rPr>
              <a:t>IDEA TITLE: E-Waste Setu (ई-कचरा सेतु)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b="1" sz="1100" u="none">
                <a:solidFill>
                  <a:srgbClr val="0F172A"/>
                </a:solidFill>
                <a:latin typeface="Calibri"/>
              </a:rPr>
              <a:t>HelloWorldWarriors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48640" y="987552"/>
            <a:ext cx="11091672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 u="none">
                <a:solidFill>
                  <a:srgbClr val="0F172A"/>
                </a:solidFill>
                <a:latin typeface="Calibri"/>
              </a:rPr>
              <a:t>Core Formal Supply Chain: </a:t>
            </a:r>
            <a:r>
              <a:rPr b="0" sz="1200" u="none">
                <a:solidFill>
                  <a:srgbClr val="166534"/>
                </a:solidFill>
                <a:latin typeface="Calibri"/>
              </a:rPr>
              <a:t>Informal Waste-Picker ➔ Local Aggregator Hub ➔ Bulk Consignment ➔ CPCB Recycler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298448"/>
            <a:ext cx="541324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400" u="none">
                <a:solidFill>
                  <a:srgbClr val="B91C1C"/>
                </a:solidFill>
                <a:latin typeface="Calibri"/>
              </a:rPr>
              <a:t>GROUND PROBLEMS &amp; SYSTEMIC FAILURES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25%–40% Price Skimming: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Unregulated middlemen eyeball high-value PCBs as mixed scrap, pocketing metal value.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Physical Scale Tampering: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Mechanical spring scales routinely discount weight by 10%–15% at informal scrap yards.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Backyard Acid Smelting: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Fragmented informal chains burn wires in open slums, causing severe toxic lead &amp; dioxin poisoning.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Extreme Digital Friction: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Text-heavy English apps fail; collectors require vernacular voice guidance &amp; visual touch UI.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08192" y="1298448"/>
            <a:ext cx="5532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400" u="none">
                <a:solidFill>
                  <a:srgbClr val="166534"/>
                </a:solidFill>
                <a:latin typeface="Calibri"/>
              </a:rPr>
              <a:t>PROPOSED SOLUTION &amp; END-TO-END FLOW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1. Voice / Visual Logging: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Collector snaps photo; on-device AI tags scrap category and displays live floor rates.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2. Digital Scale Capture: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Phone camera extracts scale display readout via OCR, binding weight proof to lot ID.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3. Local Hub Handover: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Aggregator scans lot; verifies weight &amp; pays instant Cash or UPI with digital receipt.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4. Bulk Consolidation: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Hub aggregates small lots into 1-ton bulk batches; scheduled milk-run truck dispatch.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5. Recycler Verification: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Authorized recycler confirms QR custody; auto-generates verified CPCB Form-6 manifest.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48640" y="3694176"/>
            <a:ext cx="11091672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 u="none">
                <a:solidFill>
                  <a:srgbClr val="0F172A"/>
                </a:solidFill>
                <a:latin typeface="Calibri"/>
              </a:rPr>
              <a:t>INNOVATION &amp; CORE UNIQUENESS OF THE SOLUTION: </a:t>
            </a:r>
            <a:r>
              <a:rPr b="0" sz="1200" u="none">
                <a:solidFill>
                  <a:srgbClr val="0284C7"/>
                </a:solidFill>
                <a:latin typeface="Calibri"/>
              </a:rPr>
              <a:t>Zero-Disruption Architecture Built for Real-World Field Adoption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48640" y="3968496"/>
            <a:ext cx="2679192" cy="23225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73152"/>
          <a:lstStyle/>
          <a:p>
            <a:pPr algn="ctr"/>
            <a:r>
              <a:rPr b="1" sz="1150" u="none">
                <a:solidFill>
                  <a:srgbClr val="166534"/>
                </a:solidFill>
                <a:latin typeface="Calibri"/>
              </a:rPr>
              <a:t>INNOVATION 1
</a:t>
            </a:r>
            <a:r>
              <a:rPr b="1" sz="1350" u="none">
                <a:solidFill>
                  <a:srgbClr val="0F172A"/>
                </a:solidFill>
                <a:latin typeface="Calibri"/>
              </a:rPr>
              <a:t>Local Aggregator Hubs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Scrap Hub Inclusion: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Onboards existing informal scrap shops as certified collection hubs instead of disintermediating them.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Margin Preservation: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Aggregators earn legitimate 4%–6% bulk consolidation spread with zero price fluctuation risk.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355848" y="3968496"/>
            <a:ext cx="2679192" cy="23225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73152"/>
          <a:lstStyle/>
          <a:p>
            <a:pPr algn="ctr"/>
            <a:r>
              <a:rPr b="1" sz="1150" u="none">
                <a:solidFill>
                  <a:srgbClr val="B45309"/>
                </a:solidFill>
                <a:latin typeface="Calibri"/>
              </a:rPr>
              <a:t>INNOVATION 2
</a:t>
            </a:r>
            <a:r>
              <a:rPr b="1" sz="1350" u="none">
                <a:solidFill>
                  <a:srgbClr val="0F172A"/>
                </a:solidFill>
                <a:latin typeface="Calibri"/>
              </a:rPr>
              <a:t>Camera Scale OCR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Zero Hardware Capex: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Uses smartphone camera to read existing digital &amp; dial scales—zero expensive new hardware required.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Tamper-Proof Weight: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Binds scale photo and numeric OCR reading to lot ID, eliminating weighing disputes.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63056" y="3968496"/>
            <a:ext cx="2679192" cy="23225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73152"/>
          <a:lstStyle/>
          <a:p>
            <a:pPr algn="ctr"/>
            <a:r>
              <a:rPr b="1" sz="1150" u="none">
                <a:solidFill>
                  <a:srgbClr val="0284C7"/>
                </a:solidFill>
                <a:latin typeface="Calibri"/>
              </a:rPr>
              <a:t>INNOVATION 3
</a:t>
            </a:r>
            <a:r>
              <a:rPr b="1" sz="1350" u="none">
                <a:solidFill>
                  <a:srgbClr val="0F172A"/>
                </a:solidFill>
                <a:latin typeface="Calibri"/>
              </a:rPr>
              <a:t>Multimodal Vernacular AI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10+ Indian Dialects: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Speech-to-speech interaction powered by AI4Bharat Indic models for non-literate workers.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Visual Touch Catalog: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Icon-based scrap categorization allows instant logging with zero typing or reading.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970264" y="3968496"/>
            <a:ext cx="2679192" cy="23225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73152"/>
          <a:lstStyle/>
          <a:p>
            <a:pPr algn="ctr"/>
            <a:r>
              <a:rPr b="1" sz="1150" u="none">
                <a:solidFill>
                  <a:srgbClr val="6D28D9"/>
                </a:solidFill>
                <a:latin typeface="Calibri"/>
              </a:rPr>
              <a:t>INNOVATION 4
</a:t>
            </a:r>
            <a:r>
              <a:rPr b="1" sz="1350" u="none">
                <a:solidFill>
                  <a:srgbClr val="0F172A"/>
                </a:solidFill>
                <a:latin typeface="Calibri"/>
              </a:rPr>
              <a:t>Verifiable Chain of Custody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6D28D9"/>
                </a:solidFill>
                <a:latin typeface="Calibri"/>
              </a:rPr>
              <a:t>• Dual-Key QR Manifests: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Links physical scrap custody directly to CPCB EPR portal credits via SHA-256 tokens.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6D28D9"/>
                </a:solidFill>
                <a:latin typeface="Calibri"/>
              </a:rPr>
              <a:t>• Fraud-Proof Audit: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Replaces fake paper-only certificates with immutable photos, GPS origin, and weight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800" u="none">
                <a:solidFill>
                  <a:srgbClr val="0F172A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b="1" sz="1100" u="none">
                <a:solidFill>
                  <a:srgbClr val="0F172A"/>
                </a:solidFill>
                <a:latin typeface="Calibri"/>
              </a:rPr>
              <a:t>HelloWorldWarriors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987552"/>
            <a:ext cx="11091672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 u="none">
                <a:solidFill>
                  <a:srgbClr val="0F172A"/>
                </a:solidFill>
                <a:latin typeface="Calibri"/>
              </a:rPr>
              <a:t>End-to-End System Pipeline &amp; Technology Architecture: </a:t>
            </a:r>
            <a:r>
              <a:rPr b="0" sz="1200" u="none">
                <a:solidFill>
                  <a:srgbClr val="166534"/>
                </a:solidFill>
                <a:latin typeface="Calibri"/>
              </a:rPr>
              <a:t>Offline-First Mobile PWA, Multi-Modal AI Engines &amp; Spatial Dispatch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48920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400" u="none">
                <a:solidFill>
                  <a:srgbClr val="166534"/>
                </a:solidFill>
                <a:latin typeface="Calibri"/>
              </a:rPr>
              <a:t>PRODUCTION TECH STACK ARCHITECTURE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Client / Mobile: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React 18 PWA + Vite with offline-first IndexedDB (zero app store barrier, ₹4k phones).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Microservices Core: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Node.js + Fastify backend with sub-20ms latency and high-throughput async processing.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Spatial Database: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PostgreSQL 16 + PostGIS for geo-fenced scrap aggregator routing &amp; cluster density mapping.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Security &amp; Tokens: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SHA-256 cryptographic batch tokenization &amp; dynamic QR manifests compliant with CPCB Form-6.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840480"/>
            <a:ext cx="4892040" cy="2450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400" u="none">
                <a:solidFill>
                  <a:srgbClr val="0284C7"/>
                </a:solidFill>
                <a:latin typeface="Calibri"/>
              </a:rPr>
              <a:t>AI &amp; PLATFORM INTELLIGENCE ENGINES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Visual Scrap AI: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Quantized MobileNetV3 (&lt;5MB) classifies motherboards, motors &amp; copper wire in real time.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Scale OCR Engine: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OpenCV perspective warp rectification + 7-segment numeric display extraction from scale photos.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Price Index Engine: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Live benchmark floor mapped to LME spot rates for Gold, Copper, Silver &amp; Palladium.</a:t>
            </a:r>
          </a:p>
          <a:p>
            <a:pPr>
              <a:spcBef>
                <a:spcPts val="35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Indic Voice AI: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Speech recognition in 10+ regional Indian languages (Hindi, Marathi, Tamil, Bengali).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23560" y="1298448"/>
            <a:ext cx="6016752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50" u="none">
                <a:solidFill>
                  <a:srgbClr val="0F172A"/>
                </a:solidFill>
                <a:latin typeface="Calibri"/>
              </a:rPr>
              <a:t>OPERATIONAL LIFECYCLE: 5-STEP VISUAL PROCESSING PIPELINE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623560" y="1554480"/>
            <a:ext cx="6016752" cy="749808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36576"/>
          <a:lstStyle/>
          <a:p>
            <a:pPr algn="ctr"/>
            <a:r>
              <a:rPr b="1" sz="1250" u="none">
                <a:solidFill>
                  <a:srgbClr val="166534"/>
                </a:solidFill>
                <a:latin typeface="Calibri"/>
              </a:rPr>
              <a:t>STEP 1: COLLECT &amp; IDENTIFY</a:t>
            </a:r>
          </a:p>
          <a:p>
            <a:pPr>
              <a:spcBef>
                <a:spcPts val="150"/>
              </a:spcBef>
            </a:pPr>
            <a:r>
              <a:rPr b="0" sz="1200" u="none">
                <a:solidFill>
                  <a:srgbClr val="0F172A"/>
                </a:solidFill>
                <a:latin typeface="Calibri"/>
              </a:rPr>
              <a:t>Collector snaps scrap photo; AI model classifies category &amp; instantly displays live transparent price benchmark floor.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623560" y="2377440"/>
            <a:ext cx="6016752" cy="749808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36576"/>
          <a:lstStyle/>
          <a:p>
            <a:pPr algn="ctr"/>
            <a:r>
              <a:rPr b="1" sz="1250" u="none">
                <a:solidFill>
                  <a:srgbClr val="0284C7"/>
                </a:solidFill>
                <a:latin typeface="Calibri"/>
              </a:rPr>
              <a:t>STEP 2: CREATE DIGITAL LOT</a:t>
            </a:r>
          </a:p>
          <a:p>
            <a:pPr>
              <a:spcBef>
                <a:spcPts val="150"/>
              </a:spcBef>
            </a:pPr>
            <a:r>
              <a:rPr b="0" sz="1200" u="none">
                <a:solidFill>
                  <a:srgbClr val="0F172A"/>
                </a:solidFill>
                <a:latin typeface="Calibri"/>
              </a:rPr>
              <a:t>Pre-calibrates lot with estimated weight, binding GPS geolocation, photo evidence &amp; immutable server timestamp.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623560" y="3200400"/>
            <a:ext cx="6016752" cy="749808"/>
          </a:xfrm>
          <a:prstGeom prst="roundRect">
            <a:avLst/>
          </a:prstGeom>
          <a:solidFill>
            <a:srgbClr val="FEF3C7"/>
          </a:solidFill>
          <a:ln w="1778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36576"/>
          <a:lstStyle/>
          <a:p>
            <a:pPr algn="ctr"/>
            <a:r>
              <a:rPr b="1" sz="1250" u="none">
                <a:solidFill>
                  <a:srgbClr val="B45309"/>
                </a:solidFill>
                <a:latin typeface="Calibri"/>
              </a:rPr>
              <a:t>STEP 3: HUB SCALE VERIFICATION</a:t>
            </a:r>
          </a:p>
          <a:p>
            <a:pPr>
              <a:spcBef>
                <a:spcPts val="150"/>
              </a:spcBef>
            </a:pPr>
            <a:r>
              <a:rPr b="0" sz="1200" u="none">
                <a:solidFill>
                  <a:srgbClr val="0F172A"/>
                </a:solidFill>
                <a:latin typeface="Calibri"/>
              </a:rPr>
              <a:t>Aggregator confirms weight via camera scale OCR readout; settles instant Cash/UPI with verifiable digital receipt.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623560" y="4023360"/>
            <a:ext cx="6016752" cy="749808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36576"/>
          <a:lstStyle/>
          <a:p>
            <a:pPr algn="ctr"/>
            <a:r>
              <a:rPr b="1" sz="1250" u="none">
                <a:solidFill>
                  <a:srgbClr val="1E3A8A"/>
                </a:solidFill>
                <a:latin typeface="Calibri"/>
              </a:rPr>
              <a:t>STEP 4: SMART BULK CONSOLIDATION</a:t>
            </a:r>
          </a:p>
          <a:p>
            <a:pPr>
              <a:spcBef>
                <a:spcPts val="150"/>
              </a:spcBef>
            </a:pPr>
            <a:r>
              <a:rPr b="0" sz="1200" u="none">
                <a:solidFill>
                  <a:srgbClr val="0F172A"/>
                </a:solidFill>
                <a:latin typeface="Calibri"/>
              </a:rPr>
              <a:t>Hub bundles small lots into 1-ton bulk consignments; PostGIS engine dispatches optimized milk-run truck routing.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623560" y="4846320"/>
            <a:ext cx="6016752" cy="749808"/>
          </a:xfrm>
          <a:prstGeom prst="roundRect">
            <a:avLst/>
          </a:prstGeom>
          <a:solidFill>
            <a:srgbClr val="FAF5FF"/>
          </a:solidFill>
          <a:ln w="1778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36576"/>
          <a:lstStyle/>
          <a:p>
            <a:pPr algn="ctr"/>
            <a:r>
              <a:rPr b="1" sz="1250" u="none">
                <a:solidFill>
                  <a:srgbClr val="6D28D9"/>
                </a:solidFill>
                <a:latin typeface="Calibri"/>
              </a:rPr>
              <a:t>STEP 5: RECYCLER INTAKE &amp; COMPLIANCE</a:t>
            </a:r>
          </a:p>
          <a:p>
            <a:pPr>
              <a:spcBef>
                <a:spcPts val="150"/>
              </a:spcBef>
            </a:pPr>
            <a:r>
              <a:rPr b="0" sz="1200" u="none">
                <a:solidFill>
                  <a:srgbClr val="0F172A"/>
                </a:solidFill>
                <a:latin typeface="Calibri"/>
              </a:rPr>
              <a:t>Authorized recycler scans batch QR; confirms custody and auto-submits digital CPCB Form-6 manifest to EPR portal.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623560" y="5705856"/>
            <a:ext cx="60167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b="1" sz="1250" u="none">
                <a:solidFill>
                  <a:srgbClr val="166534"/>
                </a:solidFill>
                <a:latin typeface="Calibri"/>
              </a:rPr>
              <a:t>VERIFIABLE CUSTODY STRIP: </a:t>
            </a:r>
            <a:r>
              <a:rPr b="1" sz="1200" u="none">
                <a:solidFill>
                  <a:srgbClr val="0F172A"/>
                </a:solidFill>
                <a:latin typeface="Calibri"/>
              </a:rPr>
              <a:t>Photo Proof ➔ Scale OCR ➔ GPS Origin ➔ Dynamic QR ➔ Recycler Intake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800" u="none">
                <a:solidFill>
                  <a:srgbClr val="0F172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b="1" sz="1100" u="none">
                <a:solidFill>
                  <a:srgbClr val="0F172A"/>
                </a:solidFill>
                <a:latin typeface="Calibri"/>
              </a:rPr>
              <a:t>HelloWorldWarriors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987552"/>
            <a:ext cx="11091672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 u="none">
                <a:solidFill>
                  <a:srgbClr val="0F172A"/>
                </a:solidFill>
                <a:latin typeface="Calibri"/>
              </a:rPr>
              <a:t>Defensible Ground Viability: </a:t>
            </a:r>
            <a:r>
              <a:rPr b="0" sz="1200" u="none">
                <a:solidFill>
                  <a:srgbClr val="166534"/>
                </a:solidFill>
                <a:latin typeface="Calibri"/>
              </a:rPr>
              <a:t>Multi-Pillar Feasibility Analysis &amp; Ground Risk Mitigation Matrix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5029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ctr"/>
            <a:r>
              <a:rPr b="1" sz="1350" u="none">
                <a:solidFill>
                  <a:srgbClr val="1E3A8A"/>
                </a:solidFill>
                <a:latin typeface="Calibri"/>
              </a:rPr>
              <a:t>TECHNICAL FEASIBILITY</a:t>
            </a:r>
            <a:r>
              <a:rPr b="0" sz="1150" u="none">
                <a:solidFill>
                  <a:srgbClr val="64748B"/>
                </a:solidFill>
                <a:latin typeface="Calibri"/>
              </a:rPr>
              <a:t>  |  Zero-Capex Architecture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Budget Device Support: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Lightweight PWA runs smoothly on entry-level ₹4,000 Android phones without extra apps.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Offline-First Resilience: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Encrypted IndexedDB queues transactions locally during 2G dead zones; auto-syncs on reconnect.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2962656"/>
            <a:ext cx="5029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ctr"/>
            <a:r>
              <a:rPr b="1" sz="1350" u="none">
                <a:solidFill>
                  <a:srgbClr val="166534"/>
                </a:solidFill>
                <a:latin typeface="Calibri"/>
              </a:rPr>
              <a:t>OPERATIONAL FEASIBILITY</a:t>
            </a:r>
            <a:r>
              <a:rPr b="0" sz="1150" u="none">
                <a:solidFill>
                  <a:srgbClr val="64748B"/>
                </a:solidFill>
                <a:latin typeface="Calibri"/>
              </a:rPr>
              <a:t>  |  Aligned with Field Scrap Realities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Existing Hub Onboarding: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Integrates local scrap dealers as certified hubs rather than attempting to bypass them.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Zero Literacy Hurdle: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Vernacular voice navigation and visual component icons remove all reading and typing friction.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4626864"/>
            <a:ext cx="5029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ctr"/>
            <a:r>
              <a:rPr b="1" sz="1350" u="none">
                <a:solidFill>
                  <a:srgbClr val="B45309"/>
                </a:solidFill>
                <a:latin typeface="Calibri"/>
              </a:rPr>
              <a:t>ECONOMIC VIABILITY</a:t>
            </a:r>
            <a:r>
              <a:rPr b="0" sz="1150" u="none">
                <a:solidFill>
                  <a:srgbClr val="64748B"/>
                </a:solidFill>
                <a:latin typeface="Calibri"/>
              </a:rPr>
              <a:t>  |  Defensible Multi-Stakeholder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Informal Collector (0% Fee):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100% free access; captures +44.8% income uplift via direct formal pricing benchmarks.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Sustainable Monetization: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1.5% transaction commission paid by recyclers + B2B enterprise EPR compliance SaaS for brand OEMs.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742432" y="1298448"/>
            <a:ext cx="589788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50" u="none">
                <a:solidFill>
                  <a:srgbClr val="0F172A"/>
                </a:solidFill>
                <a:latin typeface="Calibri"/>
              </a:rPr>
              <a:t>DEFENSIBLE RISK MITIGATION: CHALLENGES &amp; SOLUTIONS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5742432" y="1572768"/>
          <a:ext cx="5897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4747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50" u="none">
                          <a:solidFill>
                            <a:srgbClr val="FFFFFF"/>
                          </a:solidFill>
                          <a:latin typeface="Calibri"/>
                        </a:rPr>
                        <a:t>GROUND CHALLENGE / RISK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 u="none">
                          <a:solidFill>
                            <a:srgbClr val="FFFFFF"/>
                          </a:solidFill>
                          <a:latin typeface="Calibri"/>
                        </a:rPr>
                        <a:t>OUR PRACTICAL SOLUTION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0F172A"/>
                          </a:solidFill>
                          <a:latin typeface="Calibri"/>
                        </a:rPr>
                        <a:t>Low Digital Literacy:
Informal collectors struggle with text-heavy smartphone apps.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334155"/>
                          </a:solidFill>
                          <a:latin typeface="Calibri"/>
                        </a:rPr>
                        <a:t>Voice + Pictorial Interface:
Visual category icons &amp; vernacular regional audio guide collectors with zero typing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0F172A"/>
                          </a:solidFill>
                          <a:latin typeface="Calibri"/>
                        </a:rPr>
                        <a:t>Poor Slum Connectivity:
Dense scrap clusters experience frequent 2G network drops.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334155"/>
                          </a:solidFill>
                          <a:latin typeface="Calibri"/>
                        </a:rPr>
                        <a:t>Offline-First PWA Sync:
Local IndexedDB buffers receipts and photos; auto-syncs securely upon network reconnection.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0F172A"/>
                          </a:solidFill>
                          <a:latin typeface="Calibri"/>
                        </a:rPr>
                        <a:t>Weighing Scale Disputes:
Dealers tamper with analog scales to discount collected weight.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334155"/>
                          </a:solidFill>
                          <a:latin typeface="Calibri"/>
                        </a:rPr>
                        <a:t>Camera Scale OCR Proof:
Phone camera captures scale display; AI extracts numeric digits, binding photo proof to lot 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0F172A"/>
                          </a:solidFill>
                          <a:latin typeface="Calibri"/>
                        </a:rPr>
                        <a:t>Aggregator Resistance:
Middlemen scrap dealers oppose apps that bypass them.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334155"/>
                          </a:solidFill>
                          <a:latin typeface="Calibri"/>
                        </a:rPr>
                        <a:t>Make Dealers Collection Hubs:
Integrates aggregators as certified hubs earning legitimate handling margins on bulk trade.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0F172A"/>
                          </a:solidFill>
                          <a:latin typeface="Calibri"/>
                        </a:rPr>
                        <a:t>Fake Paper-Only EPR:
Recyclers face fake paper credits without actual scrap recovery.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 u="none">
                          <a:solidFill>
                            <a:srgbClr val="334155"/>
                          </a:solidFill>
                          <a:latin typeface="Calibri"/>
                        </a:rPr>
                        <a:t>Cryptographic Custody:
Dual-scan QR verification logs photo, weight, GPS &amp; time, ensuring 100% CPCB audit compliance.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800" u="none">
                <a:solidFill>
                  <a:srgbClr val="0F172A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b="1" sz="1100" u="none">
                <a:solidFill>
                  <a:srgbClr val="0F172A"/>
                </a:solidFill>
                <a:latin typeface="Calibri"/>
              </a:rPr>
              <a:t>HelloWorldWarriors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960120"/>
            <a:ext cx="11091672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 u="none">
                <a:solidFill>
                  <a:srgbClr val="0F172A"/>
                </a:solidFill>
                <a:latin typeface="Calibri"/>
              </a:rPr>
              <a:t>Stakeholder Value Transformation, Macro Impacts &amp; Business Model: </a:t>
            </a:r>
            <a:r>
              <a:rPr b="0" sz="1200" u="none">
                <a:solidFill>
                  <a:srgbClr val="166534"/>
                </a:solidFill>
                <a:latin typeface="Calibri"/>
              </a:rPr>
              <a:t>Multi-Tier Value Creation Across the Informal-to-Formal Recycling Chain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34440"/>
            <a:ext cx="2679192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36576"/>
          <a:lstStyle/>
          <a:p>
            <a:pPr algn="ctr"/>
            <a:r>
              <a:rPr b="1" sz="1250" u="none">
                <a:solidFill>
                  <a:srgbClr val="166534"/>
                </a:solidFill>
                <a:latin typeface="Calibri"/>
              </a:rPr>
              <a:t>1. INFORMAL COLLECTORS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Before: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25%–40% skimmed by middlemen; scale tampering.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With Setu: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+44.8% income uplift; scale OCR photo proof.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Value: </a:t>
            </a:r>
            <a:r>
              <a:rPr b="1" sz="1200" u="none">
                <a:solidFill>
                  <a:srgbClr val="166534"/>
                </a:solidFill>
                <a:latin typeface="Calibri"/>
              </a:rPr>
              <a:t>Fair benchmark floor &amp; formal financial ID.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55848" y="1234440"/>
            <a:ext cx="2679192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36576"/>
          <a:lstStyle/>
          <a:p>
            <a:pPr algn="ctr"/>
            <a:r>
              <a:rPr b="1" sz="1250" u="none">
                <a:solidFill>
                  <a:srgbClr val="B45309"/>
                </a:solidFill>
                <a:latin typeface="Calibri"/>
              </a:rPr>
              <a:t>2. LOCAL AGGREGATORS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Before: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Manual paper bahi-khata; high inventory risk.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With Setu: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Digital lotting &amp; guaranteed recycler off-take.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Value: </a:t>
            </a:r>
            <a:r>
              <a:rPr b="1" sz="1200" u="none">
                <a:solidFill>
                  <a:srgbClr val="B45309"/>
                </a:solidFill>
                <a:latin typeface="Calibri"/>
              </a:rPr>
              <a:t>Certified hub status &amp; 4%–6% volume spread.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63056" y="1234440"/>
            <a:ext cx="2679192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36576"/>
          <a:lstStyle/>
          <a:p>
            <a:pPr algn="ctr"/>
            <a:r>
              <a:rPr b="1" sz="1250" u="none">
                <a:solidFill>
                  <a:srgbClr val="1E3A8A"/>
                </a:solidFill>
                <a:latin typeface="Calibri"/>
              </a:rPr>
              <a:t>3. AUTHORIZED RECYCLERS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Before: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90% scrap lost to crude backyard acid burning.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With Setu: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Pre-sorted bulk feedstock with verified custody.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Value: </a:t>
            </a:r>
            <a:r>
              <a:rPr b="1" sz="1200" u="none">
                <a:solidFill>
                  <a:srgbClr val="1E3A8A"/>
                </a:solidFill>
                <a:latin typeface="Calibri"/>
              </a:rPr>
              <a:t>3.5%–8.5% lower sourcing costs &amp; full capacity.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70264" y="1234440"/>
            <a:ext cx="2679192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36576"/>
          <a:lstStyle/>
          <a:p>
            <a:pPr algn="ctr"/>
            <a:r>
              <a:rPr b="1" sz="1250" u="none">
                <a:solidFill>
                  <a:srgbClr val="6D28D9"/>
                </a:solidFill>
                <a:latin typeface="Calibri"/>
              </a:rPr>
              <a:t>4. REGULATORS / EPR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B91C1C"/>
                </a:solidFill>
                <a:latin typeface="Calibri"/>
              </a:rPr>
              <a:t>• Before: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Unmonitored scrap leakage; fake paper credits.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With Setu: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End-to-end QR custody trail with Form-6 filing.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1200" u="none">
                <a:solidFill>
                  <a:srgbClr val="6D28D9"/>
                </a:solidFill>
                <a:latin typeface="Calibri"/>
              </a:rPr>
              <a:t>• Value: </a:t>
            </a:r>
            <a:r>
              <a:rPr b="1" sz="1200" u="none">
                <a:solidFill>
                  <a:srgbClr val="6D28D9"/>
                </a:solidFill>
                <a:latin typeface="Calibri"/>
              </a:rPr>
              <a:t>Fraud-free EPR compliance &amp; circular trace.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2816352"/>
            <a:ext cx="3611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36576"/>
          <a:lstStyle/>
          <a:p>
            <a:pPr algn="ctr"/>
            <a:r>
              <a:rPr b="1" sz="1250" u="none">
                <a:solidFill>
                  <a:srgbClr val="0284C7"/>
                </a:solidFill>
                <a:latin typeface="Calibri"/>
              </a:rPr>
              <a:t>SOCIAL IMPACT | Livelihoods &amp; Safety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Financial Inclusion: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Digital transaction ledger unlocks formal credit, banking &amp; micro-loans.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0284C7"/>
                </a:solidFill>
                <a:latin typeface="Calibri"/>
              </a:rPr>
              <a:t>• Worker Dignity: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Transitions informal waste-pickers into recognized, certified green collar workers.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88536" y="2816352"/>
            <a:ext cx="3611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36576"/>
          <a:lstStyle/>
          <a:p>
            <a:pPr algn="ctr"/>
            <a:r>
              <a:rPr b="1" sz="1250" u="none">
                <a:solidFill>
                  <a:srgbClr val="B45309"/>
                </a:solidFill>
                <a:latin typeface="Calibri"/>
              </a:rPr>
              <a:t>ECONOMIC IMPACT | Market Efficiency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Price Transparency: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Live LME benchmark floor completely halts predatory 25%–40% middleman price cuts.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Logistics Optimization: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Consolidated milk-run truck dispatch lowers recycler freight costs by 35%.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28432" y="2816352"/>
            <a:ext cx="3611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36576"/>
          <a:lstStyle/>
          <a:p>
            <a:pPr algn="ctr"/>
            <a:r>
              <a:rPr b="1" sz="1250" u="none">
                <a:solidFill>
                  <a:srgbClr val="166534"/>
                </a:solidFill>
                <a:latin typeface="Calibri"/>
              </a:rPr>
              <a:t>ENVIRONMENTAL IMPACT | Toxic Diversion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Zero Toxic Burning: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Diverts toxic PCBs away from backyard acid baths and open-wire burning in slums.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Critical Minerals: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Secures domestic hydrometallurgical recovery of high-purity Cu, Au, Ag &amp; Li.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48640" y="4315968"/>
            <a:ext cx="11091672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50" u="none">
                <a:solidFill>
                  <a:srgbClr val="0F172A"/>
                </a:solidFill>
                <a:latin typeface="Calibri"/>
              </a:rPr>
              <a:t>BUSINESS MODEL &amp; FINANCIAL SUSTAINABILITY: </a:t>
            </a:r>
            <a:r>
              <a:rPr b="0" sz="1200" u="none">
                <a:solidFill>
                  <a:srgbClr val="166534"/>
                </a:solidFill>
                <a:latin typeface="Calibri"/>
              </a:rPr>
              <a:t>Self-Reinforcing Commercial Architecture with Zero Burden on Informal Workers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4553712"/>
            <a:ext cx="2679192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54864"/>
          <a:lstStyle/>
          <a:p>
            <a:pPr algn="ctr"/>
            <a:r>
              <a:rPr b="1" sz="1250" u="none">
                <a:solidFill>
                  <a:srgbClr val="166534"/>
                </a:solidFill>
                <a:latin typeface="Calibri"/>
              </a:rPr>
              <a:t>1. ZERO-FEE WORKERS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100% Free Forever: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Zero subscription fees or hardware lock-in barrier.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+44.8% Cash Uplift: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Direct formal benchmark rates stop middleman discounts.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55848" y="4553712"/>
            <a:ext cx="2679192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54864"/>
          <a:lstStyle/>
          <a:p>
            <a:pPr algn="ctr"/>
            <a:r>
              <a:rPr b="1" sz="1250" u="none">
                <a:solidFill>
                  <a:srgbClr val="B45309"/>
                </a:solidFill>
                <a:latin typeface="Calibri"/>
              </a:rPr>
              <a:t>2. LOCAL AGGREGATORS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4%–6% Bulk Margins: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Earns handling spread on bulk aggregated volume.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Zero Inventory Risk: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Guaranteed recycler off-take contracts eliminate price risk.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63056" y="4553712"/>
            <a:ext cx="2679192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54864"/>
          <a:lstStyle/>
          <a:p>
            <a:pPr algn="ctr"/>
            <a:r>
              <a:rPr b="1" sz="1250" u="none">
                <a:solidFill>
                  <a:srgbClr val="1E3A8A"/>
                </a:solidFill>
                <a:latin typeface="Calibri"/>
              </a:rPr>
              <a:t>3. AUTHORIZED RECYCLERS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1.5% Intake Commission: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Paid per verified ton (vs 5%–10% predatory broker fees).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3.5%–8.5% Cost Savings: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Pre-sorted bulk scrap lowers processing and purity loss.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970264" y="4553712"/>
            <a:ext cx="2679192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54864"/>
          <a:lstStyle/>
          <a:p>
            <a:pPr algn="ctr"/>
            <a:r>
              <a:rPr b="1" sz="1250" u="none">
                <a:solidFill>
                  <a:srgbClr val="6D28D9"/>
                </a:solidFill>
                <a:latin typeface="Calibri"/>
              </a:rPr>
              <a:t>4. ENTERPRISE EPR SAAS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6D28D9"/>
                </a:solidFill>
                <a:latin typeface="Calibri"/>
              </a:rPr>
              <a:t>• B2B Compliance SaaS: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Annual enterprise API audit subscription for brand OEMs.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b="1" sz="1200" u="none">
                <a:solidFill>
                  <a:srgbClr val="6D28D9"/>
                </a:solidFill>
                <a:latin typeface="Calibri"/>
              </a:rPr>
              <a:t>• Scalable Growth: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1.5% commission scales with formal material turnover.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800" u="none">
                <a:solidFill>
                  <a:srgbClr val="0F172A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b="1" sz="1100" u="none">
                <a:solidFill>
                  <a:srgbClr val="0F172A"/>
                </a:solidFill>
                <a:latin typeface="Calibri"/>
              </a:rPr>
              <a:t>HelloWorldWarriors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987552"/>
            <a:ext cx="11091672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 u="none">
                <a:solidFill>
                  <a:srgbClr val="0F172A"/>
                </a:solidFill>
                <a:latin typeface="Calibri"/>
              </a:rPr>
              <a:t>Evidence-Based Architecture: </a:t>
            </a:r>
            <a:r>
              <a:rPr b="0" sz="1200" u="none">
                <a:solidFill>
                  <a:srgbClr val="166534"/>
                </a:solidFill>
                <a:latin typeface="Calibri"/>
              </a:rPr>
              <a:t>Statutory Regulatory Mandates, Peer-Reviewed AI Research &amp; Empirical Field Studies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361188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350" u="none">
                <a:solidFill>
                  <a:srgbClr val="1E3A8A"/>
                </a:solidFill>
                <a:latin typeface="Calibri"/>
              </a:rPr>
              <a:t>1. POLICY &amp; REGULATORY MANDATES</a:t>
            </a:r>
            <a:r>
              <a:rPr b="0" sz="1150" u="none">
                <a:solidFill>
                  <a:srgbClr val="64748B"/>
                </a:solidFill>
                <a:latin typeface="Calibri"/>
              </a:rPr>
              <a:t>
National Standards &amp; Statutory Rules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SIH Problem 26229 (MoM / JNARDDC):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Establishes core mandate for formalizing informal waste-pickers and setting verified price benchmarks.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CPCB E-Waste Rules 2022: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Enforces digital EPR credit trading, formal recycler licensing, and automated Form-6 filing audit trails.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NITI Aayog Circular Economy: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Prioritizes decentralized aggregation hubs, fair floor pricing, and domestic critical mineral recovery.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E3A8A"/>
                </a:solidFill>
                <a:latin typeface="Calibri"/>
              </a:rPr>
              <a:t>• Toxics Link Field Studies: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Documents 25–40% value skimming by middlemen and severe heavy metal contamination from crude burning.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88536" y="1298448"/>
            <a:ext cx="361188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350" u="none">
                <a:solidFill>
                  <a:srgbClr val="166534"/>
                </a:solidFill>
                <a:latin typeface="Calibri"/>
              </a:rPr>
              <a:t>2. TECHNOLOGY &amp; AI RESEARCH</a:t>
            </a:r>
            <a:r>
              <a:rPr b="0" sz="1150" u="none">
                <a:solidFill>
                  <a:srgbClr val="64748B"/>
                </a:solidFill>
                <a:latin typeface="Calibri"/>
              </a:rPr>
              <a:t>
Peer-Reviewed Models &amp; Open Standards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IEEE Access (2021) E-Waste AI: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Proves transfer-learning CNNs achieve 94%+ classification accuracy for electronic scrap on edge hardware.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MobileNetV3 (Google Research):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Hardware-aware quantized INT8 neural model (&lt;5MB) running real-time on budget Android smartphones.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AI4Bharat Indic Speech (IIT Madras):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Vernacular speech-to-text and voice synthesis in 10+ regional Indian languages for low-literacy workers.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166534"/>
                </a:solidFill>
                <a:latin typeface="Calibri"/>
              </a:rPr>
              <a:t>• PostGIS Spatial Clustering: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Geospatial indexing (ST_DWithin) and K-Nearest-Neighbor queries for optimal collector-to-hub routing.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28432" y="1298448"/>
            <a:ext cx="361188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b="1" sz="1350" u="none">
                <a:solidFill>
                  <a:srgbClr val="B45309"/>
                </a:solidFill>
                <a:latin typeface="Calibri"/>
              </a:rPr>
              <a:t>3. PRIMARY FIELD RESEARCH</a:t>
            </a:r>
            <a:r>
              <a:rPr b="0" sz="1150" u="none">
                <a:solidFill>
                  <a:srgbClr val="64748B"/>
                </a:solidFill>
                <a:latin typeface="Calibri"/>
              </a:rPr>
              <a:t>
On-Ground Interviews &amp; Validation (Delhi)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Collector 01 (Waste-Picker):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"Scrap dealers deduct 1–2 kg on mechanical spring scales. If we have true rates and scale photo proof, no one can cut our money."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Collector 02 (Itinerant Buyer):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"Households bargain hard because they don't trust our rates. Showing live market rates on our phone closes deals fast."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Aggregator 03 (Scrap Hub Owner):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"Big recyclers pay higher rates but demand bulk lots and manifests. Digital lotting lets us operate as certified formal hubs."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b="1" sz="1200" u="none">
                <a:solidFill>
                  <a:srgbClr val="B45309"/>
                </a:solidFill>
                <a:latin typeface="Calibri"/>
              </a:rPr>
              <a:t>• Core Field Validation: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100% of informal actors confirm willingness to use free voice app with instant UPI settlement.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4846320"/>
            <a:ext cx="5477256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b="1" sz="1250" u="none">
                <a:solidFill>
                  <a:srgbClr val="166534"/>
                </a:solidFill>
                <a:latin typeface="Calibri"/>
              </a:rPr>
              <a:t>PROTOTYPE WEB APPLICATION:  </a:t>
            </a:r>
            <a:r>
              <a:rPr b="1" sz="1250" u="sng">
                <a:solidFill>
                  <a:srgbClr val="1E3A8A"/>
                </a:solidFill>
                <a:latin typeface="Calibri"/>
                <a:hlinkClick r:id="rId4"/>
              </a:rPr>
              <a:t>https://recysaathi.vercel.app ↗</a:t>
            </a:r>
          </a:p>
          <a:p>
            <a:pPr>
              <a:spcBef>
                <a:spcPts val="400"/>
              </a:spcBef>
            </a:pPr>
            <a:r>
              <a:rPr b="1" sz="1200" u="none">
                <a:solidFill>
                  <a:srgbClr val="0F172A"/>
                </a:solidFill>
                <a:latin typeface="Calibri"/>
              </a:rPr>
              <a:t>Live Responsive PWA: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Mobile web app with visual scrap touch categories, offline IndexedDB transaction storage, and camera scale OCR weight extraction for budget Android phones.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63056" y="4846320"/>
            <a:ext cx="5477256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b="1" sz="1200" u="none">
                <a:solidFill>
                  <a:srgbClr val="1E3A8A"/>
                </a:solidFill>
                <a:latin typeface="Calibri"/>
              </a:rPr>
              <a:t>YOUTUBE VIDEO DEMONSTRATION:  </a:t>
            </a:r>
            <a:r>
              <a:rPr b="1" sz="1200" u="sng">
                <a:solidFill>
                  <a:srgbClr val="1E3A8A"/>
                </a:solidFill>
                <a:latin typeface="Calibri"/>
                <a:hlinkClick r:id="rId5"/>
              </a:rPr>
              <a:t>https://youtu.be/ewastesetu-demo ↗</a:t>
            </a:r>
          </a:p>
          <a:p>
            <a:pPr>
              <a:spcBef>
                <a:spcPts val="400"/>
              </a:spcBef>
            </a:pPr>
            <a:r>
              <a:rPr b="1" sz="1200" u="none">
                <a:solidFill>
                  <a:srgbClr val="0F172A"/>
                </a:solidFill>
                <a:latin typeface="Calibri"/>
              </a:rPr>
              <a:t>Complete System Walkthrough: </a:t>
            </a:r>
            <a:r>
              <a:rPr b="0" sz="1200" u="none">
                <a:solidFill>
                  <a:srgbClr val="334155"/>
                </a:solidFill>
                <a:latin typeface="Calibri"/>
              </a:rPr>
              <a:t>End-to-end video demo of voice scrap logging, digital scale OCR weight capture, local hub batch lotting, and dual QR CPCB Form-6 manifest handover.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