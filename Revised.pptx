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A8879D-1E66-4EB7-9B29-62B2374917E7}">
  <a:tblStyle styleId="{0EA8879D-1E66-4EB7-9B29-62B2374917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Garamond-regular.fntdata"/><Relationship Id="rId14" Type="http://schemas.openxmlformats.org/officeDocument/2006/relationships/font" Target="fonts/Garamond-bold.fntdata"/><Relationship Id="rId15" Type="http://schemas.openxmlformats.org/officeDocument/2006/relationships/font" Target="fonts/Garamond-italic.fntdata"/><Relationship Id="rId16" Type="http://schemas.openxmlformats.org/officeDocument/2006/relationships/font" Target="fonts/Garamond-boldItalic.fntdata"/><Relationship Id="rId17" Type="http://schemas.openxmlformats.org/officeDocument/2006/relationships/font" Target="fonts/Oswald-regular.fntdata"/><Relationship Id="rId18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d344054c0450968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4d344054c0450968_3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4d344054c0450968_3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" name="Google Shape;93;h4d344054c0450968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h4d344054c0450968_3_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d344054c0450968_3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1" name="Google Shape;111;h4d344054c0450968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h4d344054c0450968_3_1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4d344054c0450968_3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5" name="Google Shape;165;h4d344054c0450968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4d344054c0450968_3_1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4d344054c0450968_3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2" name="Google Shape;182;h4d344054c0450968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4d344054c0450968_3_1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4d344054c0450968_3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06" name="Google Shape;206;h4d344054c0450968_3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4d344054c0450968_3_1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sih2026.vuce.in/ps/SIH26229" TargetMode="External"/><Relationship Id="rId5" Type="http://schemas.openxmlformats.org/officeDocument/2006/relationships/hyperlink" Target="https://eprewaste.cpcb.gov.in/assets/PDF/e-waste_rules_2022.pdf" TargetMode="External"/><Relationship Id="rId6" Type="http://schemas.openxmlformats.org/officeDocument/2006/relationships/hyperlink" Target="https://eprewaste.cpcb.gov.in/" TargetMode="External"/><Relationship Id="rId7" Type="http://schemas.openxmlformats.org/officeDocument/2006/relationships/hyperlink" Target="https://www.niti.gov.in/node/2108" TargetMode="External"/><Relationship Id="rId8" Type="http://schemas.openxmlformats.org/officeDocument/2006/relationships/hyperlink" Target="https://www.jnarddc.gov.in/en/services/waste.aspx" TargetMode="External"/><Relationship Id="rId9" Type="http://schemas.openxmlformats.org/officeDocument/2006/relationships/hyperlink" Target="https://toxicslink.org/electronic-waste/" TargetMode="External"/><Relationship Id="rId10" Type="http://schemas.openxmlformats.org/officeDocument/2006/relationships/hyperlink" Target="https://arxiv.org/abs/1905.02244" TargetMode="External"/><Relationship Id="rId11" Type="http://schemas.openxmlformats.org/officeDocument/2006/relationships/hyperlink" Target="https://ieeexplore.ieee.org/document/9385073" TargetMode="External"/><Relationship Id="rId12" Type="http://schemas.openxmlformats.org/officeDocument/2006/relationships/hyperlink" Target="https://ai4bharat.org/" TargetMode="External"/><Relationship Id="rId13" Type="http://schemas.openxmlformats.org/officeDocument/2006/relationships/hyperlink" Target="https://opencv.org/" TargetMode="External"/><Relationship Id="rId14" Type="http://schemas.openxmlformats.org/officeDocument/2006/relationships/hyperlink" Target="https://postgis.net/" TargetMode="External"/><Relationship Id="rId15" Type="http://schemas.openxmlformats.org/officeDocument/2006/relationships/hyperlink" Target="https://developer.mozilla.org/en-US/docs/Web/API/IndexedDB_API" TargetMode="External"/><Relationship Id="rId16" Type="http://schemas.openxmlformats.org/officeDocument/2006/relationships/hyperlink" Target="https://recysaathi.vercel.app" TargetMode="External"/><Relationship Id="rId17" Type="http://schemas.openxmlformats.org/officeDocument/2006/relationships/hyperlink" Target="https://youtu.be/ewastesetu-de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242585" y="638641"/>
            <a:ext cx="3478954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5141168" y="12869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934264" y="486461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>
            <p:ph type="ctrTitle"/>
          </p:nvPr>
        </p:nvSpPr>
        <p:spPr>
          <a:xfrm>
            <a:off x="248464" y="-395068"/>
            <a:ext cx="7772400" cy="1557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3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48465" y="1557338"/>
            <a:ext cx="4443300" cy="20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 – </a:t>
            </a:r>
            <a:r>
              <a:rPr b="1"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26229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 - </a:t>
            </a:r>
            <a:r>
              <a:rPr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Kabadiwala Connect – Bringing the Informal Collector into the Formal Recycling Chain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- </a:t>
            </a:r>
            <a:r>
              <a:rPr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Ministry of Mines (MoM) / JNARDDC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 - </a:t>
            </a:r>
            <a:r>
              <a:rPr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&amp; Green Technology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 - </a:t>
            </a:r>
            <a:r>
              <a:rPr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 - </a:t>
            </a:r>
            <a:r>
              <a:rPr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170413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- </a:t>
            </a:r>
            <a:r>
              <a:rPr b="1"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HelloWorldWarriors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/ Solution Title - </a:t>
            </a:r>
            <a:r>
              <a:rPr b="1"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E-Waste Setu (ई-कचरा सेतु)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1600519" y="184841"/>
            <a:ext cx="552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b="1" sz="20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8" name="Google Shape;98;p14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99" name="Google Shape;99;p14"/>
          <p:cNvSpPr/>
          <p:nvPr/>
        </p:nvSpPr>
        <p:spPr>
          <a:xfrm>
            <a:off x="51013" y="141362"/>
            <a:ext cx="1831200" cy="4458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HelloWorldWarriors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291728" y="769891"/>
            <a:ext cx="8382000" cy="352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E-Waste Setu: Connecting Informal Waste Collectors (Kabadiwalas) to Authorized Recyclers</a:t>
            </a:r>
            <a:endParaRPr b="1" sz="12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Supply Chain: </a:t>
            </a:r>
            <a:r>
              <a:rPr b="1" lang="en-GB" sz="9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Collector ──&gt; Local Aggregator / Collection Hub ──&gt; Bulk Aggregation ──&gt; Authorized Recycler (CPCB)</a:t>
            </a:r>
            <a:endParaRPr b="1" sz="9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81000" y="1214019"/>
            <a:ext cx="4095900" cy="2209800"/>
          </a:xfrm>
          <a:prstGeom prst="roundRect">
            <a:avLst>
              <a:gd fmla="val 5172" name="adj"/>
            </a:avLst>
          </a:prstGeom>
          <a:solidFill>
            <a:srgbClr val="FEF2F2"/>
          </a:solidFill>
          <a:ln cap="flat" cmpd="sng" w="143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5250" lIns="133350" spcFirstLastPara="1" rIns="133350" wrap="square" tIns="9525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B9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Problems &amp; How We Address Them</a:t>
            </a:r>
            <a:endParaRPr b="1" sz="1100">
              <a:solidFill>
                <a:srgbClr val="B91C1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Unclear &amp; Unfair Prices (25–40% loss):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Middlemen exploit lack of market awareness. </a:t>
            </a:r>
            <a:r>
              <a:rPr b="1" lang="en-GB" sz="85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➔ Daily fair metal-benchmarked scrap rates on phone.</a:t>
            </a:r>
            <a:endParaRPr b="1" sz="850">
              <a:solidFill>
                <a:srgbClr val="99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Tampered Scales (15–20% weight loss):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Mechanical scales are rigged by middlemen. </a:t>
            </a:r>
            <a:r>
              <a:rPr b="1" lang="en-GB" sz="85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➔ Phone camera verifies scale display screen to lock true weight.</a:t>
            </a:r>
            <a:endParaRPr b="1" sz="850">
              <a:solidFill>
                <a:srgbClr val="99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 Trusted Recycler Access: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Collectors &amp; hubs don't know verified recyclers or rates. </a:t>
            </a:r>
            <a:r>
              <a:rPr b="1" lang="en-GB" sz="85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➔ Matches lots with authorized recyclers using license, material, price &amp; pickup.</a:t>
            </a:r>
            <a:endParaRPr b="1" sz="850">
              <a:solidFill>
                <a:srgbClr val="99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Too Many Middlemen: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informal tiers skim margins and resist formal apps. </a:t>
            </a:r>
            <a:r>
              <a:rPr b="1" lang="en-GB" sz="85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➔ Upgrades local scrap dealers into certified collection hubs with legal fees.</a:t>
            </a:r>
            <a:endParaRPr b="1" sz="850">
              <a:solidFill>
                <a:srgbClr val="99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Illiteracy &amp; Cash Reliance: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read text-heavy apps; rely strictly on cash. </a:t>
            </a:r>
            <a:r>
              <a:rPr b="1" lang="en-GB" sz="85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➔ Visual touch UI + optional voice; supports both Cash and UPI.</a:t>
            </a:r>
            <a:endParaRPr b="1" sz="850">
              <a:solidFill>
                <a:srgbClr val="991B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667250" y="1214025"/>
            <a:ext cx="4095900" cy="2209800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43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5250" lIns="133350" spcFirstLastPara="1" rIns="133350" wrap="square" tIns="9525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580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Solution: End-to-End Handover Flow</a:t>
            </a:r>
            <a:endParaRPr b="1" sz="1100">
              <a:solidFill>
                <a:srgbClr val="1580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Collector [Photo + Voice + Category]: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Logs scrap items via touch visual catalog or optional 10-language voice; views guaranteed fair rates.</a:t>
            </a:r>
            <a:endParaRPr b="1" sz="85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Digital Lot Created [Weight + Value Lock]: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pre-records item category, estimated quantity, and metal-benchmarked floor valuation.</a:t>
            </a:r>
            <a:endParaRPr b="1" sz="85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Local Collection Hub [Scale Photo &amp; Settle]: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Drop-off at hub (1–2 km); camera reads scale display to verify weight. Cash or UPI ➔ digital receipt ➔ earnings ledger.</a:t>
            </a:r>
            <a:endParaRPr b="1" sz="85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Bulk Collection &amp; Transfer [Smart Logistics]: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Hubs aggregate volume; PostGIS routes authorized trucks for optimized bulk pickup across hubs.</a:t>
            </a:r>
            <a:endParaRPr b="1" sz="85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Authorized Recycler [Track Every Handover]: </a:t>
            </a: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CPCB plant verifies lot QR code for safe scientific recycling; automated Form-6 manifest logged on portal.</a:t>
            </a:r>
            <a:endParaRPr b="1" sz="85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81000" y="3480969"/>
            <a:ext cx="8382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and Uniqueness of the Solution</a:t>
            </a:r>
            <a:endParaRPr b="1" sz="11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81000" y="3709569"/>
            <a:ext cx="2019300" cy="1257300"/>
          </a:xfrm>
          <a:prstGeom prst="roundRect">
            <a:avLst>
              <a:gd fmla="val 7575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5250" lIns="114300" spcFirstLastPara="1" rIns="11430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369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1</a:t>
            </a:r>
            <a:br>
              <a:rPr b="1" lang="en-GB" sz="900">
                <a:solidFill>
                  <a:srgbClr val="0369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10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Partners with Local Dealers</a:t>
            </a:r>
            <a:endParaRPr b="1" sz="900">
              <a:solidFill>
                <a:srgbClr val="0369A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eliminating local scrap shops (which triggers backlash), we upgrade them into certified collection hubs earning steady legal commissions.</a:t>
            </a:r>
            <a:endParaRPr sz="8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284C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Conflict-Free Adoption</a:t>
            </a:r>
            <a:endParaRPr b="1" sz="900">
              <a:solidFill>
                <a:srgbClr val="0284C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2495550" y="3709569"/>
            <a:ext cx="2019300" cy="1257300"/>
          </a:xfrm>
          <a:prstGeom prst="roundRect">
            <a:avLst>
              <a:gd fmla="val 7575" name="adj"/>
            </a:avLst>
          </a:prstGeom>
          <a:solidFill>
            <a:srgbClr val="F0FDF4"/>
          </a:solidFill>
          <a:ln cap="flat" cmpd="sng" w="143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5250" lIns="114300" spcFirstLastPara="1" rIns="11430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2</a:t>
            </a:r>
            <a:br>
              <a:rPr b="1" lang="en-GB" sz="9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10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Camera-Based Scale Reading</a:t>
            </a:r>
            <a:endParaRPr b="1" sz="90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no expensive IoT scales. Any standard smartphone camera reads numbers off existing weighing scales to stop weight cheating.</a:t>
            </a:r>
            <a:endParaRPr sz="8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6A3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Zero Extra Hardware Cost</a:t>
            </a:r>
            <a:endParaRPr b="1" sz="900">
              <a:solidFill>
                <a:srgbClr val="16A3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610100" y="3709569"/>
            <a:ext cx="2019300" cy="1257300"/>
          </a:xfrm>
          <a:prstGeom prst="roundRect">
            <a:avLst>
              <a:gd fmla="val 7575" name="adj"/>
            </a:avLst>
          </a:prstGeom>
          <a:solidFill>
            <a:srgbClr val="FFFBEB"/>
          </a:solidFill>
          <a:ln cap="flat" cmpd="sng" w="143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5250" lIns="114300" spcFirstLastPara="1" rIns="11430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B453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3</a:t>
            </a:r>
            <a:br>
              <a:rPr b="1" lang="en-GB" sz="900">
                <a:solidFill>
                  <a:srgbClr val="B453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10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Accessibility</a:t>
            </a:r>
            <a:endParaRPr b="1" sz="900">
              <a:solidFill>
                <a:srgbClr val="B4530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for all literacy levels. Visual touch UI with category photos, plus optional voice assistance in 10 Indian dialects with offline caching.</a:t>
            </a:r>
            <a:endParaRPr sz="8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D977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Zero Literacy Barrier</a:t>
            </a:r>
            <a:endParaRPr b="1" sz="900">
              <a:solidFill>
                <a:srgbClr val="D9770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724650" y="3709569"/>
            <a:ext cx="2019300" cy="1257300"/>
          </a:xfrm>
          <a:prstGeom prst="roundRect">
            <a:avLst>
              <a:gd fmla="val 7575" name="adj"/>
            </a:avLst>
          </a:prstGeom>
          <a:solidFill>
            <a:srgbClr val="FAF5FF"/>
          </a:solidFill>
          <a:ln cap="flat" cmpd="sng" w="14300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5250" lIns="114300" spcFirstLastPara="1" rIns="11430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6D28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GB" sz="900">
                <a:solidFill>
                  <a:srgbClr val="6D28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NNOVATION 4</a:t>
            </a:r>
            <a:br>
              <a:rPr b="1" lang="en-GB" sz="900">
                <a:solidFill>
                  <a:srgbClr val="6D28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10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Verifiable Chain of Custody</a:t>
            </a:r>
            <a:endParaRPr b="1" sz="900">
              <a:solidFill>
                <a:srgbClr val="6D28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Binds photo + weight + GPS + timestamp + unique lot ID + recycler confirmation into an auditable digital manifest for CPCB compliance.</a:t>
            </a:r>
            <a:endParaRPr sz="8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9333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Track Every Handover</a:t>
            </a:r>
            <a:endParaRPr b="1" sz="900">
              <a:solidFill>
                <a:srgbClr val="9333E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1571175" y="-19050"/>
            <a:ext cx="5649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7" name="Google Shape;117;p15"/>
          <p:cNvSpPr/>
          <p:nvPr/>
        </p:nvSpPr>
        <p:spPr>
          <a:xfrm>
            <a:off x="247325" y="189175"/>
            <a:ext cx="16875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HelloWorldWarriors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5"/>
          <p:cNvGrpSpPr/>
          <p:nvPr/>
        </p:nvGrpSpPr>
        <p:grpSpPr>
          <a:xfrm>
            <a:off x="279134" y="796699"/>
            <a:ext cx="8693416" cy="284086"/>
            <a:chOff x="-63766" y="82551"/>
            <a:chExt cx="8693416" cy="302799"/>
          </a:xfrm>
        </p:grpSpPr>
        <p:sp>
          <p:nvSpPr>
            <p:cNvPr id="120" name="Google Shape;120;p15"/>
            <p:cNvSpPr/>
            <p:nvPr/>
          </p:nvSpPr>
          <p:spPr>
            <a:xfrm>
              <a:off x="171450" y="137551"/>
              <a:ext cx="8458200" cy="247800"/>
            </a:xfrm>
            <a:prstGeom prst="roundRect">
              <a:avLst>
                <a:gd fmla="val 2307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-63766" y="82551"/>
              <a:ext cx="8458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From Collection to Authorized Recycling: </a:t>
              </a:r>
              <a:r>
                <a:rPr lang="en-GB" sz="120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End-to-End System Pipeline, AI Services &amp; Core Technology Stack</a:t>
              </a:r>
              <a:endParaRPr b="1" sz="1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342900" y="1131203"/>
            <a:ext cx="3524400" cy="1905000"/>
            <a:chOff x="0" y="0"/>
            <a:chExt cx="3524400" cy="190500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3524400" cy="1905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0" y="0"/>
              <a:ext cx="3524400" cy="266700"/>
            </a:xfrm>
            <a:prstGeom prst="roundRect">
              <a:avLst>
                <a:gd fmla="val 35714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114300" y="0"/>
              <a:ext cx="3295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CORE TECH STACK ARCHITECTURE</a:t>
              </a:r>
              <a:r>
                <a:rPr b="0" lang="en-GB" sz="6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Multi-Tier Production Design</a:t>
              </a:r>
              <a:endParaRPr b="1" sz="8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114300" y="304800"/>
              <a:ext cx="3295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Frontend / Client: </a:t>
              </a:r>
              <a:r>
                <a:rPr b="1" lang="en-GB" sz="7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[React 18 PWA + Vite + TS] </a:t>
              </a:r>
              <a:r>
                <a:rPr lang="en-GB" sz="7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Runs on ₹4k phones with zero app-store friction.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0284C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Offline Resilience: </a:t>
              </a:r>
              <a:r>
                <a:rPr b="1" lang="en-GB" sz="7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[IndexedDB + Dexie.js] </a:t>
              </a:r>
              <a:r>
                <a:rPr lang="en-GB" sz="7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 local offline queuing; auto-syncs on 2G reconnection.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1D4ED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Backend &amp; APIs: </a:t>
              </a:r>
              <a:r>
                <a:rPr b="1" lang="en-GB" sz="7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[Node.js + Fastify Core] </a:t>
              </a:r>
              <a:r>
                <a:rPr lang="en-GB" sz="7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High-throughput microservices (&lt;20ms latency) &amp; auth.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6D28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Spatial DB: </a:t>
              </a:r>
              <a:r>
                <a:rPr b="1" lang="en-GB" sz="7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[PostgreSQL 16 + PostGIS] </a:t>
              </a:r>
              <a:r>
                <a:rPr lang="en-GB" sz="7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Aggregator-recycler spatial matching &amp; geo-fenced custody.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B91C1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Vision &amp; OCR Engine: </a:t>
              </a:r>
              <a:r>
                <a:rPr b="1" lang="en-GB" sz="7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[Python + OpenCV + EasyOCR] </a:t>
              </a:r>
              <a:r>
                <a:rPr lang="en-GB" sz="7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Extracts scale digits directly from photos.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D9770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Security &amp; Custody: </a:t>
              </a:r>
              <a:r>
                <a:rPr b="1" lang="en-GB" sz="7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[SHA-256 + Dynamic QR] </a:t>
              </a:r>
              <a:r>
                <a:rPr lang="en-GB" sz="7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Cryptographic lot tokenization &amp; CPCB Form-6 trails.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Hardware Footprint: [Zero Capex / 100% BYOD] </a:t>
              </a:r>
              <a:r>
                <a:rPr lang="en-GB" sz="7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Works on existing basic phones &amp; standard scales.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342900" y="3112403"/>
            <a:ext cx="3524400" cy="1790700"/>
            <a:chOff x="0" y="0"/>
            <a:chExt cx="3524400" cy="1790700"/>
          </a:xfrm>
        </p:grpSpPr>
        <p:sp>
          <p:nvSpPr>
            <p:cNvPr id="128" name="Google Shape;128;p15"/>
            <p:cNvSpPr/>
            <p:nvPr/>
          </p:nvSpPr>
          <p:spPr>
            <a:xfrm>
              <a:off x="0" y="0"/>
              <a:ext cx="3524400" cy="1790700"/>
            </a:xfrm>
            <a:prstGeom prst="roundRect">
              <a:avLst>
                <a:gd fmla="val 5319" name="adj"/>
              </a:avLst>
            </a:prstGeom>
            <a:solidFill>
              <a:srgbClr val="FFFF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0" y="0"/>
              <a:ext cx="3524400" cy="266700"/>
            </a:xfrm>
            <a:prstGeom prst="roundRect">
              <a:avLst>
                <a:gd fmla="val 35714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114300" y="0"/>
              <a:ext cx="3295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AI &amp; PLATFORM INTELLIGENCE</a:t>
              </a:r>
              <a:r>
                <a:rPr b="0" lang="en-GB" sz="6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Platform Services</a:t>
              </a:r>
              <a:endParaRPr b="1" sz="8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114300" y="304800"/>
              <a:ext cx="32958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0284C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Material Identification: </a:t>
              </a:r>
              <a:r>
                <a:rPr lang="en-GB" sz="7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Computer Vision &amp; MobileNet assist scrap &amp; PCB category classification.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Price Benchmark Index: </a:t>
              </a:r>
              <a:r>
                <a:rPr lang="en-GB" sz="7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Live market price benchmark index for transparent fair valuation.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1D4ED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Recycler Matching: </a:t>
              </a:r>
              <a:r>
                <a:rPr lang="en-GB" sz="7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Spatial algorithm matches bulk lots with verified recyclers by license &amp; radius.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B91C1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Anomaly Detection: </a:t>
              </a:r>
              <a:r>
                <a:rPr lang="en-GB" sz="7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Photo weight evidence &amp; discrepancy detection flags irregularities.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D9770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Voice Assistance: </a:t>
              </a:r>
              <a:r>
                <a:rPr lang="en-GB" sz="7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Speech recognition in 10 regional Indian dialects for low-literacy users.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6D28D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Offline Sync Engine: </a:t>
              </a:r>
              <a:r>
                <a:rPr lang="en-GB" sz="75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Dexie.js IndexedDB buffer queues transactions locally in 2G dead zones.</a:t>
              </a:r>
              <a:endParaRPr sz="75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>
            <a:off x="4000500" y="1131200"/>
            <a:ext cx="4800600" cy="3772065"/>
            <a:chOff x="0" y="0"/>
            <a:chExt cx="4800600" cy="3429150"/>
          </a:xfrm>
        </p:grpSpPr>
        <p:sp>
          <p:nvSpPr>
            <p:cNvPr id="133" name="Google Shape;133;p15"/>
            <p:cNvSpPr/>
            <p:nvPr/>
          </p:nvSpPr>
          <p:spPr>
            <a:xfrm>
              <a:off x="0" y="0"/>
              <a:ext cx="4800600" cy="228600"/>
            </a:xfrm>
            <a:prstGeom prst="roundRect">
              <a:avLst>
                <a:gd fmla="val 2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114300" y="0"/>
              <a:ext cx="457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Methodology: End-to-End Visual Processing Pipeline</a:t>
              </a:r>
              <a:endParaRPr b="1" sz="9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35" name="Google Shape;135;p15"/>
            <p:cNvGrpSpPr/>
            <p:nvPr/>
          </p:nvGrpSpPr>
          <p:grpSpPr>
            <a:xfrm>
              <a:off x="0" y="285750"/>
              <a:ext cx="4800600" cy="495300"/>
              <a:chOff x="0" y="0"/>
              <a:chExt cx="4800600" cy="495300"/>
            </a:xfrm>
          </p:grpSpPr>
          <p:sp>
            <p:nvSpPr>
              <p:cNvPr id="136" name="Google Shape;136;p15"/>
              <p:cNvSpPr/>
              <p:nvPr/>
            </p:nvSpPr>
            <p:spPr>
              <a:xfrm>
                <a:off x="0" y="0"/>
                <a:ext cx="48006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FFFFF"/>
              </a:solidFill>
              <a:ln cap="flat" cmpd="sng" w="11900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0" y="0"/>
                <a:ext cx="11430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" name="Google Shape;138;p15"/>
              <p:cNvSpPr txBox="1"/>
              <p:nvPr/>
            </p:nvSpPr>
            <p:spPr>
              <a:xfrm>
                <a:off x="76200" y="0"/>
                <a:ext cx="990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50">
                    <a:solidFill>
                      <a:srgbClr val="16653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1</a:t>
                </a:r>
                <a:endParaRPr b="1" sz="75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COLLECT &amp; IDENTIFY</a:t>
                </a:r>
                <a:endParaRPr b="1" sz="7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Small Collector</a:t>
                </a:r>
                <a:endParaRPr sz="6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" name="Google Shape;139;p15"/>
              <p:cNvSpPr txBox="1"/>
              <p:nvPr/>
            </p:nvSpPr>
            <p:spPr>
              <a:xfrm>
                <a:off x="1219200" y="57150"/>
                <a:ext cx="3505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16653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Action: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Takes photo of scrap; selects category via touch UI or 10-language voice.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System: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Displays market price benchmarks; buffers entry locally in IndexedDB if offline.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0" name="Google Shape;140;p15"/>
            <p:cNvGrpSpPr/>
            <p:nvPr/>
          </p:nvGrpSpPr>
          <p:grpSpPr>
            <a:xfrm>
              <a:off x="0" y="838200"/>
              <a:ext cx="4800600" cy="495300"/>
              <a:chOff x="0" y="0"/>
              <a:chExt cx="4800600" cy="495300"/>
            </a:xfrm>
          </p:grpSpPr>
          <p:sp>
            <p:nvSpPr>
              <p:cNvPr id="141" name="Google Shape;141;p15"/>
              <p:cNvSpPr/>
              <p:nvPr/>
            </p:nvSpPr>
            <p:spPr>
              <a:xfrm>
                <a:off x="0" y="0"/>
                <a:ext cx="48006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FFFFF"/>
              </a:solidFill>
              <a:ln cap="flat" cmpd="sng" w="11900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0" y="0"/>
                <a:ext cx="11430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0F9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" name="Google Shape;143;p15"/>
              <p:cNvSpPr txBox="1"/>
              <p:nvPr/>
            </p:nvSpPr>
            <p:spPr>
              <a:xfrm>
                <a:off x="76200" y="0"/>
                <a:ext cx="990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50">
                    <a:solidFill>
                      <a:srgbClr val="0284C7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2</a:t>
                </a:r>
                <a:endParaRPr b="1" sz="750">
                  <a:solidFill>
                    <a:srgbClr val="0284C7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CREATE DIGITAL LOT</a:t>
                </a:r>
                <a:endParaRPr b="1" sz="7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Lot Generator</a:t>
                </a:r>
                <a:endParaRPr sz="6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" name="Google Shape;144;p15"/>
              <p:cNvSpPr txBox="1"/>
              <p:nvPr/>
            </p:nvSpPr>
            <p:spPr>
              <a:xfrm>
                <a:off x="1219200" y="57150"/>
                <a:ext cx="3505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284C7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Action: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Pre-calibrates lot with material type, estimated weight, photo &amp; collector ID.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System: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Binds GPS geolocation &amp; server timestamp, generating preliminary record.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45" name="Google Shape;145;p15"/>
            <p:cNvGrpSpPr/>
            <p:nvPr/>
          </p:nvGrpSpPr>
          <p:grpSpPr>
            <a:xfrm>
              <a:off x="0" y="1390650"/>
              <a:ext cx="4800600" cy="495300"/>
              <a:chOff x="0" y="0"/>
              <a:chExt cx="4800600" cy="495300"/>
            </a:xfrm>
          </p:grpSpPr>
          <p:sp>
            <p:nvSpPr>
              <p:cNvPr id="146" name="Google Shape;146;p15"/>
              <p:cNvSpPr/>
              <p:nvPr/>
            </p:nvSpPr>
            <p:spPr>
              <a:xfrm>
                <a:off x="0" y="0"/>
                <a:ext cx="48006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FFFFF"/>
              </a:solidFill>
              <a:ln cap="flat" cmpd="sng" w="11900">
                <a:solidFill>
                  <a:srgbClr val="FDE6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0" y="0"/>
                <a:ext cx="11430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8" name="Google Shape;148;p15"/>
              <p:cNvSpPr txBox="1"/>
              <p:nvPr/>
            </p:nvSpPr>
            <p:spPr>
              <a:xfrm>
                <a:off x="76200" y="0"/>
                <a:ext cx="990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50">
                    <a:solidFill>
                      <a:srgbClr val="D9770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3</a:t>
                </a:r>
                <a:endParaRPr b="1" sz="750">
                  <a:solidFill>
                    <a:srgbClr val="D97706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LOCAL HUB / AGGREGATOR</a:t>
                </a:r>
                <a:endParaRPr b="1" sz="7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Scrap Dealer</a:t>
                </a:r>
                <a:endParaRPr sz="6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9" name="Google Shape;149;p15"/>
              <p:cNvSpPr txBox="1"/>
              <p:nvPr/>
            </p:nvSpPr>
            <p:spPr>
              <a:xfrm>
                <a:off x="1219200" y="57150"/>
                <a:ext cx="3505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D97706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Action: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Receives small collector lots; camera snaps scale display. Cash/UPI ➔ digital receipt.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System: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OpenCV + EasyOCR extracts scale digits for photo-based weight evidence.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0" name="Google Shape;150;p15"/>
            <p:cNvGrpSpPr/>
            <p:nvPr/>
          </p:nvGrpSpPr>
          <p:grpSpPr>
            <a:xfrm>
              <a:off x="0" y="1943100"/>
              <a:ext cx="4800600" cy="495300"/>
              <a:chOff x="0" y="0"/>
              <a:chExt cx="4800600" cy="495300"/>
            </a:xfrm>
          </p:grpSpPr>
          <p:sp>
            <p:nvSpPr>
              <p:cNvPr id="151" name="Google Shape;151;p15"/>
              <p:cNvSpPr/>
              <p:nvPr/>
            </p:nvSpPr>
            <p:spPr>
              <a:xfrm>
                <a:off x="0" y="0"/>
                <a:ext cx="48006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FFFFF"/>
              </a:solidFill>
              <a:ln cap="flat" cmpd="sng" w="119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0" y="0"/>
                <a:ext cx="11430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" name="Google Shape;153;p15"/>
              <p:cNvSpPr txBox="1"/>
              <p:nvPr/>
            </p:nvSpPr>
            <p:spPr>
              <a:xfrm>
                <a:off x="76200" y="0"/>
                <a:ext cx="990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5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4</a:t>
                </a:r>
                <a:endParaRPr b="1" sz="7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BULK TRANSFER</a:t>
                </a:r>
                <a:endParaRPr b="1" sz="7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Bulk Trader</a:t>
                </a:r>
                <a:endParaRPr sz="6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" name="Google Shape;154;p15"/>
              <p:cNvSpPr txBox="1"/>
              <p:nvPr/>
            </p:nvSpPr>
            <p:spPr>
              <a:xfrm>
                <a:off x="1219200" y="57150"/>
                <a:ext cx="3505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Action: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Combines small lots into bulk batches; system matches lot with authorized recyclers.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System: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PostGIS engine clusters routes and dispatches trucks; driver scans QR on pickup.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5" name="Google Shape;155;p15"/>
            <p:cNvGrpSpPr/>
            <p:nvPr/>
          </p:nvGrpSpPr>
          <p:grpSpPr>
            <a:xfrm>
              <a:off x="0" y="2495550"/>
              <a:ext cx="4800600" cy="495300"/>
              <a:chOff x="0" y="0"/>
              <a:chExt cx="4800600" cy="495300"/>
            </a:xfrm>
          </p:grpSpPr>
          <p:sp>
            <p:nvSpPr>
              <p:cNvPr id="156" name="Google Shape;156;p15"/>
              <p:cNvSpPr/>
              <p:nvPr/>
            </p:nvSpPr>
            <p:spPr>
              <a:xfrm>
                <a:off x="0" y="0"/>
                <a:ext cx="48006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FFFFF"/>
              </a:solidFill>
              <a:ln cap="flat" cmpd="sng" w="11900">
                <a:solidFill>
                  <a:srgbClr val="E9D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0" y="0"/>
                <a:ext cx="11430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AF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" name="Google Shape;158;p15"/>
              <p:cNvSpPr txBox="1"/>
              <p:nvPr/>
            </p:nvSpPr>
            <p:spPr>
              <a:xfrm>
                <a:off x="76200" y="0"/>
                <a:ext cx="990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50">
                    <a:solidFill>
                      <a:srgbClr val="7C3AE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5</a:t>
                </a:r>
                <a:endParaRPr b="1" sz="750">
                  <a:solidFill>
                    <a:srgbClr val="7C3AE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AUTHORIZED RECYCLER</a:t>
                </a:r>
                <a:endParaRPr b="1" sz="7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00">
                    <a:solidFill>
                      <a:srgbClr val="64748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CPCB Recycling Plant</a:t>
                </a:r>
                <a:endParaRPr sz="6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" name="Google Shape;159;p15"/>
              <p:cNvSpPr txBox="1"/>
              <p:nvPr/>
            </p:nvSpPr>
            <p:spPr>
              <a:xfrm>
                <a:off x="1219200" y="57150"/>
                <a:ext cx="3505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7C3AED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Action: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Receives shipment, verifies sealed QR tag, inspects weight/material for recovery.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System: </a:t>
                </a:r>
                <a:r>
                  <a:rPr lang="en-GB" sz="7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Confirms custody handover; auto-submits digital Form-6 manifest to CPCB portal.</a:t>
                </a:r>
                <a:endParaRPr sz="7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0" name="Google Shape;160;p15"/>
            <p:cNvGrpSpPr/>
            <p:nvPr/>
          </p:nvGrpSpPr>
          <p:grpSpPr>
            <a:xfrm>
              <a:off x="0" y="3067050"/>
              <a:ext cx="4800600" cy="362100"/>
              <a:chOff x="0" y="0"/>
              <a:chExt cx="4800600" cy="362100"/>
            </a:xfrm>
          </p:grpSpPr>
          <p:sp>
            <p:nvSpPr>
              <p:cNvPr id="161" name="Google Shape;161;p15"/>
              <p:cNvSpPr/>
              <p:nvPr/>
            </p:nvSpPr>
            <p:spPr>
              <a:xfrm>
                <a:off x="0" y="0"/>
                <a:ext cx="4800600" cy="362100"/>
              </a:xfrm>
              <a:prstGeom prst="roundRect">
                <a:avLst>
                  <a:gd fmla="val 21052" name="adj"/>
                </a:avLst>
              </a:prstGeom>
              <a:solidFill>
                <a:srgbClr val="F0FDF4"/>
              </a:solidFill>
              <a:ln cap="flat" cmpd="sng" w="11900">
                <a:solidFill>
                  <a:srgbClr val="86EFA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2" name="Google Shape;162;p15"/>
              <p:cNvSpPr txBox="1"/>
              <p:nvPr/>
            </p:nvSpPr>
            <p:spPr>
              <a:xfrm>
                <a:off x="114300" y="0"/>
                <a:ext cx="45720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50">
                    <a:solidFill>
                      <a:srgbClr val="16653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VERIFIABLE CHAIN OF CUSTODY (TRACEABILITY STRIP)</a:t>
                </a:r>
                <a:endParaRPr b="1" sz="75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650">
                    <a:solidFill>
                      <a:srgbClr val="0F172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Every Stage Recorded ➔ Photo Proof + Scale Weight + Agreed Price + GPS + Timestamp + QR Reference</a:t>
                </a:r>
                <a:endParaRPr b="1" sz="65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1" name="Google Shape;171;p16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72" name="Google Shape;172;p16"/>
          <p:cNvSpPr/>
          <p:nvPr/>
        </p:nvSpPr>
        <p:spPr>
          <a:xfrm>
            <a:off x="206600" y="112656"/>
            <a:ext cx="16875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HelloWorldWarriors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411480" y="740664"/>
            <a:ext cx="83187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 Reality &amp; Operational Viability: </a:t>
            </a:r>
            <a:r>
              <a:rPr i="0" lang="en-GB" sz="10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Multi-Pillar Feasibility Analysis &amp; Defensible Risk Mitigation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11480" y="987552"/>
            <a:ext cx="4011930" cy="11795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34275" lIns="96000" spcFirstLastPara="1" rIns="96000" wrap="square" tIns="4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sng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FEASIBILITY</a:t>
            </a:r>
            <a:r>
              <a:rPr i="0" lang="en-GB" sz="8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|  Low-Spec Readiness &amp; Scalable Backend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0369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Low-End Android: </a:t>
            </a:r>
            <a:r>
              <a:rPr i="0" lang="en-GB" sz="7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PWA designed for entry-level devices with minimal RAM footprint.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AI-Assisted Identification: </a:t>
            </a:r>
            <a:r>
              <a:rPr i="0" lang="en-GB" sz="7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Camera-based material recognition assisting scrap category classification.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Weight Verification: </a:t>
            </a:r>
            <a:r>
              <a:rPr i="0" lang="en-GB" sz="7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Scale-photo OCR provides verifiable weight evidence from existing scales.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6D28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Offline-First: </a:t>
            </a:r>
            <a:r>
              <a:rPr i="0" lang="en-GB" sz="7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lots and transactions are stored locally and synced when signal returns.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Scalable Backend: </a:t>
            </a:r>
            <a:r>
              <a:rPr i="0" lang="en-GB" sz="7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+ PostGIS for transactions, locations, and recycler matching.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411480" y="2221992"/>
            <a:ext cx="4011930" cy="11795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34275" lIns="96000" spcFirstLastPara="1" rIns="96000" wrap="square" tIns="4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sng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FEASIBILITY</a:t>
            </a:r>
            <a:r>
              <a:rPr i="0" lang="en-GB" sz="7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|  Aligned with Ground Scrap Realities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Voice + Pictorial UX: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reading and typing through visual category icons and regional voice.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0369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Existing Scrap Shops as Hubs: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with the current informal network, onboarding established dealers.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Small Lots ➔ Bulk Lots: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Directly matches how scrap is naturally collected and aggregated in the field.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B453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Recycler Pickup Logistics: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Avoids requiring individual informal collectors to transport heavy material.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6D28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Offline Sync: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Continues working seamlessly during poor connectivity in scrap clusters and transit.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11480" y="3456432"/>
            <a:ext cx="401193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34275" lIns="96000" spcFirstLastPara="1" rIns="96000" wrap="square" tIns="4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sng" cap="none" strike="noStrike">
                <a:solidFill>
                  <a:srgbClr val="B453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FEASIBILITY &amp; VIABILITY</a:t>
            </a:r>
            <a:r>
              <a:rPr i="0" lang="en-GB" sz="7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|  Defensible Stakeholder Value Model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Principle: </a:t>
            </a:r>
            <a:r>
              <a:rPr i="0" lang="en-GB" sz="7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collector earnings through transparent pricing and reduced information loss.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Informal Collector: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free to use — zero subscription cost or capital expenditure barrier.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0369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Hub / Aggregator: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Earns legitimate handling and bulk aggregation margins on consolidated scrap.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Authorized Recycler: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Pays a small platform fee for guaranteed verified supply &amp; verifiable traceability.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GB" sz="7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Platform Revenue Model: </a:t>
            </a:r>
            <a:r>
              <a:rPr i="0" lang="en-GB" sz="6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model — 1.5% verified transaction fee; Future: B2B traceability &amp; EPR services.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4573323" y="898280"/>
            <a:ext cx="4169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sng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Defensible Risk Mitigation: Challenges &amp; Solutions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9" name="Google Shape;179;p16"/>
          <p:cNvGraphicFramePr/>
          <p:nvPr/>
        </p:nvGraphicFramePr>
        <p:xfrm>
          <a:off x="4560570" y="10785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{0EA8879D-1E66-4EB7-9B29-62B2374917E7}</a:tableStyleId>
              </a:tblPr>
              <a:tblGrid>
                <a:gridCol w="1508750"/>
                <a:gridCol w="2660900"/>
              </a:tblGrid>
              <a:tr h="24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GROUND CHALLENGE / RISK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54875" marL="5487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PRACTICAL SOLUTION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54875" marL="54875" anchor="ctr">
                    <a:solidFill>
                      <a:srgbClr val="166534"/>
                    </a:solidFill>
                  </a:tcPr>
                </a:tc>
              </a:tr>
              <a:tr h="54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99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Low Digital Literacy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Informal collectors struggle with text-heavy apps or typing.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6653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Voice + Pictorial Interface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 scrap category icons + regional voice support eliminates reading and typing barriers.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0FDF4"/>
                    </a:solidFill>
                  </a:tcPr>
                </a:tc>
              </a:tr>
              <a:tr h="54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99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Poor Connectivity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Dense scrap clusters and transit corridors experience 2G dead zones.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6653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Offline-First + Automatic Sync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IndexedDB buffers lots, photos &amp; receipts locally; auto-syncs asynchronously upon network reconnection.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0FDF4"/>
                    </a:solidFill>
                  </a:tcPr>
                </a:tc>
              </a:tr>
              <a:tr h="54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99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Weight Disputes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Scale manipulation or reading disputes create mistrust across handovers.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6653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Scale Photo + OCR Verification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 captures scale display; OCR extracts numeric digits for verifiable photo &amp; weight evidence.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0FDF4"/>
                    </a:solidFill>
                  </a:tcPr>
                </a:tc>
              </a:tr>
              <a:tr h="54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99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Fragmented Informal Chain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Scrap passes through multiple unrecorded intermediaries before recycling.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6653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Digital Lot + Parent-Child Tracking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collector lots are linked into aggregated bulk batches, preserving origin traceability across tiers.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0FDF4"/>
                    </a:solidFill>
                  </a:tcPr>
                </a:tc>
              </a:tr>
              <a:tr h="54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99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Aggregator Resistance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Middlemen scrap dealers oppose platforms that attempt to bypass them.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6653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Make Existing Dealers Collection Hubs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Integrates existing aggregators as certified hubs earning legitimate handling margins on bulk supply.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0FDF4"/>
                    </a:solidFill>
                  </a:tcPr>
                </a:tc>
              </a:tr>
              <a:tr h="54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991B1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Lack of Traceability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CPCB recyclers lack auditable proof of physical custody for EPR audits.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6653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QR + Timestamp + GPS + Digital Handover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Dual-scan QR verification logs photo, weight, GPS coordinates, and server timestamp at every stage.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425" marB="27425" marR="54875" marL="54875"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7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8" name="Google Shape;188;p17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89" name="Google Shape;189;p17"/>
          <p:cNvSpPr/>
          <p:nvPr/>
        </p:nvSpPr>
        <p:spPr>
          <a:xfrm>
            <a:off x="158054" y="99903"/>
            <a:ext cx="17703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HelloWorldWarriors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384048" y="62179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1000" u="none">
                <a:solidFill>
                  <a:srgbClr val="0F172A"/>
                </a:solidFill>
                <a:latin typeface="Times New Roman"/>
              </a:rPr>
              <a:t>Stakeholder Value Transformation &amp; Macro Impacts: </a:t>
            </a:r>
            <a:r>
              <a:rPr b="0" sz="950" u="none">
                <a:solidFill>
                  <a:srgbClr val="15803D"/>
                </a:solidFill>
                <a:latin typeface="Arial"/>
              </a:rPr>
              <a:t>Creating Value Across the Informal-to-Formal Recycling Chain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Rounded Rectangle 191"/>
          <p:cNvSpPr/>
          <p:nvPr/>
        </p:nvSpPr>
        <p:spPr>
          <a:xfrm>
            <a:off x="384048" y="877824"/>
            <a:ext cx="2020824" cy="1810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bIns="18288"/>
          <a:lstStyle/>
          <a:p>
            <a:pPr algn="ctr"/>
            <a:r>
              <a:rPr b="1" sz="919" u="none">
                <a:solidFill>
                  <a:srgbClr val="15803D"/>
                </a:solidFill>
                <a:latin typeface="Times New Roman"/>
              </a:rPr>
              <a:t>1. INFORMAL COLLECTORS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b="0" sz="750" u="none">
                <a:solidFill>
                  <a:srgbClr val="64748B"/>
                </a:solidFill>
                <a:latin typeface="Arial"/>
              </a:rPr>
              <a:t>Waste-Pickers &amp; Itinerant Buyers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b="1" sz="780" u="none">
                <a:solidFill>
                  <a:srgbClr val="B91C1C"/>
                </a:solidFill>
                <a:latin typeface="Arial"/>
              </a:rPr>
              <a:t>BEFORE: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Volatile prices dictated by middlemen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Zero direct access to recyclers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Frequent scale &amp; payment cuts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780" u="none">
                <a:solidFill>
                  <a:srgbClr val="15803D"/>
                </a:solidFill>
                <a:latin typeface="Arial"/>
              </a:rPr>
              <a:t>AFTER (WITH E-WASTE SETU):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Live transparent floor prices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Camera scale OCR photo evidence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Instant Cash / UPI verified pay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750" u="none">
                <a:solidFill>
                  <a:srgbClr val="15803D"/>
                </a:solidFill>
                <a:latin typeface="Arial"/>
              </a:rPr>
              <a:t>VALUE: Fair floor rates &amp; digital ID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2501798" y="877824"/>
            <a:ext cx="2020824" cy="1810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bIns="18288"/>
          <a:lstStyle/>
          <a:p>
            <a:pPr algn="ctr"/>
            <a:r>
              <a:rPr b="1" sz="919" u="none">
                <a:solidFill>
                  <a:srgbClr val="C2410C"/>
                </a:solidFill>
                <a:latin typeface="Times New Roman"/>
              </a:rPr>
              <a:t>2. LOCAL AGGREGATORS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b="0" sz="750" u="none">
                <a:solidFill>
                  <a:srgbClr val="64748B"/>
                </a:solidFill>
                <a:latin typeface="Arial"/>
              </a:rPr>
              <a:t>Scrap Dealers &amp; Local Hubs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b="1" sz="780" u="none">
                <a:solidFill>
                  <a:srgbClr val="B91C1C"/>
                </a:solidFill>
                <a:latin typeface="Arial"/>
              </a:rPr>
              <a:t>BEFORE: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Manual paper ledgers prone to loss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Difficult multi-collector tracking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Zero advance scrap visibility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780" u="none">
                <a:solidFill>
                  <a:srgbClr val="15803D"/>
                </a:solidFill>
                <a:latin typeface="Arial"/>
              </a:rPr>
              <a:t>AFTER (WITH E-WASTE SETU):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Digital lotting with batch tracking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Rapid aggregation of small lots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Tamper-evident digital ledger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750" u="none">
                <a:solidFill>
                  <a:srgbClr val="C2410C"/>
                </a:solidFill>
                <a:latin typeface="Arial"/>
              </a:rPr>
              <a:t>VALUE: Digital lotting &amp; formal hubs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4619548" y="877824"/>
            <a:ext cx="2020824" cy="1810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bIns="18288"/>
          <a:lstStyle/>
          <a:p>
            <a:pPr algn="ctr"/>
            <a:r>
              <a:rPr b="1" sz="919" u="none">
                <a:solidFill>
                  <a:srgbClr val="0284C7"/>
                </a:solidFill>
                <a:latin typeface="Times New Roman"/>
              </a:rPr>
              <a:t>3. AUTHORIZED RECYCLERS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b="0" sz="750" u="none">
                <a:solidFill>
                  <a:srgbClr val="64748B"/>
                </a:solidFill>
                <a:latin typeface="Arial"/>
              </a:rPr>
              <a:t>CPCB Dismantlers &amp; Smelters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b="1" sz="780" u="none">
                <a:solidFill>
                  <a:srgbClr val="B91C1C"/>
                </a:solidFill>
                <a:latin typeface="Arial"/>
              </a:rPr>
              <a:t>BEFORE: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Fragmented supply bypassing plants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Unverified origin &amp; quality disputes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Paper manifests with audit gaps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780" u="none">
                <a:solidFill>
                  <a:srgbClr val="15803D"/>
                </a:solidFill>
                <a:latin typeface="Arial"/>
              </a:rPr>
              <a:t>AFTER (WITH E-WASTE SETU):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Pre-segregated, graded bulk lots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Spatial sourcing &amp; truck routing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Cryptographic QR custody checks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750" u="none">
                <a:solidFill>
                  <a:srgbClr val="0284C7"/>
                </a:solidFill>
                <a:latin typeface="Arial"/>
              </a:rPr>
              <a:t>VALUE: Traceable feedstock &amp; custody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737298" y="877824"/>
            <a:ext cx="2020824" cy="1810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bIns="18288"/>
          <a:lstStyle/>
          <a:p>
            <a:pPr algn="ctr"/>
            <a:r>
              <a:rPr b="1" sz="919" u="none">
                <a:solidFill>
                  <a:srgbClr val="7C3AED"/>
                </a:solidFill>
                <a:latin typeface="Times New Roman"/>
              </a:rPr>
              <a:t>4. REGULATORS / EPR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b="0" sz="750" u="none">
                <a:solidFill>
                  <a:srgbClr val="64748B"/>
                </a:solidFill>
                <a:latin typeface="Arial"/>
              </a:rPr>
              <a:t>CPCB, MoEFCC &amp; Brand Owners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b="1" sz="780" u="none">
                <a:solidFill>
                  <a:srgbClr val="B91C1C"/>
                </a:solidFill>
                <a:latin typeface="Arial"/>
              </a:rPr>
              <a:t>BEFORE: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Unmonitored scrap flows &amp; leakage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Untraceable material custody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334155"/>
                </a:solidFill>
                <a:latin typeface="Arial"/>
              </a:rPr>
              <a:t>• Risk of fraudulent paper credits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780" u="none">
                <a:solidFill>
                  <a:srgbClr val="15803D"/>
                </a:solidFill>
                <a:latin typeface="Arial"/>
              </a:rPr>
              <a:t>AFTER (WITH E-WASTE SETU):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Full Collector ➔ Hub ➔ Plant trace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Immutable transaction trail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0" sz="720" u="none">
                <a:solidFill>
                  <a:srgbClr val="0F172A"/>
                </a:solidFill>
                <a:latin typeface="Arial"/>
              </a:rPr>
              <a:t>✓ Automated CPCB Form-6 e-filing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b="1" sz="750" u="none">
                <a:solidFill>
                  <a:srgbClr val="7C3AED"/>
                </a:solidFill>
                <a:latin typeface="Arial"/>
              </a:rPr>
              <a:t>VALUE: Provenance &amp; zero EPR fraud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384048" y="2761488"/>
            <a:ext cx="2706624" cy="1883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36576"/>
          <a:lstStyle/>
          <a:p>
            <a:pPr algn="ctr"/>
            <a:r>
              <a:rPr b="1" sz="950" u="none">
                <a:solidFill>
                  <a:srgbClr val="0284C7"/>
                </a:solidFill>
                <a:latin typeface="Times New Roman"/>
              </a:rPr>
              <a:t>SOCIAL IMPACT | Inclusive Livelihoods &amp; Safety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0284C7"/>
                </a:solidFill>
                <a:latin typeface="Arial"/>
              </a:rPr>
              <a:t>• Zero-Barrier Access: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Voice guidance &amp; visual UI remove literacy barriers.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0284C7"/>
                </a:solidFill>
                <a:latin typeface="Arial"/>
              </a:rPr>
              <a:t>• Financial Identity: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Verifiable digital payouts unlock formal micro-loans &amp; credit.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0284C7"/>
                </a:solidFill>
                <a:latin typeface="Arial"/>
              </a:rPr>
              <a:t>• Dispute Protection: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Camera scale OCR eliminates arbitrary middleman weight cuts.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0284C7"/>
                </a:solidFill>
                <a:latin typeface="Arial"/>
              </a:rPr>
              <a:t>• Dignity of Labor: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Transitions informal collectors into certified green-collar workforce.</a:t>
            </a:r>
          </a:p>
          <a:p>
            <a:pPr>
              <a:spcBef>
                <a:spcPts val="250"/>
              </a:spcBef>
              <a:spcAft>
                <a:spcPts val="0"/>
              </a:spcAft>
            </a:pPr>
            <a:r>
              <a:rPr b="1" sz="800" u="none">
                <a:solidFill>
                  <a:srgbClr val="0284C7"/>
                </a:solidFill>
                <a:latin typeface="Arial"/>
              </a:rPr>
              <a:t>Mechanism: Transparent pricing ➔ Dignified livelihoods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3218688" y="2761488"/>
            <a:ext cx="2706624" cy="1883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36576"/>
          <a:lstStyle/>
          <a:p>
            <a:pPr algn="ctr"/>
            <a:r>
              <a:rPr b="1" sz="950" u="none">
                <a:solidFill>
                  <a:srgbClr val="C2410C"/>
                </a:solidFill>
                <a:latin typeface="Times New Roman"/>
              </a:rPr>
              <a:t>ECONOMIC IMPACT | Price Transparency &amp; Efficiency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C2410C"/>
                </a:solidFill>
                <a:latin typeface="Arial"/>
              </a:rPr>
              <a:t>• Transparent Pricing: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Daily benchmark floor stops 25%–40% predatory middleman cuts.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C2410C"/>
                </a:solidFill>
                <a:latin typeface="Arial"/>
              </a:rPr>
              <a:t>• Bulk Value Capture: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Small lots aggregated into high-margin bulk recycler consignments.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C2410C"/>
                </a:solidFill>
                <a:latin typeface="Arial"/>
              </a:rPr>
              <a:t>• Dispute-Free Trade: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Tamper-evident scale OCR logs resolve all handover conflicts.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C2410C"/>
                </a:solidFill>
                <a:latin typeface="Arial"/>
              </a:rPr>
              <a:t>• Plant Throughput: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Predictable, sorted feedstock maximizes authorized recycler capacity.</a:t>
            </a:r>
          </a:p>
          <a:p>
            <a:pPr>
              <a:spcBef>
                <a:spcPts val="250"/>
              </a:spcBef>
              <a:spcAft>
                <a:spcPts val="0"/>
              </a:spcAft>
            </a:pPr>
            <a:r>
              <a:rPr b="1" sz="800" u="none">
                <a:solidFill>
                  <a:srgbClr val="C2410C"/>
                </a:solidFill>
                <a:latin typeface="Arial"/>
              </a:rPr>
              <a:t>Mechanism: Lot aggregation + OCR ➔ Dispute-free trade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053328" y="2761488"/>
            <a:ext cx="2706624" cy="1883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36576"/>
          <a:lstStyle/>
          <a:p>
            <a:pPr algn="ctr"/>
            <a:r>
              <a:rPr b="1" sz="950" u="none">
                <a:solidFill>
                  <a:srgbClr val="15803D"/>
                </a:solidFill>
                <a:latin typeface="Times New Roman"/>
              </a:rPr>
              <a:t>ENVIRONMENTAL IMPACT | Toxic Diversion &amp; Recovery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15803D"/>
                </a:solidFill>
                <a:latin typeface="Arial"/>
              </a:rPr>
              <a:t>• Zero Toxic Leaching: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Diverts PCBs away from crude acid baths and open burning in slums.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15803D"/>
                </a:solidFill>
                <a:latin typeface="Arial"/>
              </a:rPr>
              <a:t>• Critical Minerals: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Secures domestic recovery of pure Cu, Au, Ag &amp; essential battery Li.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15803D"/>
                </a:solidFill>
                <a:latin typeface="Arial"/>
              </a:rPr>
              <a:t>• Chain-of-Custody: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Dual QR tracking prevents gray-market leakage &amp; informal dumping.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b="1" sz="800" u="none">
                <a:solidFill>
                  <a:srgbClr val="15803D"/>
                </a:solidFill>
                <a:latin typeface="Arial"/>
              </a:rPr>
              <a:t>• Audit-Proof EPR: </a:t>
            </a:r>
            <a:r>
              <a:rPr b="0" sz="780" u="none">
                <a:solidFill>
                  <a:srgbClr val="334155"/>
                </a:solidFill>
                <a:latin typeface="Arial"/>
              </a:rPr>
              <a:t>Physical custody trail replaces fraudulent paper-only certificates.</a:t>
            </a:r>
          </a:p>
          <a:p>
            <a:pPr>
              <a:spcBef>
                <a:spcPts val="250"/>
              </a:spcBef>
              <a:spcAft>
                <a:spcPts val="0"/>
              </a:spcAft>
            </a:pPr>
            <a:r>
              <a:rPr b="1" sz="800" u="none">
                <a:solidFill>
                  <a:srgbClr val="15803D"/>
                </a:solidFill>
                <a:latin typeface="Arial"/>
              </a:rPr>
              <a:t>Mechanism: Digital custody ➔ End-to-end trace &amp; zero toxic burning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457200" y="165631"/>
            <a:ext cx="8229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 b="1" i="0" sz="20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8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12" name="Google Shape;212;p18"/>
          <p:cNvSpPr/>
          <p:nvPr/>
        </p:nvSpPr>
        <p:spPr>
          <a:xfrm>
            <a:off x="247325" y="189175"/>
            <a:ext cx="16173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8" lIns="9144" spcFirstLastPara="1" rIns="9144" wrap="none" tIns="109728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950" u="none">
                <a:solidFill>
                  <a:srgbClr val="0F172A"/>
                </a:solidFill>
                <a:latin typeface="Arial"/>
              </a:rPr>
              <a:t>HelloWorldWarriors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TextBox 213"/>
          <p:cNvSpPr txBox="1"/>
          <p:nvPr/>
        </p:nvSpPr>
        <p:spPr>
          <a:xfrm>
            <a:off x="365760" y="62179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980" u="none">
                <a:solidFill>
                  <a:srgbClr val="0F172A"/>
                </a:solidFill>
                <a:latin typeface="Times New Roman"/>
              </a:rPr>
              <a:t>Comprehensive Literature, Technical Foundations &amp; Primary Field Research: </a:t>
            </a:r>
            <a:r>
              <a:rPr b="1" sz="980" u="none">
                <a:solidFill>
                  <a:srgbClr val="15803D"/>
                </a:solidFill>
                <a:latin typeface="Times New Roman"/>
              </a:rPr>
              <a:t>Evidence-Based Architecture for E-Waste Setup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384048" y="868680"/>
            <a:ext cx="2706624" cy="3035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bIns="18288"/>
          <a:lstStyle/>
          <a:p>
            <a:pPr algn="ctr"/>
            <a:r>
              <a:rPr b="1" sz="850" u="none">
                <a:solidFill>
                  <a:srgbClr val="0066CC"/>
                </a:solidFill>
                <a:latin typeface="Times New Roman"/>
              </a:rPr>
              <a:t>1. PROBLEM, POLICY &amp; DOMAIN RESEARCH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b="0" sz="700" u="none">
                <a:solidFill>
                  <a:srgbClr val="0066CC"/>
                </a:solidFill>
                <a:latin typeface="Arial"/>
              </a:rPr>
              <a:t>(Stakeholder, Academic Literature &amp; National Policy)</a:t>
            </a:r>
          </a:p>
          <a:p>
            <a:pPr>
              <a:lnSpc>
                <a:spcPts val="680"/>
              </a:lnSpc>
              <a:spcBef>
                <a:spcPts val="50"/>
              </a:spcBef>
              <a:spcAft>
                <a:spcPts val="0"/>
              </a:spcAft>
            </a:pPr>
            <a:r>
              <a:rPr b="1" sz="620" u="none">
                <a:solidFill>
                  <a:srgbClr val="0066CC"/>
                </a:solidFill>
                <a:latin typeface="Arial"/>
              </a:rPr>
              <a:t>• Smart India Hackathon 2026 — PS 26229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(Ministry of Mines / JNARDDC, NIC)</a:t>
            </a:r>
          </a:p>
          <a:p>
            <a:pPr>
              <a:lnSpc>
                <a:spcPts val="680"/>
              </a:lnSpc>
              <a:spcBef>
                <a:spcPts val="50"/>
              </a:spcBef>
              <a:spcAft>
                <a:spcPts val="0"/>
              </a:spcAft>
            </a:pPr>
            <a:r>
              <a:rPr b="1" sz="620" u="none">
                <a:solidFill>
                  <a:srgbClr val="0066CC"/>
                </a:solidFill>
                <a:latin typeface="Arial"/>
              </a:rPr>
              <a:t>• E-Waste (Management) Rules, 2022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(CPCB / MoEFCC)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Statutory Compliance: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Mandates digital EPR, credit trading, formal recycler licensing, and automated Form-6 electronic audit trails.</a:t>
            </a:r>
          </a:p>
          <a:p>
            <a:pPr>
              <a:lnSpc>
                <a:spcPts val="680"/>
              </a:lnSpc>
              <a:spcBef>
                <a:spcPts val="50"/>
              </a:spcBef>
              <a:spcAft>
                <a:spcPts val="0"/>
              </a:spcAft>
            </a:pPr>
            <a:r>
              <a:rPr b="1" sz="620" u="none">
                <a:solidFill>
                  <a:srgbClr val="0066CC"/>
                </a:solidFill>
                <a:latin typeface="Arial"/>
              </a:rPr>
              <a:t>• CPCB — E-Waste Management / EPR Portal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(Central Pollution Control Board)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Registry &amp; Ecosystem: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Official national portal for registered dismantlers &amp; recyclers, mapped to our spatial engine for certified processing.</a:t>
            </a:r>
          </a:p>
          <a:p>
            <a:pPr>
              <a:lnSpc>
                <a:spcPts val="680"/>
              </a:lnSpc>
              <a:spcBef>
                <a:spcPts val="50"/>
              </a:spcBef>
              <a:spcAft>
                <a:spcPts val="0"/>
              </a:spcAft>
            </a:pPr>
            <a:r>
              <a:rPr b="1" sz="620" u="none">
                <a:solidFill>
                  <a:srgbClr val="0066CC"/>
                </a:solidFill>
                <a:latin typeface="Arial"/>
              </a:rPr>
              <a:t>• NITI Aayog — Circular Economy Strategy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(NITI Aayog (2022))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Inclusion Roadmap: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Prioritizes decentralized aggregation hubs, workforce skilling, and formalization of the informal sector.</a:t>
            </a:r>
          </a:p>
          <a:p>
            <a:pPr>
              <a:lnSpc>
                <a:spcPts val="680"/>
              </a:lnSpc>
              <a:spcBef>
                <a:spcPts val="50"/>
              </a:spcBef>
              <a:spcAft>
                <a:spcPts val="0"/>
              </a:spcAft>
            </a:pPr>
            <a:r>
              <a:rPr b="1" sz="620" u="none">
                <a:solidFill>
                  <a:srgbClr val="0066CC"/>
                </a:solidFill>
                <a:latin typeface="Arial"/>
              </a:rPr>
              <a:t>• JNARDDC — Waste Management Research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(Autonomous Body, MoM)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Multidisciplinary Recovery: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Benchmark extraction indices for Au, Ag, Cu, Li via hydrometallurgical processing over hazardous backyard leaching.</a:t>
            </a:r>
          </a:p>
          <a:p>
            <a:pPr>
              <a:lnSpc>
                <a:spcPts val="680"/>
              </a:lnSpc>
              <a:spcBef>
                <a:spcPts val="50"/>
              </a:spcBef>
              <a:spcAft>
                <a:spcPts val="0"/>
              </a:spcAft>
            </a:pPr>
            <a:r>
              <a:rPr b="1" sz="620" u="none">
                <a:solidFill>
                  <a:srgbClr val="0066CC"/>
                </a:solidFill>
                <a:latin typeface="Arial"/>
              </a:rPr>
              <a:t>• Toxics Link — Electronic Waste Research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(Environmental Research Body)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Ground Vulnerabilities: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Proves 25–40% value skimming by middlemen and severe e-waste health risks from crude open acid burning.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3218688" y="868680"/>
            <a:ext cx="2706624" cy="3035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bIns="18288"/>
          <a:lstStyle/>
          <a:p>
            <a:pPr algn="ctr"/>
            <a:r>
              <a:rPr b="1" sz="850" u="none">
                <a:solidFill>
                  <a:srgbClr val="15803D"/>
                </a:solidFill>
                <a:latin typeface="Times New Roman"/>
              </a:rPr>
              <a:t>2. TECHNOLOGY &amp; AI RESEARCH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b="0" sz="700" u="none">
                <a:solidFill>
                  <a:srgbClr val="15803D"/>
                </a:solidFill>
                <a:latin typeface="Arial"/>
              </a:rPr>
              <a:t>(Open-Source Engines, Algorithms &amp; Web Standards)</a:t>
            </a:r>
          </a:p>
          <a:p>
            <a:pPr>
              <a:lnSpc>
                <a:spcPts val="680"/>
              </a:lnSpc>
              <a:spcBef>
                <a:spcPts val="80"/>
              </a:spcBef>
              <a:spcAft>
                <a:spcPts val="0"/>
              </a:spcAft>
            </a:pPr>
            <a:r>
              <a:rPr b="1" sz="620" u="none">
                <a:solidFill>
                  <a:srgbClr val="15803D"/>
                </a:solidFill>
                <a:latin typeface="Arial"/>
              </a:rPr>
              <a:t>• MobileNetV3 — Mobile Vision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(Howard et al., Google Research)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Lightweight Neural Vision: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Hardware-aware NAS architecture, optimized INT8 on-device edge category classifier (&lt;5MB) running in real-time on budget phones.</a:t>
            </a:r>
          </a:p>
          <a:p>
            <a:pPr>
              <a:lnSpc>
                <a:spcPts val="680"/>
              </a:lnSpc>
              <a:spcBef>
                <a:spcPts val="80"/>
              </a:spcBef>
              <a:spcAft>
                <a:spcPts val="0"/>
              </a:spcAft>
            </a:pPr>
            <a:r>
              <a:rPr b="1" sz="620" u="none">
                <a:solidFill>
                  <a:srgbClr val="15803D"/>
                </a:solidFill>
                <a:latin typeface="Arial"/>
              </a:rPr>
              <a:t>• IEEE Access — E-Waste Vision AI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(IEEE (Kolev (2021))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Zero-Review AI framework: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Evaluates lightweight vision transformers for automated multi-category electronic scrap classification on edge hardware.</a:t>
            </a:r>
          </a:p>
          <a:p>
            <a:pPr>
              <a:lnSpc>
                <a:spcPts val="680"/>
              </a:lnSpc>
              <a:spcBef>
                <a:spcPts val="80"/>
              </a:spcBef>
              <a:spcAft>
                <a:spcPts val="0"/>
              </a:spcAft>
            </a:pPr>
            <a:r>
              <a:rPr b="1" sz="620" u="none">
                <a:solidFill>
                  <a:srgbClr val="15803D"/>
                </a:solidFill>
                <a:latin typeface="Arial"/>
              </a:rPr>
              <a:t>• AI4Bharat — Indic Language AI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(IIT Madras / MeitY Initiative)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Vernacular Voice Assistance: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Speech-to-text and voice synthesis in Hindi &amp; regional dialects; removes reading/typing barriers for low-literacy collectors.</a:t>
            </a:r>
          </a:p>
          <a:p>
            <a:pPr>
              <a:lnSpc>
                <a:spcPts val="680"/>
              </a:lnSpc>
              <a:spcBef>
                <a:spcPts val="80"/>
              </a:spcBef>
              <a:spcAft>
                <a:spcPts val="0"/>
              </a:spcAft>
            </a:pPr>
            <a:r>
              <a:rPr b="1" sz="620" u="none">
                <a:solidFill>
                  <a:srgbClr val="15803D"/>
                </a:solidFill>
                <a:latin typeface="Arial"/>
              </a:rPr>
              <a:t>• OpenCV — Computer Vision Pipeline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(OpenCV Foundation)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Space-OKR Verification: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Perspective warp rectification, adaptive thresholding &amp; 7-segment digit recognition to extract tamper-evident-to-weight proof from phones.</a:t>
            </a:r>
          </a:p>
          <a:p>
            <a:pPr>
              <a:lnSpc>
                <a:spcPts val="680"/>
              </a:lnSpc>
              <a:spcBef>
                <a:spcPts val="80"/>
              </a:spcBef>
              <a:spcAft>
                <a:spcPts val="0"/>
              </a:spcAft>
            </a:pPr>
            <a:r>
              <a:rPr b="1" sz="620" u="none">
                <a:solidFill>
                  <a:srgbClr val="15803D"/>
                </a:solidFill>
                <a:latin typeface="Arial"/>
              </a:rPr>
              <a:t>• PostGIS — Spatial Database ↗ </a:t>
            </a:r>
            <a:r>
              <a:rPr b="0" sz="560" u="none">
                <a:solidFill>
                  <a:srgbClr val="64748B"/>
                </a:solidFill>
                <a:latin typeface="Arial"/>
              </a:rPr>
              <a:t>(PostgreSQL, Spatial Extension)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Geospatial Clustering: </a:t>
            </a:r>
            <a:r>
              <a:rPr b="0" sz="560" u="none">
                <a:solidFill>
                  <a:srgbClr val="334155"/>
                </a:solidFill>
                <a:latin typeface="Arial"/>
              </a:rPr>
              <a:t>ST_DWithin and K-means for hotspot mapping, spatial queries for location-based clustering and dynamic collector-to-hub routing.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053328" y="868680"/>
            <a:ext cx="2706624" cy="3035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bIns="18288"/>
          <a:lstStyle/>
          <a:p>
            <a:pPr algn="ctr"/>
            <a:r>
              <a:rPr b="1" sz="850" u="none">
                <a:solidFill>
                  <a:srgbClr val="C2410C"/>
                </a:solidFill>
                <a:latin typeface="Times New Roman"/>
              </a:rPr>
              <a:t>3. PRIMARY FIELD RESEARCH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b="0" sz="700" u="none">
                <a:solidFill>
                  <a:srgbClr val="C2410C"/>
                </a:solidFill>
                <a:latin typeface="Arial"/>
              </a:rPr>
              <a:t>(In-Person Interviews &amp; Operational Workflow Observation)</a:t>
            </a:r>
          </a:p>
          <a:p>
            <a:pPr>
              <a:lnSpc>
                <a:spcPts val="680"/>
              </a:lnSpc>
              <a:spcBef>
                <a:spcPts val="80"/>
              </a:spcBef>
              <a:spcAft>
                <a:spcPts val="0"/>
              </a:spcAft>
            </a:pPr>
            <a:r>
              <a:rPr b="1" sz="620" u="none">
                <a:solidFill>
                  <a:srgbClr val="B91C1C"/>
                </a:solidFill>
                <a:latin typeface="Arial"/>
              </a:rPr>
              <a:t>FIELD SAMPLE: 2 Informal Collectors + 1 Main Aggregator</a:t>
            </a:r>
          </a:p>
          <a:p>
            <a:pPr>
              <a:lnSpc>
                <a:spcPts val="660"/>
              </a:lnSpc>
              <a:spcBef>
                <a:spcPts val="60"/>
              </a:spcBef>
              <a:spcAft>
                <a:spcPts val="0"/>
              </a:spcAft>
            </a:pPr>
            <a:r>
              <a:rPr b="1" sz="620" u="none">
                <a:solidFill>
                  <a:srgbClr val="C2410C"/>
                </a:solidFill>
                <a:latin typeface="Arial"/>
              </a:rPr>
              <a:t>Participant 01: Collector 01 (Daily Waste-Picker)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Process Told: </a:t>
            </a:r>
            <a:r>
              <a:rPr b="0" sz="550" u="none">
                <a:solidFill>
                  <a:srgbClr val="334155"/>
                </a:solidFill>
                <a:latin typeface="Arial"/>
              </a:rPr>
              <a:t>Collects discarded electronics from repair shops &amp; bins → Sells daily to roadside dealer for cash; accepts flat under-estimate.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What He Told: </a:t>
            </a:r>
            <a:r>
              <a:rPr b="0" sz="550" u="none">
                <a:solidFill>
                  <a:srgbClr val="334155"/>
                </a:solidFill>
                <a:latin typeface="Arial"/>
              </a:rPr>
              <a:t>"₹30–₹50/kg. No scale; often sell at loss to middlemen; 2–3 hrs daily, no formal ID or security."</a:t>
            </a:r>
          </a:p>
          <a:p>
            <a:pPr>
              <a:lnSpc>
                <a:spcPts val="660"/>
              </a:lnSpc>
              <a:spcBef>
                <a:spcPts val="60"/>
              </a:spcBef>
              <a:spcAft>
                <a:spcPts val="0"/>
              </a:spcAft>
            </a:pPr>
            <a:r>
              <a:rPr b="1" sz="620" u="none">
                <a:solidFill>
                  <a:srgbClr val="C2410C"/>
                </a:solidFill>
                <a:latin typeface="Arial"/>
              </a:rPr>
              <a:t>Participant 02: Collector 02 (Itinerant Scrap Buyer)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Process Told: </a:t>
            </a:r>
            <a:r>
              <a:rPr b="0" sz="550" u="none">
                <a:solidFill>
                  <a:srgbClr val="334155"/>
                </a:solidFill>
                <a:latin typeface="Arial"/>
              </a:rPr>
              <a:t>Travels 15–20 km daily using home appliances → Connectivity drops in narrow alleys → Needs immediate price proof for sellers.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What He Told: </a:t>
            </a:r>
            <a:r>
              <a:rPr b="0" sz="550" u="none">
                <a:solidFill>
                  <a:srgbClr val="334155"/>
                </a:solidFill>
                <a:latin typeface="Arial"/>
              </a:rPr>
              <a:t>"Households distrust rates. Showing live market rates on app screen builds trust and closes deals fast."</a:t>
            </a:r>
          </a:p>
          <a:p>
            <a:pPr>
              <a:lnSpc>
                <a:spcPts val="660"/>
              </a:lnSpc>
              <a:spcBef>
                <a:spcPts val="60"/>
              </a:spcBef>
              <a:spcAft>
                <a:spcPts val="0"/>
              </a:spcAft>
            </a:pPr>
            <a:r>
              <a:rPr b="1" sz="620" u="none">
                <a:solidFill>
                  <a:srgbClr val="C2410C"/>
                </a:solidFill>
                <a:latin typeface="Arial"/>
              </a:rPr>
              <a:t>Participant 03: Main Aggregator (Local Scrap Hub Operator)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Process Told: </a:t>
            </a:r>
            <a:r>
              <a:rPr b="0" sz="550" u="none">
                <a:solidFill>
                  <a:srgbClr val="334155"/>
                </a:solidFill>
                <a:latin typeface="Arial"/>
              </a:rPr>
              <a:t>Buys small lots from 30+ collectors → Stores in yard → Records in paper books → Sells bulk lots to recyclers.</a:t>
            </a:r>
            <a:r>
              <a:t>
</a:t>
            </a:r>
            <a:r>
              <a:rPr b="1" sz="580" u="none">
                <a:solidFill>
                  <a:srgbClr val="0F172A"/>
                </a:solidFill>
                <a:latin typeface="Arial"/>
              </a:rPr>
              <a:t>What He Told: </a:t>
            </a:r>
            <a:r>
              <a:rPr b="0" sz="550" u="none">
                <a:solidFill>
                  <a:srgbClr val="334155"/>
                </a:solidFill>
                <a:latin typeface="Arial"/>
              </a:rPr>
              <a:t>"Recyclers pay higher but demand 300kg+ lots &amp; manifests. Digital lotting lets us operate as certified hubs."</a:t>
            </a:r>
          </a:p>
          <a:p>
            <a:pPr>
              <a:lnSpc>
                <a:spcPts val="660"/>
              </a:lnSpc>
              <a:spcBef>
                <a:spcPts val="80"/>
              </a:spcBef>
              <a:spcAft>
                <a:spcPts val="0"/>
              </a:spcAft>
            </a:pPr>
            <a:r>
              <a:rPr b="1" sz="600" u="none">
                <a:solidFill>
                  <a:srgbClr val="B91C1C"/>
                </a:solidFill>
                <a:latin typeface="Arial"/>
              </a:rPr>
              <a:t>FIELD RESEARCH COVERAGE: </a:t>
            </a:r>
            <a:r>
              <a:rPr b="1" sz="560" u="none">
                <a:solidFill>
                  <a:srgbClr val="0F172A"/>
                </a:solidFill>
                <a:latin typeface="Arial"/>
              </a:rPr>
              <a:t>Collection ➔ Pricing ➔ Weighing ➔ Aggregation ➔ Recycler</a:t>
            </a:r>
          </a:p>
          <a:p>
            <a:pPr>
              <a:lnSpc>
                <a:spcPts val="660"/>
              </a:lnSpc>
              <a:spcBef>
                <a:spcPts val="60"/>
              </a:spcBef>
              <a:spcAft>
                <a:spcPts val="0"/>
              </a:spcAft>
            </a:pPr>
            <a:r>
              <a:rPr b="1" sz="600" u="none">
                <a:solidFill>
                  <a:srgbClr val="C2410C"/>
                </a:solidFill>
                <a:latin typeface="Arial"/>
              </a:rPr>
              <a:t>Core Validation: </a:t>
            </a:r>
            <a:r>
              <a:rPr b="0" sz="550" u="none">
                <a:solidFill>
                  <a:srgbClr val="334155"/>
                </a:solidFill>
                <a:latin typeface="Arial"/>
              </a:rPr>
              <a:t>Informal actors embrace formalization when scale proof &amp; market rates protect earnings without cash disruption.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384048" y="3950208"/>
            <a:ext cx="4133087" cy="822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54864" bIns="36576"/>
          <a:lstStyle/>
          <a:p>
            <a:pPr algn="ctr"/>
            <a:r>
              <a:rPr b="1" sz="800" u="none">
                <a:solidFill>
                  <a:srgbClr val="15803D"/>
                </a:solidFill>
                <a:latin typeface="Times New Roman"/>
              </a:rPr>
              <a:t>PROTOTYPE WEB APPLICATION:  </a:t>
            </a:r>
            <a:r>
              <a:rPr b="1" sz="800" u="sng">
                <a:solidFill>
                  <a:srgbClr val="2563EB"/>
                </a:solidFill>
                <a:latin typeface="Arial"/>
                <a:hlinkClick r:id="rId16"/>
              </a:rPr>
              <a:t>https://recysaathi.vercel.app ↗</a:t>
            </a:r>
          </a:p>
          <a:p>
            <a:pPr>
              <a:lnSpc>
                <a:spcPts val="800"/>
              </a:lnSpc>
              <a:spcBef>
                <a:spcPts val="150"/>
              </a:spcBef>
              <a:spcAft>
                <a:spcPts val="0"/>
              </a:spcAft>
            </a:pPr>
            <a:r>
              <a:rPr b="1" sz="720" u="none">
                <a:solidFill>
                  <a:srgbClr val="0F172A"/>
                </a:solidFill>
                <a:latin typeface="Arial"/>
              </a:rPr>
              <a:t>Live Responsive PWA: </a:t>
            </a:r>
            <a:r>
              <a:rPr b="0" sz="700" u="none">
                <a:solidFill>
                  <a:srgbClr val="334155"/>
                </a:solidFill>
                <a:latin typeface="Arial"/>
              </a:rPr>
              <a:t>Mobile-optimized web app with visual scrap touch categories, offline IndexedDB transaction storage, and camera scale OCR weight extraction for budget Android phones.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626864" y="3950208"/>
            <a:ext cx="4133087" cy="8229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54864" bIns="36576"/>
          <a:lstStyle/>
          <a:p>
            <a:pPr algn="ctr"/>
            <a:r>
              <a:rPr b="1" sz="800" u="none">
                <a:solidFill>
                  <a:srgbClr val="2563EB"/>
                </a:solidFill>
                <a:latin typeface="Times New Roman"/>
              </a:rPr>
              <a:t>YOUTUBE VIDEO DEMONSTRATION:  </a:t>
            </a:r>
            <a:r>
              <a:rPr b="1" sz="800" u="sng">
                <a:solidFill>
                  <a:srgbClr val="2563EB"/>
                </a:solidFill>
                <a:latin typeface="Arial"/>
                <a:hlinkClick r:id="rId17"/>
              </a:rPr>
              <a:t>https://youtu.be/ewastesetu-demo ↗</a:t>
            </a:r>
          </a:p>
          <a:p>
            <a:pPr>
              <a:lnSpc>
                <a:spcPts val="800"/>
              </a:lnSpc>
              <a:spcBef>
                <a:spcPts val="150"/>
              </a:spcBef>
              <a:spcAft>
                <a:spcPts val="0"/>
              </a:spcAft>
            </a:pPr>
            <a:r>
              <a:rPr b="1" sz="720" u="none">
                <a:solidFill>
                  <a:srgbClr val="0F172A"/>
                </a:solidFill>
                <a:latin typeface="Arial"/>
              </a:rPr>
              <a:t>Complete System Walkthrough: </a:t>
            </a:r>
            <a:r>
              <a:rPr b="0" sz="700" u="none">
                <a:solidFill>
                  <a:srgbClr val="334155"/>
                </a:solidFill>
                <a:latin typeface="Arial"/>
              </a:rPr>
              <a:t>End-to-end video demo of voice scrap logging, digital scale OCR weight capture, local hub batch lotting, and dual QR CPCB Form-6 manifest handover.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