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s://recysaathi.vercel.app" TargetMode="External"/><Relationship Id="rId5" Type="http://schemas.openxmlformats.org/officeDocument/2006/relationships/hyperlink" Target="https://youtu.be/ewastesetu-demo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pPr algn="ctr"/>
            <a:r>
              <a:rPr b="1" sz="3800" u="none">
                <a:solidFill>
                  <a:srgbClr val="1E3A8A"/>
                </a:solidFill>
                <a:latin typeface="Garamond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548640" y="731520"/>
            <a:ext cx="65836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2800" u="none">
                <a:solidFill>
                  <a:srgbClr val="166534"/>
                </a:solidFill>
                <a:latin typeface="Times New Roman"/>
              </a:rPr>
              <a:t>E-Waste Setu (ई-कचरा सेतु)</a:t>
            </a:r>
          </a:p>
          <a:p>
            <a:pPr>
              <a:spcBef>
                <a:spcPts val="300"/>
              </a:spcBef>
            </a:pPr>
            <a:r>
              <a:rPr b="0" sz="1400" u="none">
                <a:solidFill>
                  <a:srgbClr val="334155"/>
                </a:solidFill>
                <a:latin typeface="Times New Roman"/>
              </a:rPr>
              <a:t>AI-Driven Vernacular Inclusion Platform for Informal Waste Workers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2011680"/>
            <a:ext cx="621792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b="1" sz="1400" u="none">
                <a:solidFill>
                  <a:srgbClr val="0F172A"/>
                </a:solidFill>
                <a:latin typeface="Arial"/>
              </a:rPr>
              <a:t>• Problem Statement ID –</a:t>
            </a:r>
            <a:r>
              <a:rPr b="1" sz="1350" u="none">
                <a:solidFill>
                  <a:srgbClr val="0F172A"/>
                </a:solidFill>
                <a:latin typeface="Arial"/>
              </a:rPr>
              <a:t> 26229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b="1" sz="1400" u="none">
                <a:solidFill>
                  <a:srgbClr val="0F172A"/>
                </a:solidFill>
                <a:latin typeface="Arial"/>
              </a:rPr>
              <a:t>• Problem Statement Title -</a:t>
            </a:r>
            <a:r>
              <a:rPr b="0" sz="1350" u="none">
                <a:solidFill>
                  <a:srgbClr val="0F172A"/>
                </a:solidFill>
                <a:latin typeface="Arial"/>
              </a:rPr>
              <a:t> Kabadiwala Connect – Bringing Informal Collectors to Formal Recycling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b="1" sz="1400" u="none">
                <a:solidFill>
                  <a:srgbClr val="0F172A"/>
                </a:solidFill>
                <a:latin typeface="Arial"/>
              </a:rPr>
              <a:t>• Theme -</a:t>
            </a:r>
            <a:r>
              <a:rPr b="0" sz="1350" u="none">
                <a:solidFill>
                  <a:srgbClr val="0F172A"/>
                </a:solidFill>
                <a:latin typeface="Arial"/>
              </a:rPr>
              <a:t> Clean &amp; Green Technology / Circular Economy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b="1" sz="1400" u="none">
                <a:solidFill>
                  <a:srgbClr val="0F172A"/>
                </a:solidFill>
                <a:latin typeface="Arial"/>
              </a:rPr>
              <a:t>• PS Category -</a:t>
            </a:r>
            <a:r>
              <a:rPr b="0" sz="1350" u="none">
                <a:solidFill>
                  <a:srgbClr val="0F172A"/>
                </a:solidFill>
                <a:latin typeface="Arial"/>
              </a:rPr>
              <a:t> Software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b="1" sz="1400" u="none">
                <a:solidFill>
                  <a:srgbClr val="0F172A"/>
                </a:solidFill>
                <a:latin typeface="Arial"/>
              </a:rPr>
              <a:t>• Team ID -</a:t>
            </a:r>
            <a:r>
              <a:rPr b="0" sz="1350" u="none">
                <a:solidFill>
                  <a:srgbClr val="0F172A"/>
                </a:solidFill>
                <a:latin typeface="Arial"/>
              </a:rPr>
              <a:t> 170413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b="1" sz="1400" u="none">
                <a:solidFill>
                  <a:srgbClr val="0F172A"/>
                </a:solidFill>
                <a:latin typeface="Arial"/>
              </a:rPr>
              <a:t>• Team Name (Registered on portal) -</a:t>
            </a:r>
            <a:r>
              <a:rPr b="1" sz="1350" u="none">
                <a:solidFill>
                  <a:srgbClr val="0F172A"/>
                </a:solidFill>
                <a:latin typeface="Arial"/>
              </a:rPr>
              <a:t> HelloWorldWarriors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b="1" sz="1400" u="none">
                <a:solidFill>
                  <a:srgbClr val="0F172A"/>
                </a:solidFill>
                <a:latin typeface="Arial"/>
              </a:rPr>
              <a:t>• Team Leader -</a:t>
            </a:r>
            <a:r>
              <a:rPr b="0" sz="1350" u="none">
                <a:solidFill>
                  <a:srgbClr val="0F172A"/>
                </a:solidFill>
                <a:latin typeface="Arial"/>
              </a:rPr>
              <a:t> Satya Prakash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b="1" sz="1400" u="none">
                <a:solidFill>
                  <a:srgbClr val="0F172A"/>
                </a:solidFill>
                <a:latin typeface="Arial"/>
              </a:rPr>
              <a:t>• Prototype Web App -</a:t>
            </a:r>
            <a:r>
              <a:rPr b="0" sz="1350" u="none">
                <a:solidFill>
                  <a:srgbClr val="0F172A"/>
                </a:solidFill>
                <a:latin typeface="Arial"/>
              </a:rPr>
              <a:t> https://recysaathi.vercel.app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 algn="ctr"/>
            <a:r>
              <a:rPr b="1" sz="3400" u="none">
                <a:solidFill>
                  <a:srgbClr val="0F172A"/>
                </a:solidFill>
                <a:latin typeface="Times New Roman"/>
              </a:rPr>
              <a:t>IDEA TITLE: E-Waste Setu (ई-कचरा सेतु)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18288" rIns="18288" tIns="109728" bIns="36576"/>
          <a:lstStyle/>
          <a:p>
            <a:pPr algn="ctr"/>
            <a:r>
              <a:rPr b="1" sz="1050" u="none">
                <a:solidFill>
                  <a:srgbClr val="0F172A"/>
                </a:solidFill>
                <a:latin typeface="Arial"/>
              </a:rPr>
              <a:t>HelloWorld
Warriors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548640" y="969264"/>
            <a:ext cx="11091672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b="1" sz="1300" u="none">
                <a:solidFill>
                  <a:srgbClr val="0F172A"/>
                </a:solidFill>
                <a:latin typeface="Times New Roman"/>
              </a:rPr>
              <a:t>Core Formal Supply Chain: </a:t>
            </a:r>
            <a:r>
              <a:rPr b="0" sz="1250" u="none">
                <a:solidFill>
                  <a:srgbClr val="166534"/>
                </a:solidFill>
                <a:latin typeface="Calibri"/>
              </a:rPr>
              <a:t>Informal Waste-Picker ➔ Local Aggregator Hub ➔ Bulk Consignment ➔ CPCB Recycler</a:t>
            </a:r>
          </a:p>
        </p:txBody>
      </p:sp>
      <p:sp>
        <p:nvSpPr>
          <p:cNvPr id="15363" name="Rounded Rectangle 15362"/>
          <p:cNvSpPr/>
          <p:nvPr/>
        </p:nvSpPr>
        <p:spPr>
          <a:xfrm>
            <a:off x="548640" y="1261872"/>
            <a:ext cx="5413248" cy="2331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73152"/>
          <a:lstStyle/>
          <a:p>
            <a:pPr algn="ctr"/>
            <a:r>
              <a:rPr b="1" sz="1350" u="none">
                <a:solidFill>
                  <a:srgbClr val="B91C1C"/>
                </a:solidFill>
                <a:latin typeface="Times New Roman"/>
              </a:rPr>
              <a:t>HOW IT ADDRESSES THE PROBLEM</a:t>
            </a:r>
            <a:r>
              <a:rPr b="0" sz="1150" u="none">
                <a:solidFill>
                  <a:srgbClr val="64748B"/>
                </a:solidFill>
                <a:latin typeface="Calibri"/>
              </a:rPr>
              <a:t>  |  Ground Failures Solved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b="1" sz="1200" u="none">
                <a:solidFill>
                  <a:srgbClr val="B91C1C"/>
                </a:solidFill>
                <a:latin typeface="Calibri"/>
              </a:rPr>
              <a:t>• 25%–40% Middleman Price Skimming: </a:t>
            </a:r>
            <a:r>
              <a:rPr b="0" sz="1200" u="none">
                <a:solidFill>
                  <a:srgbClr val="334155"/>
                </a:solidFill>
                <a:latin typeface="Calibri"/>
              </a:rPr>
              <a:t>Eliminated via live transparent LME benchmark floor rates.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b="1" sz="1200" u="none">
                <a:solidFill>
                  <a:srgbClr val="B91C1C"/>
                </a:solidFill>
                <a:latin typeface="Calibri"/>
              </a:rPr>
              <a:t>• Physical Scale Tampering (10%–15% loss): </a:t>
            </a:r>
            <a:r>
              <a:rPr b="0" sz="1200" u="none">
                <a:solidFill>
                  <a:srgbClr val="334155"/>
                </a:solidFill>
                <a:latin typeface="Calibri"/>
              </a:rPr>
              <a:t>Halted via smartphone camera scale OCR proof bound to lot ID.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b="1" sz="1200" u="none">
                <a:solidFill>
                  <a:srgbClr val="B91C1C"/>
                </a:solidFill>
                <a:latin typeface="Calibri"/>
              </a:rPr>
              <a:t>• Backyard Toxic Acid Smelting: </a:t>
            </a:r>
            <a:r>
              <a:rPr b="0" sz="1200" u="none">
                <a:solidFill>
                  <a:srgbClr val="334155"/>
                </a:solidFill>
                <a:latin typeface="Calibri"/>
              </a:rPr>
              <a:t>Diverts toxic PCBs into certified formal hydrometallurgical refiners.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b="1" sz="1200" u="none">
                <a:solidFill>
                  <a:srgbClr val="B91C1C"/>
                </a:solidFill>
                <a:latin typeface="Calibri"/>
              </a:rPr>
              <a:t>• Extreme Digital Illiteracy: </a:t>
            </a:r>
            <a:r>
              <a:rPr b="0" sz="1200" u="none">
                <a:solidFill>
                  <a:srgbClr val="334155"/>
                </a:solidFill>
                <a:latin typeface="Calibri"/>
              </a:rPr>
              <a:t>Overcomes reading barriers with 10+ Indic voice models &amp; visual touch UI.</a:t>
            </a:r>
          </a:p>
        </p:txBody>
      </p:sp>
      <p:sp>
        <p:nvSpPr>
          <p:cNvPr id="15364" name="Rounded Rectangle 15363"/>
          <p:cNvSpPr/>
          <p:nvPr/>
        </p:nvSpPr>
        <p:spPr>
          <a:xfrm>
            <a:off x="6108192" y="1261872"/>
            <a:ext cx="5532120" cy="2331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73152"/>
          <a:lstStyle/>
          <a:p>
            <a:pPr algn="ctr"/>
            <a:r>
              <a:rPr b="1" sz="1350" u="none">
                <a:solidFill>
                  <a:srgbClr val="166534"/>
                </a:solidFill>
                <a:latin typeface="Times New Roman"/>
              </a:rPr>
              <a:t>PROPOSED SOLUTION (Idea / Solution / Prototype)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b="1" sz="1200" u="none">
                <a:solidFill>
                  <a:srgbClr val="166534"/>
                </a:solidFill>
                <a:latin typeface="Calibri"/>
              </a:rPr>
              <a:t>1. Voice / Visual Logging: </a:t>
            </a:r>
            <a:r>
              <a:rPr b="0" sz="1200" u="none">
                <a:solidFill>
                  <a:srgbClr val="334155"/>
                </a:solidFill>
                <a:latin typeface="Calibri"/>
              </a:rPr>
              <a:t>Snaps scrap photo; AI tags category &amp; displays live floor prices.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b="1" sz="1200" u="none">
                <a:solidFill>
                  <a:srgbClr val="166534"/>
                </a:solidFill>
                <a:latin typeface="Calibri"/>
              </a:rPr>
              <a:t>2. Scale OCR Capture: </a:t>
            </a:r>
            <a:r>
              <a:rPr b="0" sz="1200" u="none">
                <a:solidFill>
                  <a:srgbClr val="334155"/>
                </a:solidFill>
                <a:latin typeface="Calibri"/>
              </a:rPr>
              <a:t>Phone camera extracts scale digits, binding photo proof to lot ID.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b="1" sz="1200" u="none">
                <a:solidFill>
                  <a:srgbClr val="166534"/>
                </a:solidFill>
                <a:latin typeface="Calibri"/>
              </a:rPr>
              <a:t>3. Local Hub Handover: </a:t>
            </a:r>
            <a:r>
              <a:rPr b="0" sz="1200" u="none">
                <a:solidFill>
                  <a:srgbClr val="334155"/>
                </a:solidFill>
                <a:latin typeface="Calibri"/>
              </a:rPr>
              <a:t>Aggregator scans lot; verifies weight &amp; pays instant UPI/Cash.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b="1" sz="1200" u="none">
                <a:solidFill>
                  <a:srgbClr val="166534"/>
                </a:solidFill>
                <a:latin typeface="Calibri"/>
              </a:rPr>
              <a:t>4. Bulk Milk-Run: </a:t>
            </a:r>
            <a:r>
              <a:rPr b="0" sz="1200" u="none">
                <a:solidFill>
                  <a:srgbClr val="334155"/>
                </a:solidFill>
                <a:latin typeface="Calibri"/>
              </a:rPr>
              <a:t>Consolidates small lots into 1-ton batches with truck dispatch.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b="1" sz="1200" u="none">
                <a:solidFill>
                  <a:srgbClr val="166534"/>
                </a:solidFill>
                <a:latin typeface="Calibri"/>
              </a:rPr>
              <a:t>5. Recycler Verification: </a:t>
            </a:r>
            <a:r>
              <a:rPr b="0" sz="1200" u="none">
                <a:solidFill>
                  <a:srgbClr val="334155"/>
                </a:solidFill>
                <a:latin typeface="Calibri"/>
              </a:rPr>
              <a:t>Authorized recycler confirms QR; auto-generates CPCB Form-6.</a:t>
            </a:r>
          </a:p>
        </p:txBody>
      </p:sp>
      <p:sp>
        <p:nvSpPr>
          <p:cNvPr id="15365" name="TextBox 15364"/>
          <p:cNvSpPr txBox="1"/>
          <p:nvPr/>
        </p:nvSpPr>
        <p:spPr>
          <a:xfrm>
            <a:off x="548640" y="3675887"/>
            <a:ext cx="11091672" cy="237744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b="1" sz="1350" u="none">
                <a:solidFill>
                  <a:srgbClr val="0F172A"/>
                </a:solidFill>
                <a:latin typeface="Times New Roman"/>
              </a:rPr>
              <a:t>INNOVATION AND UNIQUENESS OF THE SOLUTION: </a:t>
            </a:r>
            <a:r>
              <a:rPr b="0" sz="1200" u="none">
                <a:solidFill>
                  <a:srgbClr val="0284C7"/>
                </a:solidFill>
                <a:latin typeface="Calibri"/>
              </a:rPr>
              <a:t>Zero-Disruption Architecture Built for Real-World Field Adoption</a:t>
            </a:r>
          </a:p>
        </p:txBody>
      </p:sp>
      <p:sp>
        <p:nvSpPr>
          <p:cNvPr id="15366" name="Rounded Rectangle 15365"/>
          <p:cNvSpPr/>
          <p:nvPr/>
        </p:nvSpPr>
        <p:spPr>
          <a:xfrm>
            <a:off x="548640" y="3950208"/>
            <a:ext cx="2679192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73152"/>
          <a:lstStyle/>
          <a:p>
            <a:pPr algn="ctr"/>
            <a:r>
              <a:rPr b="1" sz="1150" u="none">
                <a:solidFill>
                  <a:srgbClr val="166534"/>
                </a:solidFill>
                <a:latin typeface="Calibri"/>
              </a:rPr>
              <a:t>INNOVATION 1
</a:t>
            </a:r>
            <a:r>
              <a:rPr b="1" sz="1300" u="none">
                <a:solidFill>
                  <a:srgbClr val="0F172A"/>
                </a:solidFill>
                <a:latin typeface="Times New Roman"/>
              </a:rPr>
              <a:t>Local Aggregator Hubs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b="1" sz="1200" u="none">
                <a:solidFill>
                  <a:srgbClr val="166534"/>
                </a:solidFill>
                <a:latin typeface="Calibri"/>
              </a:rPr>
              <a:t>• Scrap Hub Inclusion: </a:t>
            </a:r>
            <a:r>
              <a:rPr b="0" sz="1200" u="none">
                <a:solidFill>
                  <a:srgbClr val="334155"/>
                </a:solidFill>
                <a:latin typeface="Calibri"/>
              </a:rPr>
              <a:t>Onboards existing informal scrap shops as certified collection hubs instead of disintermediating them.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b="1" sz="1200" u="none">
                <a:solidFill>
                  <a:srgbClr val="166534"/>
                </a:solidFill>
                <a:latin typeface="Calibri"/>
              </a:rPr>
              <a:t>• Margin Preservation: </a:t>
            </a:r>
            <a:r>
              <a:rPr b="0" sz="1200" u="none">
                <a:solidFill>
                  <a:srgbClr val="334155"/>
                </a:solidFill>
                <a:latin typeface="Calibri"/>
              </a:rPr>
              <a:t>Aggregators earn legitimate 4%–6% bulk consolidation spread with zero price fluctuation risk.</a:t>
            </a:r>
          </a:p>
        </p:txBody>
      </p:sp>
      <p:sp>
        <p:nvSpPr>
          <p:cNvPr id="15367" name="Rounded Rectangle 15366"/>
          <p:cNvSpPr/>
          <p:nvPr/>
        </p:nvSpPr>
        <p:spPr>
          <a:xfrm>
            <a:off x="3355848" y="3950208"/>
            <a:ext cx="2679192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73152"/>
          <a:lstStyle/>
          <a:p>
            <a:pPr algn="ctr"/>
            <a:r>
              <a:rPr b="1" sz="1150" u="none">
                <a:solidFill>
                  <a:srgbClr val="B45309"/>
                </a:solidFill>
                <a:latin typeface="Calibri"/>
              </a:rPr>
              <a:t>INNOVATION 2
</a:t>
            </a:r>
            <a:r>
              <a:rPr b="1" sz="1300" u="none">
                <a:solidFill>
                  <a:srgbClr val="0F172A"/>
                </a:solidFill>
                <a:latin typeface="Times New Roman"/>
              </a:rPr>
              <a:t>Camera Scale OCR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b="1" sz="1200" u="none">
                <a:solidFill>
                  <a:srgbClr val="B45309"/>
                </a:solidFill>
                <a:latin typeface="Calibri"/>
              </a:rPr>
              <a:t>• Zero Hardware Capex: </a:t>
            </a:r>
            <a:r>
              <a:rPr b="0" sz="1200" u="none">
                <a:solidFill>
                  <a:srgbClr val="334155"/>
                </a:solidFill>
                <a:latin typeface="Calibri"/>
              </a:rPr>
              <a:t>Uses smartphone camera to read existing digital &amp; dial scales—zero expensive new hardware required.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b="1" sz="1200" u="none">
                <a:solidFill>
                  <a:srgbClr val="B45309"/>
                </a:solidFill>
                <a:latin typeface="Calibri"/>
              </a:rPr>
              <a:t>• Tamper-Proof Weight: </a:t>
            </a:r>
            <a:r>
              <a:rPr b="0" sz="1200" u="none">
                <a:solidFill>
                  <a:srgbClr val="334155"/>
                </a:solidFill>
                <a:latin typeface="Calibri"/>
              </a:rPr>
              <a:t>Binds scale photo and numeric OCR reading to lot ID, eliminating weighing disputes.</a:t>
            </a:r>
          </a:p>
        </p:txBody>
      </p:sp>
      <p:sp>
        <p:nvSpPr>
          <p:cNvPr id="15368" name="Rounded Rectangle 15367"/>
          <p:cNvSpPr/>
          <p:nvPr/>
        </p:nvSpPr>
        <p:spPr>
          <a:xfrm>
            <a:off x="6163056" y="3950208"/>
            <a:ext cx="2679192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73152"/>
          <a:lstStyle/>
          <a:p>
            <a:pPr algn="ctr"/>
            <a:r>
              <a:rPr b="1" sz="1150" u="none">
                <a:solidFill>
                  <a:srgbClr val="0284C7"/>
                </a:solidFill>
                <a:latin typeface="Calibri"/>
              </a:rPr>
              <a:t>INNOVATION 3
</a:t>
            </a:r>
            <a:r>
              <a:rPr b="1" sz="1300" u="none">
                <a:solidFill>
                  <a:srgbClr val="0F172A"/>
                </a:solidFill>
                <a:latin typeface="Times New Roman"/>
              </a:rPr>
              <a:t>Multimodal Vernacular AI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b="1" sz="1200" u="none">
                <a:solidFill>
                  <a:srgbClr val="0284C7"/>
                </a:solidFill>
                <a:latin typeface="Calibri"/>
              </a:rPr>
              <a:t>• 10+ Indian Dialects: </a:t>
            </a:r>
            <a:r>
              <a:rPr b="0" sz="1200" u="none">
                <a:solidFill>
                  <a:srgbClr val="334155"/>
                </a:solidFill>
                <a:latin typeface="Calibri"/>
              </a:rPr>
              <a:t>Speech-to-speech interaction powered by AI4Bharat Indic models for non-literate workers.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b="1" sz="1200" u="none">
                <a:solidFill>
                  <a:srgbClr val="0284C7"/>
                </a:solidFill>
                <a:latin typeface="Calibri"/>
              </a:rPr>
              <a:t>• Visual Touch Catalog: </a:t>
            </a:r>
            <a:r>
              <a:rPr b="0" sz="1200" u="none">
                <a:solidFill>
                  <a:srgbClr val="334155"/>
                </a:solidFill>
                <a:latin typeface="Calibri"/>
              </a:rPr>
              <a:t>Icon-based scrap categorization allows instant logging with zero typing or reading.</a:t>
            </a:r>
          </a:p>
        </p:txBody>
      </p:sp>
      <p:sp>
        <p:nvSpPr>
          <p:cNvPr id="15369" name="Rounded Rectangle 15368"/>
          <p:cNvSpPr/>
          <p:nvPr/>
        </p:nvSpPr>
        <p:spPr>
          <a:xfrm>
            <a:off x="8970264" y="3950208"/>
            <a:ext cx="2679192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73152"/>
          <a:lstStyle/>
          <a:p>
            <a:pPr algn="ctr"/>
            <a:r>
              <a:rPr b="1" sz="1150" u="none">
                <a:solidFill>
                  <a:srgbClr val="6D28D9"/>
                </a:solidFill>
                <a:latin typeface="Calibri"/>
              </a:rPr>
              <a:t>INNOVATION 4
</a:t>
            </a:r>
            <a:r>
              <a:rPr b="1" sz="1300" u="none">
                <a:solidFill>
                  <a:srgbClr val="0F172A"/>
                </a:solidFill>
                <a:latin typeface="Times New Roman"/>
              </a:rPr>
              <a:t>Verifiable Chain of Custody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b="1" sz="1200" u="none">
                <a:solidFill>
                  <a:srgbClr val="6D28D9"/>
                </a:solidFill>
                <a:latin typeface="Calibri"/>
              </a:rPr>
              <a:t>• Dual-Key QR Manifests: </a:t>
            </a:r>
            <a:r>
              <a:rPr b="0" sz="1200" u="none">
                <a:solidFill>
                  <a:srgbClr val="334155"/>
                </a:solidFill>
                <a:latin typeface="Calibri"/>
              </a:rPr>
              <a:t>Links physical scrap custody directly to CPCB EPR portal credits via SHA-256 tokens.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b="1" sz="1200" u="none">
                <a:solidFill>
                  <a:srgbClr val="6D28D9"/>
                </a:solidFill>
                <a:latin typeface="Calibri"/>
              </a:rPr>
              <a:t>• Fraud-Proof Audit: </a:t>
            </a:r>
            <a:r>
              <a:rPr b="0" sz="1200" u="none">
                <a:solidFill>
                  <a:srgbClr val="334155"/>
                </a:solidFill>
                <a:latin typeface="Calibri"/>
              </a:rPr>
              <a:t>Replaces fake paper-only certificates with immutable photos, GPS origin, and weight logs.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b="1" sz="3400" u="none">
                <a:solidFill>
                  <a:srgbClr val="0F172A"/>
                </a:solidFill>
                <a:latin typeface="Times New Roman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18288" rIns="18288" tIns="109728" bIns="36576"/>
          <a:lstStyle/>
          <a:p>
            <a:pPr algn="ctr"/>
            <a:r>
              <a:rPr b="1" sz="1050" u="none">
                <a:solidFill>
                  <a:srgbClr val="0F172A"/>
                </a:solidFill>
                <a:latin typeface="Arial"/>
              </a:rPr>
              <a:t>HelloWorld
Warriors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548640" y="969264"/>
            <a:ext cx="11091672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b="1" sz="1300" u="none">
                <a:solidFill>
                  <a:srgbClr val="0F172A"/>
                </a:solidFill>
                <a:latin typeface="Times New Roman"/>
              </a:rPr>
              <a:t>System Architecture &amp; Implementation Pipeline: </a:t>
            </a:r>
            <a:r>
              <a:rPr b="0" sz="1250" u="none">
                <a:solidFill>
                  <a:srgbClr val="166534"/>
                </a:solidFill>
                <a:latin typeface="Calibri"/>
              </a:rPr>
              <a:t>Offline-First Mobile PWA, Multi-Modal AI Engines &amp; Spatial Dispatch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548640" y="1261872"/>
            <a:ext cx="4892040" cy="2423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73152"/>
          <a:lstStyle/>
          <a:p>
            <a:pPr algn="ctr"/>
            <a:r>
              <a:rPr b="1" sz="1350" u="none">
                <a:solidFill>
                  <a:srgbClr val="166534"/>
                </a:solidFill>
                <a:latin typeface="Times New Roman"/>
              </a:rPr>
              <a:t>TECHNOLOGIES TO BE USED: System Stack</a:t>
            </a:r>
          </a:p>
          <a:p>
            <a:pPr>
              <a:spcBef>
                <a:spcPts val="350"/>
              </a:spcBef>
              <a:spcAft>
                <a:spcPts val="0"/>
              </a:spcAft>
            </a:pPr>
            <a:r>
              <a:rPr b="1" sz="1200" u="none">
                <a:solidFill>
                  <a:srgbClr val="166534"/>
                </a:solidFill>
                <a:latin typeface="Calibri"/>
              </a:rPr>
              <a:t>• Client / Mobile: </a:t>
            </a:r>
            <a:r>
              <a:rPr b="0" sz="1200" u="none">
                <a:solidFill>
                  <a:srgbClr val="334155"/>
                </a:solidFill>
                <a:latin typeface="Calibri"/>
              </a:rPr>
              <a:t>React 18 PWA + Vite with offline-first IndexedDB (zero app store barrier, ₹4k phones).</a:t>
            </a:r>
          </a:p>
          <a:p>
            <a:pPr>
              <a:spcBef>
                <a:spcPts val="350"/>
              </a:spcBef>
              <a:spcAft>
                <a:spcPts val="0"/>
              </a:spcAft>
            </a:pPr>
            <a:r>
              <a:rPr b="1" sz="1200" u="none">
                <a:solidFill>
                  <a:srgbClr val="166534"/>
                </a:solidFill>
                <a:latin typeface="Calibri"/>
              </a:rPr>
              <a:t>• Microservices Core: </a:t>
            </a:r>
            <a:r>
              <a:rPr b="0" sz="1200" u="none">
                <a:solidFill>
                  <a:srgbClr val="334155"/>
                </a:solidFill>
                <a:latin typeface="Calibri"/>
              </a:rPr>
              <a:t>Node.js + Fastify backend with sub-20ms latency and high-throughput async processing.</a:t>
            </a:r>
          </a:p>
          <a:p>
            <a:pPr>
              <a:spcBef>
                <a:spcPts val="350"/>
              </a:spcBef>
              <a:spcAft>
                <a:spcPts val="0"/>
              </a:spcAft>
            </a:pPr>
            <a:r>
              <a:rPr b="1" sz="1200" u="none">
                <a:solidFill>
                  <a:srgbClr val="166534"/>
                </a:solidFill>
                <a:latin typeface="Calibri"/>
              </a:rPr>
              <a:t>• Spatial Database: </a:t>
            </a:r>
            <a:r>
              <a:rPr b="0" sz="1200" u="none">
                <a:solidFill>
                  <a:srgbClr val="334155"/>
                </a:solidFill>
                <a:latin typeface="Calibri"/>
              </a:rPr>
              <a:t>PostgreSQL 16 + PostGIS for geo-fenced scrap aggregator routing &amp; cluster density mapping.</a:t>
            </a:r>
          </a:p>
          <a:p>
            <a:pPr>
              <a:spcBef>
                <a:spcPts val="350"/>
              </a:spcBef>
              <a:spcAft>
                <a:spcPts val="0"/>
              </a:spcAft>
            </a:pPr>
            <a:r>
              <a:rPr b="1" sz="1200" u="none">
                <a:solidFill>
                  <a:srgbClr val="166534"/>
                </a:solidFill>
                <a:latin typeface="Calibri"/>
              </a:rPr>
              <a:t>• Security &amp; Tokens: </a:t>
            </a:r>
            <a:r>
              <a:rPr b="0" sz="1200" u="none">
                <a:solidFill>
                  <a:srgbClr val="334155"/>
                </a:solidFill>
                <a:latin typeface="Calibri"/>
              </a:rPr>
              <a:t>SHA-256 cryptographic batch tokenization &amp; dynamic QR manifests compliant with CPCB Form-6.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548640" y="3803904"/>
            <a:ext cx="4892040" cy="245059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73152"/>
          <a:lstStyle/>
          <a:p>
            <a:pPr algn="ctr"/>
            <a:r>
              <a:rPr b="1" sz="1350" u="none">
                <a:solidFill>
                  <a:srgbClr val="0284C7"/>
                </a:solidFill>
                <a:latin typeface="Times New Roman"/>
              </a:rPr>
              <a:t>TECHNOLOGIES TO BE USED: AI &amp; ML Engines</a:t>
            </a:r>
          </a:p>
          <a:p>
            <a:pPr>
              <a:spcBef>
                <a:spcPts val="350"/>
              </a:spcBef>
              <a:spcAft>
                <a:spcPts val="0"/>
              </a:spcAft>
            </a:pPr>
            <a:r>
              <a:rPr b="1" sz="1200" u="none">
                <a:solidFill>
                  <a:srgbClr val="0284C7"/>
                </a:solidFill>
                <a:latin typeface="Calibri"/>
              </a:rPr>
              <a:t>• Visual Scrap AI: </a:t>
            </a:r>
            <a:r>
              <a:rPr b="0" sz="1200" u="none">
                <a:solidFill>
                  <a:srgbClr val="334155"/>
                </a:solidFill>
                <a:latin typeface="Calibri"/>
              </a:rPr>
              <a:t>Quantized MobileNetV3 (&lt;5MB) classifies motherboards, motors &amp; copper wire in real time.</a:t>
            </a:r>
          </a:p>
          <a:p>
            <a:pPr>
              <a:spcBef>
                <a:spcPts val="350"/>
              </a:spcBef>
              <a:spcAft>
                <a:spcPts val="0"/>
              </a:spcAft>
            </a:pPr>
            <a:r>
              <a:rPr b="1" sz="1200" u="none">
                <a:solidFill>
                  <a:srgbClr val="0284C7"/>
                </a:solidFill>
                <a:latin typeface="Calibri"/>
              </a:rPr>
              <a:t>• Scale OCR Engine: </a:t>
            </a:r>
            <a:r>
              <a:rPr b="0" sz="1200" u="none">
                <a:solidFill>
                  <a:srgbClr val="334155"/>
                </a:solidFill>
                <a:latin typeface="Calibri"/>
              </a:rPr>
              <a:t>OpenCV perspective warp rectification + 7-segment numeric display extraction from scale photos.</a:t>
            </a:r>
          </a:p>
          <a:p>
            <a:pPr>
              <a:spcBef>
                <a:spcPts val="350"/>
              </a:spcBef>
              <a:spcAft>
                <a:spcPts val="0"/>
              </a:spcAft>
            </a:pPr>
            <a:r>
              <a:rPr b="1" sz="1200" u="none">
                <a:solidFill>
                  <a:srgbClr val="0284C7"/>
                </a:solidFill>
                <a:latin typeface="Calibri"/>
              </a:rPr>
              <a:t>• Price Index Engine: </a:t>
            </a:r>
            <a:r>
              <a:rPr b="0" sz="1200" u="none">
                <a:solidFill>
                  <a:srgbClr val="334155"/>
                </a:solidFill>
                <a:latin typeface="Calibri"/>
              </a:rPr>
              <a:t>Live benchmark floor mapped to LME spot rates for Gold, Copper, Silver &amp; Palladium.</a:t>
            </a:r>
          </a:p>
          <a:p>
            <a:pPr>
              <a:spcBef>
                <a:spcPts val="350"/>
              </a:spcBef>
              <a:spcAft>
                <a:spcPts val="0"/>
              </a:spcAft>
            </a:pPr>
            <a:r>
              <a:rPr b="1" sz="1200" u="none">
                <a:solidFill>
                  <a:srgbClr val="0284C7"/>
                </a:solidFill>
                <a:latin typeface="Calibri"/>
              </a:rPr>
              <a:t>• Indic Voice AI: </a:t>
            </a:r>
            <a:r>
              <a:rPr b="0" sz="1200" u="none">
                <a:solidFill>
                  <a:srgbClr val="334155"/>
                </a:solidFill>
                <a:latin typeface="Calibri"/>
              </a:rPr>
              <a:t>Speech recognition in 10+ regional Indian languages (Hindi, Marathi, Tamil, Bengali).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5623560" y="1261872"/>
            <a:ext cx="6016752" cy="237744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b="1" sz="1350" u="none">
                <a:solidFill>
                  <a:srgbClr val="0F172A"/>
                </a:solidFill>
                <a:latin typeface="Times New Roman"/>
              </a:rPr>
              <a:t>METHODOLOGY AND PROCESS FOR IMPLEMENTATION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5623560" y="1536192"/>
            <a:ext cx="6016752" cy="749808"/>
          </a:xfrm>
          <a:prstGeom prst="roundRect">
            <a:avLst/>
          </a:prstGeom>
          <a:solidFill>
            <a:srgbClr val="F0FDF4"/>
          </a:solidFill>
          <a:ln w="1778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36576"/>
          <a:lstStyle/>
          <a:p>
            <a:pPr algn="ctr"/>
            <a:r>
              <a:rPr b="1" sz="1250" u="none">
                <a:solidFill>
                  <a:srgbClr val="166534"/>
                </a:solidFill>
                <a:latin typeface="Calibri"/>
              </a:rPr>
              <a:t>STEP 1: COLLECT &amp; IDENTIFY</a:t>
            </a:r>
          </a:p>
          <a:p>
            <a:pPr>
              <a:spcBef>
                <a:spcPts val="150"/>
              </a:spcBef>
            </a:pPr>
            <a:r>
              <a:rPr b="0" sz="1200" u="none">
                <a:solidFill>
                  <a:srgbClr val="0F172A"/>
                </a:solidFill>
                <a:latin typeface="Calibri"/>
              </a:rPr>
              <a:t>Collector snaps scrap photo; AI model classifies category &amp; instantly displays live transparent price benchmark floor.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5623560" y="2359152"/>
            <a:ext cx="6016752" cy="749808"/>
          </a:xfrm>
          <a:prstGeom prst="roundRect">
            <a:avLst/>
          </a:prstGeom>
          <a:solidFill>
            <a:srgbClr val="F0F9FF"/>
          </a:solidFill>
          <a:ln w="1778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36576"/>
          <a:lstStyle/>
          <a:p>
            <a:pPr algn="ctr"/>
            <a:r>
              <a:rPr b="1" sz="1250" u="none">
                <a:solidFill>
                  <a:srgbClr val="0284C7"/>
                </a:solidFill>
                <a:latin typeface="Calibri"/>
              </a:rPr>
              <a:t>STEP 2: CREATE DIGITAL LOT</a:t>
            </a:r>
          </a:p>
          <a:p>
            <a:pPr>
              <a:spcBef>
                <a:spcPts val="150"/>
              </a:spcBef>
            </a:pPr>
            <a:r>
              <a:rPr b="0" sz="1200" u="none">
                <a:solidFill>
                  <a:srgbClr val="0F172A"/>
                </a:solidFill>
                <a:latin typeface="Calibri"/>
              </a:rPr>
              <a:t>Pre-calibrates lot with estimated weight, binding GPS geolocation, photo evidence &amp; immutable server timestamp.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5623560" y="3182112"/>
            <a:ext cx="6016752" cy="749808"/>
          </a:xfrm>
          <a:prstGeom prst="roundRect">
            <a:avLst/>
          </a:prstGeom>
          <a:solidFill>
            <a:srgbClr val="FEF3C7"/>
          </a:solidFill>
          <a:ln w="1778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36576"/>
          <a:lstStyle/>
          <a:p>
            <a:pPr algn="ctr"/>
            <a:r>
              <a:rPr b="1" sz="1250" u="none">
                <a:solidFill>
                  <a:srgbClr val="B45309"/>
                </a:solidFill>
                <a:latin typeface="Calibri"/>
              </a:rPr>
              <a:t>STEP 3: HUB SCALE VERIFICATION</a:t>
            </a:r>
          </a:p>
          <a:p>
            <a:pPr>
              <a:spcBef>
                <a:spcPts val="150"/>
              </a:spcBef>
            </a:pPr>
            <a:r>
              <a:rPr b="0" sz="1200" u="none">
                <a:solidFill>
                  <a:srgbClr val="0F172A"/>
                </a:solidFill>
                <a:latin typeface="Calibri"/>
              </a:rPr>
              <a:t>Aggregator confirms weight via camera scale OCR readout; settles instant Cash/UPI with verifiable digital receipt.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5623560" y="4005072"/>
            <a:ext cx="6016752" cy="749808"/>
          </a:xfrm>
          <a:prstGeom prst="roundRect">
            <a:avLst/>
          </a:prstGeom>
          <a:solidFill>
            <a:srgbClr val="F0F9FF"/>
          </a:solidFill>
          <a:ln w="1778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36576"/>
          <a:lstStyle/>
          <a:p>
            <a:pPr algn="ctr"/>
            <a:r>
              <a:rPr b="1" sz="1250" u="none">
                <a:solidFill>
                  <a:srgbClr val="1E3A8A"/>
                </a:solidFill>
                <a:latin typeface="Calibri"/>
              </a:rPr>
              <a:t>STEP 4: SMART BULK CONSOLIDATION</a:t>
            </a:r>
          </a:p>
          <a:p>
            <a:pPr>
              <a:spcBef>
                <a:spcPts val="150"/>
              </a:spcBef>
            </a:pPr>
            <a:r>
              <a:rPr b="0" sz="1200" u="none">
                <a:solidFill>
                  <a:srgbClr val="0F172A"/>
                </a:solidFill>
                <a:latin typeface="Calibri"/>
              </a:rPr>
              <a:t>Hub bundles small lots into 1-ton bulk consignments; PostGIS engine dispatches optimized milk-run truck routing.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5623560" y="4828032"/>
            <a:ext cx="6016752" cy="749808"/>
          </a:xfrm>
          <a:prstGeom prst="roundRect">
            <a:avLst/>
          </a:prstGeom>
          <a:solidFill>
            <a:srgbClr val="FAF5FF"/>
          </a:solidFill>
          <a:ln w="1778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36576"/>
          <a:lstStyle/>
          <a:p>
            <a:pPr algn="ctr"/>
            <a:r>
              <a:rPr b="1" sz="1250" u="none">
                <a:solidFill>
                  <a:srgbClr val="6D28D9"/>
                </a:solidFill>
                <a:latin typeface="Calibri"/>
              </a:rPr>
              <a:t>STEP 5: RECYCLER INTAKE &amp; COMPLIANCE</a:t>
            </a:r>
          </a:p>
          <a:p>
            <a:pPr>
              <a:spcBef>
                <a:spcPts val="150"/>
              </a:spcBef>
            </a:pPr>
            <a:r>
              <a:rPr b="0" sz="1200" u="none">
                <a:solidFill>
                  <a:srgbClr val="0F172A"/>
                </a:solidFill>
                <a:latin typeface="Calibri"/>
              </a:rPr>
              <a:t>Authorized recycler scans batch QR; confirms custody and auto-submits digital CPCB Form-6 manifest to EPR portal.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5623560" y="5687568"/>
            <a:ext cx="6016752" cy="53035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/>
          <a:lstStyle/>
          <a:p>
            <a:pPr algn="ctr"/>
            <a:r>
              <a:rPr b="1" sz="1250" u="none">
                <a:solidFill>
                  <a:srgbClr val="166534"/>
                </a:solidFill>
                <a:latin typeface="Calibri"/>
              </a:rPr>
              <a:t>VERIFIABLE CUSTODY STRIP: </a:t>
            </a:r>
            <a:r>
              <a:rPr b="1" sz="1200" u="none">
                <a:solidFill>
                  <a:srgbClr val="0F172A"/>
                </a:solidFill>
                <a:latin typeface="Calibri"/>
              </a:rPr>
              <a:t>Photo Proof ➔ Scale OCR ➔ GPS Origin ➔ Dynamic QR ➔ Recycler Intake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b="1" sz="3400" u="none">
                <a:solidFill>
                  <a:srgbClr val="0F172A"/>
                </a:solidFill>
                <a:latin typeface="Times New Roman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18288" rIns="18288" tIns="109728" bIns="36576"/>
          <a:lstStyle/>
          <a:p>
            <a:pPr algn="ctr"/>
            <a:r>
              <a:rPr b="1" sz="1050" u="none">
                <a:solidFill>
                  <a:srgbClr val="0F172A"/>
                </a:solidFill>
                <a:latin typeface="Arial"/>
              </a:rPr>
              <a:t>HelloWorld
Warriors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548640" y="969264"/>
            <a:ext cx="11091672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b="1" sz="1300" u="none">
                <a:solidFill>
                  <a:srgbClr val="0F172A"/>
                </a:solidFill>
                <a:latin typeface="Times New Roman"/>
              </a:rPr>
              <a:t>Defensible Ground Viability: </a:t>
            </a:r>
            <a:r>
              <a:rPr b="0" sz="1250" u="none">
                <a:solidFill>
                  <a:srgbClr val="166534"/>
                </a:solidFill>
                <a:latin typeface="Calibri"/>
              </a:rPr>
              <a:t>Multi-Pillar Feasibility Analysis &amp; Ground Risk Mitigation Matrix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548640" y="1261872"/>
            <a:ext cx="5029200" cy="153619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ctr"/>
            <a:r>
              <a:rPr b="1" sz="1300" u="none">
                <a:solidFill>
                  <a:srgbClr val="1E3A8A"/>
                </a:solidFill>
                <a:latin typeface="Times New Roman"/>
              </a:rPr>
              <a:t>TECHNICAL FEASIBILITY</a:t>
            </a:r>
            <a:r>
              <a:rPr b="0" sz="1150" u="none">
                <a:solidFill>
                  <a:srgbClr val="64748B"/>
                </a:solidFill>
                <a:latin typeface="Calibri"/>
              </a:rPr>
              <a:t>  |  Zero-Capex Architecture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b="1" sz="1200" u="none">
                <a:solidFill>
                  <a:srgbClr val="1E3A8A"/>
                </a:solidFill>
                <a:latin typeface="Calibri"/>
              </a:rPr>
              <a:t>• Budget Device Support: </a:t>
            </a:r>
            <a:r>
              <a:rPr b="0" sz="1200" u="none">
                <a:solidFill>
                  <a:srgbClr val="334155"/>
                </a:solidFill>
                <a:latin typeface="Calibri"/>
              </a:rPr>
              <a:t>Lightweight PWA runs smoothly on entry-level ₹4,000 Android phones without extra apps.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b="1" sz="1200" u="none">
                <a:solidFill>
                  <a:srgbClr val="1E3A8A"/>
                </a:solidFill>
                <a:latin typeface="Calibri"/>
              </a:rPr>
              <a:t>• Offline-First Resilience: </a:t>
            </a:r>
            <a:r>
              <a:rPr b="0" sz="1200" u="none">
                <a:solidFill>
                  <a:srgbClr val="334155"/>
                </a:solidFill>
                <a:latin typeface="Calibri"/>
              </a:rPr>
              <a:t>Encrypted IndexedDB queues transactions locally during 2G dead zones; auto-syncs on reconnect.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548640" y="2907792"/>
            <a:ext cx="5029200" cy="153619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ctr"/>
            <a:r>
              <a:rPr b="1" sz="1300" u="none">
                <a:solidFill>
                  <a:srgbClr val="166534"/>
                </a:solidFill>
                <a:latin typeface="Times New Roman"/>
              </a:rPr>
              <a:t>OPERATIONAL FEASIBILITY</a:t>
            </a:r>
            <a:r>
              <a:rPr b="0" sz="1150" u="none">
                <a:solidFill>
                  <a:srgbClr val="64748B"/>
                </a:solidFill>
                <a:latin typeface="Calibri"/>
              </a:rPr>
              <a:t>  |  Aligned with Field Realities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b="1" sz="1200" u="none">
                <a:solidFill>
                  <a:srgbClr val="166534"/>
                </a:solidFill>
                <a:latin typeface="Calibri"/>
              </a:rPr>
              <a:t>• Existing Hub Onboarding: </a:t>
            </a:r>
            <a:r>
              <a:rPr b="0" sz="1200" u="none">
                <a:solidFill>
                  <a:srgbClr val="334155"/>
                </a:solidFill>
                <a:latin typeface="Calibri"/>
              </a:rPr>
              <a:t>Integrates local scrap dealers as certified hubs rather than attempting to bypass them.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b="1" sz="1200" u="none">
                <a:solidFill>
                  <a:srgbClr val="166534"/>
                </a:solidFill>
                <a:latin typeface="Calibri"/>
              </a:rPr>
              <a:t>• Zero Literacy Hurdle: </a:t>
            </a:r>
            <a:r>
              <a:rPr b="0" sz="1200" u="none">
                <a:solidFill>
                  <a:srgbClr val="334155"/>
                </a:solidFill>
                <a:latin typeface="Calibri"/>
              </a:rPr>
              <a:t>Vernacular voice navigation and visual component icons remove all reading and typing friction.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548640" y="4553712"/>
            <a:ext cx="5029200" cy="153619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54864"/>
          <a:lstStyle/>
          <a:p>
            <a:pPr algn="ctr"/>
            <a:r>
              <a:rPr b="1" sz="1300" u="none">
                <a:solidFill>
                  <a:srgbClr val="B45309"/>
                </a:solidFill>
                <a:latin typeface="Times New Roman"/>
              </a:rPr>
              <a:t>ECONOMIC VIABILITY</a:t>
            </a:r>
            <a:r>
              <a:rPr b="0" sz="1150" u="none">
                <a:solidFill>
                  <a:srgbClr val="64748B"/>
                </a:solidFill>
                <a:latin typeface="Calibri"/>
              </a:rPr>
              <a:t>  |  Defensible Multi-Stakeholder Model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b="1" sz="1200" u="none">
                <a:solidFill>
                  <a:srgbClr val="B45309"/>
                </a:solidFill>
                <a:latin typeface="Calibri"/>
              </a:rPr>
              <a:t>• Informal Collector (0% Fee): </a:t>
            </a:r>
            <a:r>
              <a:rPr b="0" sz="1200" u="none">
                <a:solidFill>
                  <a:srgbClr val="334155"/>
                </a:solidFill>
                <a:latin typeface="Calibri"/>
              </a:rPr>
              <a:t>100% free access; captures +44.8% income uplift via direct formal pricing benchmarks.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b="1" sz="1200" u="none">
                <a:solidFill>
                  <a:srgbClr val="B45309"/>
                </a:solidFill>
                <a:latin typeface="Calibri"/>
              </a:rPr>
              <a:t>• Sustainable Monetization: </a:t>
            </a:r>
            <a:r>
              <a:rPr b="0" sz="1200" u="none">
                <a:solidFill>
                  <a:srgbClr val="334155"/>
                </a:solidFill>
                <a:latin typeface="Calibri"/>
              </a:rPr>
              <a:t>1.5% transaction commission paid by recyclers + B2B enterprise EPR compliance SaaS for brand OEMs.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5742432" y="1261872"/>
            <a:ext cx="5897880" cy="237744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b="1" sz="1300" u="none">
                <a:solidFill>
                  <a:srgbClr val="0F172A"/>
                </a:solidFill>
                <a:latin typeface="Times New Roman"/>
              </a:rPr>
              <a:t>POTENTIAL CHALLENGES, RISKS &amp; STRATEGIES FOR OVERCOMING</a:t>
            </a:r>
          </a:p>
        </p:txBody>
      </p:sp>
      <p:graphicFrame>
        <p:nvGraphicFramePr>
          <p:cNvPr id="17415" name="Table 17414"/>
          <p:cNvGraphicFramePr>
            <a:graphicFrameLocks noGrp="1"/>
          </p:cNvGraphicFramePr>
          <p:nvPr/>
        </p:nvGraphicFramePr>
        <p:xfrm>
          <a:off x="5742432" y="1536192"/>
          <a:ext cx="589788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3160"/>
                <a:gridCol w="3474720"/>
              </a:tblGrid>
              <a:tr h="365760">
                <a:tc>
                  <a:txBody>
                    <a:bodyPr/>
                    <a:lstStyle/>
                    <a:p>
                      <a:r>
                        <a:rPr b="1" sz="1200" u="none">
                          <a:solidFill>
                            <a:srgbClr val="FFFFFF"/>
                          </a:solidFill>
                          <a:latin typeface="Times New Roman"/>
                        </a:rPr>
                        <a:t>POTENTIAL CHALLENGES &amp; RISKS</a:t>
                      </a:r>
                    </a:p>
                  </a:txBody>
                  <a:tcPr>
                    <a:solidFill>
                      <a:srgbClr val="1665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 u="none">
                          <a:solidFill>
                            <a:srgbClr val="FFFFFF"/>
                          </a:solidFill>
                          <a:latin typeface="Times New Roman"/>
                        </a:rPr>
                        <a:t>STRATEGIES FOR OVERCOMING</a:t>
                      </a:r>
                    </a:p>
                  </a:txBody>
                  <a:tcPr>
                    <a:solidFill>
                      <a:srgbClr val="166534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b="0" sz="1200" u="none">
                          <a:solidFill>
                            <a:srgbClr val="0F172A"/>
                          </a:solidFill>
                          <a:latin typeface="Calibri"/>
                        </a:rPr>
                        <a:t>Low Digital Literacy:
Informal collectors struggle with text-heavy smartphone apps.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200" u="none">
                          <a:solidFill>
                            <a:srgbClr val="334155"/>
                          </a:solidFill>
                          <a:latin typeface="Calibri"/>
                        </a:rPr>
                        <a:t>Voice + Pictorial Interface:
Visual category icons &amp; vernacular regional audio guide collectors with zero typing required.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b="0" sz="1200" u="none">
                          <a:solidFill>
                            <a:srgbClr val="0F172A"/>
                          </a:solidFill>
                          <a:latin typeface="Calibri"/>
                        </a:rPr>
                        <a:t>Poor Slum Connectivity:
Dense scrap clusters experience frequent 2G network drops.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200" u="none">
                          <a:solidFill>
                            <a:srgbClr val="334155"/>
                          </a:solidFill>
                          <a:latin typeface="Calibri"/>
                        </a:rPr>
                        <a:t>Offline-First PWA Sync:
Local IndexedDB buffers receipts and photos; auto-syncs securely upon network reconnection.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b="0" sz="1200" u="none">
                          <a:solidFill>
                            <a:srgbClr val="0F172A"/>
                          </a:solidFill>
                          <a:latin typeface="Calibri"/>
                        </a:rPr>
                        <a:t>Weighing Scale Disputes:
Dealers tamper with analog scales to discount collected weight.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200" u="none">
                          <a:solidFill>
                            <a:srgbClr val="334155"/>
                          </a:solidFill>
                          <a:latin typeface="Calibri"/>
                        </a:rPr>
                        <a:t>Camera Scale OCR Proof:
Phone camera captures scale display; AI extracts numeric digits, binding photo proof to lot ID.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b="0" sz="1200" u="none">
                          <a:solidFill>
                            <a:srgbClr val="0F172A"/>
                          </a:solidFill>
                          <a:latin typeface="Calibri"/>
                        </a:rPr>
                        <a:t>Aggregator Resistance:
Middlemen scrap dealers oppose apps that bypass them.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200" u="none">
                          <a:solidFill>
                            <a:srgbClr val="334155"/>
                          </a:solidFill>
                          <a:latin typeface="Calibri"/>
                        </a:rPr>
                        <a:t>Make Dealers Collection Hubs:
Integrates aggregators as certified hubs earning legitimate handling margins on bulk trade.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b="0" sz="1200" u="none">
                          <a:solidFill>
                            <a:srgbClr val="0F172A"/>
                          </a:solidFill>
                          <a:latin typeface="Calibri"/>
                        </a:rPr>
                        <a:t>Fake Paper-Only EPR:
Recyclers face fake paper credits without actual scrap recovery.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200" u="none">
                          <a:solidFill>
                            <a:srgbClr val="334155"/>
                          </a:solidFill>
                          <a:latin typeface="Calibri"/>
                        </a:rPr>
                        <a:t>Cryptographic Custody:
Dual-scan QR verification logs photo, weight, GPS &amp; time, ensuring 100% CPCB audit compliance.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b="1" sz="3400" u="none">
                <a:solidFill>
                  <a:srgbClr val="0F172A"/>
                </a:solidFill>
                <a:latin typeface="Times New Roman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18288" rIns="18288" tIns="109728" bIns="36576"/>
          <a:lstStyle/>
          <a:p>
            <a:pPr algn="ctr"/>
            <a:r>
              <a:rPr b="1" sz="1050" u="none">
                <a:solidFill>
                  <a:srgbClr val="0F172A"/>
                </a:solidFill>
                <a:latin typeface="Arial"/>
              </a:rPr>
              <a:t>HelloWorld
Warriors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548640" y="960120"/>
            <a:ext cx="11091672" cy="237744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b="1" sz="1300" u="none">
                <a:solidFill>
                  <a:srgbClr val="0F172A"/>
                </a:solidFill>
                <a:latin typeface="Times New Roman"/>
              </a:rPr>
              <a:t>Stakeholder Value Transformation &amp; Macro Impacts: </a:t>
            </a:r>
            <a:r>
              <a:rPr b="0" sz="1250" u="none">
                <a:solidFill>
                  <a:srgbClr val="166534"/>
                </a:solidFill>
                <a:latin typeface="Calibri"/>
              </a:rPr>
              <a:t>Multi-Tier Value Creation Across the Informal-to-Formal Recycling Chain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548640" y="1234440"/>
            <a:ext cx="2679192" cy="14813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3152" bIns="36576"/>
          <a:lstStyle/>
          <a:p>
            <a:pPr algn="ctr"/>
            <a:r>
              <a:rPr b="1" sz="1250" u="none">
                <a:solidFill>
                  <a:srgbClr val="166534"/>
                </a:solidFill>
                <a:latin typeface="Times New Roman"/>
              </a:rPr>
              <a:t>1. INFORMAL COLLECTORS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b="1" sz="1200" u="none">
                <a:solidFill>
                  <a:srgbClr val="B91C1C"/>
                </a:solidFill>
                <a:latin typeface="Calibri"/>
              </a:rPr>
              <a:t>• Before: </a:t>
            </a:r>
            <a:r>
              <a:rPr b="0" sz="1200" u="none">
                <a:solidFill>
                  <a:srgbClr val="334155"/>
                </a:solidFill>
                <a:latin typeface="Calibri"/>
              </a:rPr>
              <a:t>25%–40% skimmed by middlemen; scale tampering.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b="1" sz="1200" u="none">
                <a:solidFill>
                  <a:srgbClr val="166534"/>
                </a:solidFill>
                <a:latin typeface="Calibri"/>
              </a:rPr>
              <a:t>• With Setu: </a:t>
            </a:r>
            <a:r>
              <a:rPr b="0" sz="1200" u="none">
                <a:solidFill>
                  <a:srgbClr val="334155"/>
                </a:solidFill>
                <a:latin typeface="Calibri"/>
              </a:rPr>
              <a:t>+44.8% income uplift; scale OCR photo proof.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b="1" sz="1200" u="none">
                <a:solidFill>
                  <a:srgbClr val="166534"/>
                </a:solidFill>
                <a:latin typeface="Calibri"/>
              </a:rPr>
              <a:t>• Value: </a:t>
            </a:r>
            <a:r>
              <a:rPr b="1" sz="1200" u="none">
                <a:solidFill>
                  <a:srgbClr val="166534"/>
                </a:solidFill>
                <a:latin typeface="Calibri"/>
              </a:rPr>
              <a:t>Fair benchmark floor &amp; formal financial ID.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355848" y="1234440"/>
            <a:ext cx="2679192" cy="14813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3152" bIns="36576"/>
          <a:lstStyle/>
          <a:p>
            <a:pPr algn="ctr"/>
            <a:r>
              <a:rPr b="1" sz="1250" u="none">
                <a:solidFill>
                  <a:srgbClr val="B45309"/>
                </a:solidFill>
                <a:latin typeface="Times New Roman"/>
              </a:rPr>
              <a:t>2. LOCAL AGGREGATORS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b="1" sz="1200" u="none">
                <a:solidFill>
                  <a:srgbClr val="B91C1C"/>
                </a:solidFill>
                <a:latin typeface="Calibri"/>
              </a:rPr>
              <a:t>• Before: </a:t>
            </a:r>
            <a:r>
              <a:rPr b="0" sz="1200" u="none">
                <a:solidFill>
                  <a:srgbClr val="334155"/>
                </a:solidFill>
                <a:latin typeface="Calibri"/>
              </a:rPr>
              <a:t>Manual paper bahi-khata; high inventory risk.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b="1" sz="1200" u="none">
                <a:solidFill>
                  <a:srgbClr val="166534"/>
                </a:solidFill>
                <a:latin typeface="Calibri"/>
              </a:rPr>
              <a:t>• With Setu: </a:t>
            </a:r>
            <a:r>
              <a:rPr b="0" sz="1200" u="none">
                <a:solidFill>
                  <a:srgbClr val="334155"/>
                </a:solidFill>
                <a:latin typeface="Calibri"/>
              </a:rPr>
              <a:t>Digital lotting &amp; guaranteed recycler off-take.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b="1" sz="1200" u="none">
                <a:solidFill>
                  <a:srgbClr val="B45309"/>
                </a:solidFill>
                <a:latin typeface="Calibri"/>
              </a:rPr>
              <a:t>• Value: </a:t>
            </a:r>
            <a:r>
              <a:rPr b="1" sz="1200" u="none">
                <a:solidFill>
                  <a:srgbClr val="B45309"/>
                </a:solidFill>
                <a:latin typeface="Calibri"/>
              </a:rPr>
              <a:t>Certified hub status &amp; 4%–6% volume spread.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6163056" y="1234440"/>
            <a:ext cx="2679192" cy="14813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3152" bIns="36576"/>
          <a:lstStyle/>
          <a:p>
            <a:pPr algn="ctr"/>
            <a:r>
              <a:rPr b="1" sz="1250" u="none">
                <a:solidFill>
                  <a:srgbClr val="1E3A8A"/>
                </a:solidFill>
                <a:latin typeface="Times New Roman"/>
              </a:rPr>
              <a:t>3. AUTHORIZED RECYCLERS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b="1" sz="1200" u="none">
                <a:solidFill>
                  <a:srgbClr val="B91C1C"/>
                </a:solidFill>
                <a:latin typeface="Calibri"/>
              </a:rPr>
              <a:t>• Before: </a:t>
            </a:r>
            <a:r>
              <a:rPr b="0" sz="1200" u="none">
                <a:solidFill>
                  <a:srgbClr val="334155"/>
                </a:solidFill>
                <a:latin typeface="Calibri"/>
              </a:rPr>
              <a:t>90% scrap lost to crude backyard acid burning.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b="1" sz="1200" u="none">
                <a:solidFill>
                  <a:srgbClr val="166534"/>
                </a:solidFill>
                <a:latin typeface="Calibri"/>
              </a:rPr>
              <a:t>• With Setu: </a:t>
            </a:r>
            <a:r>
              <a:rPr b="0" sz="1200" u="none">
                <a:solidFill>
                  <a:srgbClr val="334155"/>
                </a:solidFill>
                <a:latin typeface="Calibri"/>
              </a:rPr>
              <a:t>Pre-sorted bulk feedstock with verified custody.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b="1" sz="1200" u="none">
                <a:solidFill>
                  <a:srgbClr val="1E3A8A"/>
                </a:solidFill>
                <a:latin typeface="Calibri"/>
              </a:rPr>
              <a:t>• Value: </a:t>
            </a:r>
            <a:r>
              <a:rPr b="1" sz="1200" u="none">
                <a:solidFill>
                  <a:srgbClr val="1E3A8A"/>
                </a:solidFill>
                <a:latin typeface="Calibri"/>
              </a:rPr>
              <a:t>3.5%–8.5% lower sourcing costs &amp; full capacity.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8970264" y="1234440"/>
            <a:ext cx="2679192" cy="14813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3152" bIns="36576"/>
          <a:lstStyle/>
          <a:p>
            <a:pPr algn="ctr"/>
            <a:r>
              <a:rPr b="1" sz="1250" u="none">
                <a:solidFill>
                  <a:srgbClr val="6D28D9"/>
                </a:solidFill>
                <a:latin typeface="Times New Roman"/>
              </a:rPr>
              <a:t>4. REGULATORS / EPR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b="1" sz="1200" u="none">
                <a:solidFill>
                  <a:srgbClr val="B91C1C"/>
                </a:solidFill>
                <a:latin typeface="Calibri"/>
              </a:rPr>
              <a:t>• Before: </a:t>
            </a:r>
            <a:r>
              <a:rPr b="0" sz="1200" u="none">
                <a:solidFill>
                  <a:srgbClr val="334155"/>
                </a:solidFill>
                <a:latin typeface="Calibri"/>
              </a:rPr>
              <a:t>Unmonitored scrap leakage; fake paper credits.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b="1" sz="1200" u="none">
                <a:solidFill>
                  <a:srgbClr val="166534"/>
                </a:solidFill>
                <a:latin typeface="Calibri"/>
              </a:rPr>
              <a:t>• With Setu: </a:t>
            </a:r>
            <a:r>
              <a:rPr b="0" sz="1200" u="none">
                <a:solidFill>
                  <a:srgbClr val="334155"/>
                </a:solidFill>
                <a:latin typeface="Calibri"/>
              </a:rPr>
              <a:t>End-to-end QR custody trail with Form-6 filing.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b="1" sz="1200" u="none">
                <a:solidFill>
                  <a:srgbClr val="6D28D9"/>
                </a:solidFill>
                <a:latin typeface="Calibri"/>
              </a:rPr>
              <a:t>• Value: </a:t>
            </a:r>
            <a:r>
              <a:rPr b="1" sz="1200" u="none">
                <a:solidFill>
                  <a:srgbClr val="6D28D9"/>
                </a:solidFill>
                <a:latin typeface="Calibri"/>
              </a:rPr>
              <a:t>Fraud-free EPR compliance &amp; circular trace.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548640" y="2816352"/>
            <a:ext cx="3611880" cy="135331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36576"/>
          <a:lstStyle/>
          <a:p>
            <a:pPr algn="ctr"/>
            <a:r>
              <a:rPr b="1" sz="1250" u="none">
                <a:solidFill>
                  <a:srgbClr val="0284C7"/>
                </a:solidFill>
                <a:latin typeface="Times New Roman"/>
              </a:rPr>
              <a:t>BENEFITS: SOCIAL IMPACT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b="1" sz="1200" u="none">
                <a:solidFill>
                  <a:srgbClr val="0284C7"/>
                </a:solidFill>
                <a:latin typeface="Calibri"/>
              </a:rPr>
              <a:t>• Financial Inclusion: </a:t>
            </a:r>
            <a:r>
              <a:rPr b="0" sz="1200" u="none">
                <a:solidFill>
                  <a:srgbClr val="334155"/>
                </a:solidFill>
                <a:latin typeface="Calibri"/>
              </a:rPr>
              <a:t>Digital transaction ledger unlocks formal micro-loans &amp; banking.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b="1" sz="1200" u="none">
                <a:solidFill>
                  <a:srgbClr val="0284C7"/>
                </a:solidFill>
                <a:latin typeface="Calibri"/>
              </a:rPr>
              <a:t>• Worker Dignity: </a:t>
            </a:r>
            <a:r>
              <a:rPr b="0" sz="1200" u="none">
                <a:solidFill>
                  <a:srgbClr val="334155"/>
                </a:solidFill>
                <a:latin typeface="Calibri"/>
              </a:rPr>
              <a:t>Direct formal identity &amp; certified green collar status in circular chain.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4288536" y="2816352"/>
            <a:ext cx="3611880" cy="135331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36576"/>
          <a:lstStyle/>
          <a:p>
            <a:pPr algn="ctr"/>
            <a:r>
              <a:rPr b="1" sz="1250" u="none">
                <a:solidFill>
                  <a:srgbClr val="B45309"/>
                </a:solidFill>
                <a:latin typeface="Times New Roman"/>
              </a:rPr>
              <a:t>BENEFITS: ECONOMIC IMPACT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b="1" sz="1200" u="none">
                <a:solidFill>
                  <a:srgbClr val="B45309"/>
                </a:solidFill>
                <a:latin typeface="Calibri"/>
              </a:rPr>
              <a:t>• Price Transparency: </a:t>
            </a:r>
            <a:r>
              <a:rPr b="0" sz="1200" u="none">
                <a:solidFill>
                  <a:srgbClr val="334155"/>
                </a:solidFill>
                <a:latin typeface="Calibri"/>
              </a:rPr>
              <a:t>Live LME benchmark stops 25%–40% predatory middleman cuts.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b="1" sz="1200" u="none">
                <a:solidFill>
                  <a:srgbClr val="B45309"/>
                </a:solidFill>
                <a:latin typeface="Calibri"/>
              </a:rPr>
              <a:t>• Logistics Optimization: </a:t>
            </a:r>
            <a:r>
              <a:rPr b="0" sz="1200" u="none">
                <a:solidFill>
                  <a:srgbClr val="334155"/>
                </a:solidFill>
                <a:latin typeface="Calibri"/>
              </a:rPr>
              <a:t>Consolidated milk-run truck dispatch lowers freight costs by 35%.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8028432" y="2816352"/>
            <a:ext cx="3611880" cy="135331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36576"/>
          <a:lstStyle/>
          <a:p>
            <a:pPr algn="ctr"/>
            <a:r>
              <a:rPr b="1" sz="1250" u="none">
                <a:solidFill>
                  <a:srgbClr val="166534"/>
                </a:solidFill>
                <a:latin typeface="Times New Roman"/>
              </a:rPr>
              <a:t>BENEFITS: ENVIRONMENTAL IMPACT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b="1" sz="1200" u="none">
                <a:solidFill>
                  <a:srgbClr val="166534"/>
                </a:solidFill>
                <a:latin typeface="Calibri"/>
              </a:rPr>
              <a:t>• Zero Toxic Burning: </a:t>
            </a:r>
            <a:r>
              <a:rPr b="0" sz="1200" u="none">
                <a:solidFill>
                  <a:srgbClr val="334155"/>
                </a:solidFill>
                <a:latin typeface="Calibri"/>
              </a:rPr>
              <a:t>Diverts PCBs away from crude acid baths and open burning in slums.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b="1" sz="1200" u="none">
                <a:solidFill>
                  <a:srgbClr val="166534"/>
                </a:solidFill>
                <a:latin typeface="Calibri"/>
              </a:rPr>
              <a:t>• Critical Minerals: </a:t>
            </a:r>
            <a:r>
              <a:rPr b="0" sz="1200" u="none">
                <a:solidFill>
                  <a:srgbClr val="334155"/>
                </a:solidFill>
                <a:latin typeface="Calibri"/>
              </a:rPr>
              <a:t>Secures domestic recovery of pure Cu, Au, Ag &amp; essential battery Li.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548640" y="4297680"/>
            <a:ext cx="11091672" cy="237744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b="1" sz="1350" u="none">
                <a:solidFill>
                  <a:srgbClr val="0F172A"/>
                </a:solidFill>
                <a:latin typeface="Times New Roman"/>
              </a:rPr>
              <a:t>FINANCIAL SUSTAINABILITY &amp; BUSINESS MODEL: </a:t>
            </a:r>
            <a:r>
              <a:rPr b="0" sz="1200" u="none">
                <a:solidFill>
                  <a:srgbClr val="166534"/>
                </a:solidFill>
                <a:latin typeface="Calibri"/>
              </a:rPr>
              <a:t>Self-Reinforcing Commercial Architecture with Zero Burden on Informal Workers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548640" y="4572000"/>
            <a:ext cx="2679192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3152" bIns="54864"/>
          <a:lstStyle/>
          <a:p>
            <a:pPr algn="ctr"/>
            <a:r>
              <a:rPr b="1" sz="1250" u="none">
                <a:solidFill>
                  <a:srgbClr val="166534"/>
                </a:solidFill>
                <a:latin typeface="Times New Roman"/>
              </a:rPr>
              <a:t>1. ZERO-FEE WORKERS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b="1" sz="1200" u="none">
                <a:solidFill>
                  <a:srgbClr val="166534"/>
                </a:solidFill>
                <a:latin typeface="Calibri"/>
              </a:rPr>
              <a:t>• 100% Free Forever: </a:t>
            </a:r>
            <a:r>
              <a:rPr b="0" sz="1200" u="none">
                <a:solidFill>
                  <a:srgbClr val="334155"/>
                </a:solidFill>
                <a:latin typeface="Calibri"/>
              </a:rPr>
              <a:t>Zero subscription fees or hardware lock-in barrier.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b="1" sz="1200" u="none">
                <a:solidFill>
                  <a:srgbClr val="166534"/>
                </a:solidFill>
                <a:latin typeface="Calibri"/>
              </a:rPr>
              <a:t>• +44.8% Cash Uplift: </a:t>
            </a:r>
            <a:r>
              <a:rPr b="0" sz="1200" u="none">
                <a:solidFill>
                  <a:srgbClr val="334155"/>
                </a:solidFill>
                <a:latin typeface="Calibri"/>
              </a:rPr>
              <a:t>Direct formal benchmark rates stop middleman discounts.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3355848" y="4572000"/>
            <a:ext cx="2679192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3152" bIns="54864"/>
          <a:lstStyle/>
          <a:p>
            <a:pPr algn="ctr"/>
            <a:r>
              <a:rPr b="1" sz="1250" u="none">
                <a:solidFill>
                  <a:srgbClr val="B45309"/>
                </a:solidFill>
                <a:latin typeface="Times New Roman"/>
              </a:rPr>
              <a:t>2. LOCAL AGGREGATORS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b="1" sz="1200" u="none">
                <a:solidFill>
                  <a:srgbClr val="B45309"/>
                </a:solidFill>
                <a:latin typeface="Calibri"/>
              </a:rPr>
              <a:t>• 4%–6% Bulk Margins: </a:t>
            </a:r>
            <a:r>
              <a:rPr b="0" sz="1200" u="none">
                <a:solidFill>
                  <a:srgbClr val="334155"/>
                </a:solidFill>
                <a:latin typeface="Calibri"/>
              </a:rPr>
              <a:t>Earns handling spread on bulk aggregated volume.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b="1" sz="1200" u="none">
                <a:solidFill>
                  <a:srgbClr val="B45309"/>
                </a:solidFill>
                <a:latin typeface="Calibri"/>
              </a:rPr>
              <a:t>• Zero Inventory Risk: </a:t>
            </a:r>
            <a:r>
              <a:rPr b="0" sz="1200" u="none">
                <a:solidFill>
                  <a:srgbClr val="334155"/>
                </a:solidFill>
                <a:latin typeface="Calibri"/>
              </a:rPr>
              <a:t>Guaranteed recycler off-take contracts eliminate price risk.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6163056" y="4572000"/>
            <a:ext cx="2679192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3152" bIns="54864"/>
          <a:lstStyle/>
          <a:p>
            <a:pPr algn="ctr"/>
            <a:r>
              <a:rPr b="1" sz="1250" u="none">
                <a:solidFill>
                  <a:srgbClr val="1E3A8A"/>
                </a:solidFill>
                <a:latin typeface="Times New Roman"/>
              </a:rPr>
              <a:t>3. AUTHORIZED RECYCLERS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b="1" sz="1200" u="none">
                <a:solidFill>
                  <a:srgbClr val="1E3A8A"/>
                </a:solidFill>
                <a:latin typeface="Calibri"/>
              </a:rPr>
              <a:t>• 1.5% Intake Commission: </a:t>
            </a:r>
            <a:r>
              <a:rPr b="0" sz="1200" u="none">
                <a:solidFill>
                  <a:srgbClr val="334155"/>
                </a:solidFill>
                <a:latin typeface="Calibri"/>
              </a:rPr>
              <a:t>Paid per verified ton (vs 5%–10% predatory broker fees).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b="1" sz="1200" u="none">
                <a:solidFill>
                  <a:srgbClr val="1E3A8A"/>
                </a:solidFill>
                <a:latin typeface="Calibri"/>
              </a:rPr>
              <a:t>• 3.5%–8.5% Cost Savings: </a:t>
            </a:r>
            <a:r>
              <a:rPr b="0" sz="1200" u="none">
                <a:solidFill>
                  <a:srgbClr val="334155"/>
                </a:solidFill>
                <a:latin typeface="Calibri"/>
              </a:rPr>
              <a:t>Pre-sorted bulk scrap lowers processing and purity loss.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8970264" y="4572000"/>
            <a:ext cx="2679192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3152" bIns="54864"/>
          <a:lstStyle/>
          <a:p>
            <a:pPr algn="ctr"/>
            <a:r>
              <a:rPr b="1" sz="1250" u="none">
                <a:solidFill>
                  <a:srgbClr val="6D28D9"/>
                </a:solidFill>
                <a:latin typeface="Times New Roman"/>
              </a:rPr>
              <a:t>4. ENTERPRISE EPR SAAS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b="1" sz="1200" u="none">
                <a:solidFill>
                  <a:srgbClr val="6D28D9"/>
                </a:solidFill>
                <a:latin typeface="Calibri"/>
              </a:rPr>
              <a:t>• B2B Compliance SaaS: </a:t>
            </a:r>
            <a:r>
              <a:rPr b="0" sz="1200" u="none">
                <a:solidFill>
                  <a:srgbClr val="334155"/>
                </a:solidFill>
                <a:latin typeface="Calibri"/>
              </a:rPr>
              <a:t>Annual enterprise API audit subscription for brand OEMs.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b="1" sz="1200" u="none">
                <a:solidFill>
                  <a:srgbClr val="6D28D9"/>
                </a:solidFill>
                <a:latin typeface="Calibri"/>
              </a:rPr>
              <a:t>• Scalable Growth: </a:t>
            </a:r>
            <a:r>
              <a:rPr b="0" sz="1200" u="none">
                <a:solidFill>
                  <a:srgbClr val="334155"/>
                </a:solidFill>
                <a:latin typeface="Calibri"/>
              </a:rPr>
              <a:t>1.5% commission scales with formal material turnover.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b="1" sz="3400" u="none">
                <a:solidFill>
                  <a:srgbClr val="0F172A"/>
                </a:solidFill>
                <a:latin typeface="Times New Roman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18288" rIns="18288" tIns="109728" bIns="36576"/>
          <a:lstStyle/>
          <a:p>
            <a:pPr algn="ctr"/>
            <a:r>
              <a:rPr b="1" sz="1050" u="none">
                <a:solidFill>
                  <a:srgbClr val="0F172A"/>
                </a:solidFill>
                <a:latin typeface="Arial"/>
              </a:rPr>
              <a:t>HelloWorld
Warriors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548640" y="969264"/>
            <a:ext cx="11091672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b="1" sz="1300" u="none">
                <a:solidFill>
                  <a:srgbClr val="0F172A"/>
                </a:solidFill>
                <a:latin typeface="Times New Roman"/>
              </a:rPr>
              <a:t>DETAILS / LINKS OF THE REFERENCE AND RESEARCH WORK: </a:t>
            </a:r>
            <a:r>
              <a:rPr b="0" sz="1250" u="none">
                <a:solidFill>
                  <a:srgbClr val="166534"/>
                </a:solidFill>
                <a:latin typeface="Calibri"/>
              </a:rPr>
              <a:t>Statutory Regulatory Mandates, Peer-Reviewed AI Research &amp; Empirical Field Studies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548640" y="1261872"/>
            <a:ext cx="3611880" cy="3429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73152"/>
          <a:lstStyle/>
          <a:p>
            <a:pPr algn="ctr"/>
            <a:r>
              <a:rPr b="1" sz="1300" u="none">
                <a:solidFill>
                  <a:srgbClr val="1E3A8A"/>
                </a:solidFill>
                <a:latin typeface="Times New Roman"/>
              </a:rPr>
              <a:t>1. POLICY &amp; REGULATORY MANDATES</a:t>
            </a:r>
            <a:r>
              <a:rPr b="0" sz="1150" u="none">
                <a:solidFill>
                  <a:srgbClr val="64748B"/>
                </a:solidFill>
                <a:latin typeface="Calibri"/>
              </a:rPr>
              <a:t>
National Standards &amp; Statutory Rules</a:t>
            </a:r>
          </a:p>
          <a:p>
            <a:pPr>
              <a:spcBef>
                <a:spcPts val="350"/>
              </a:spcBef>
              <a:spcAft>
                <a:spcPts val="0"/>
              </a:spcAft>
            </a:pPr>
            <a:r>
              <a:rPr b="1" sz="1200" u="none">
                <a:solidFill>
                  <a:srgbClr val="1E3A8A"/>
                </a:solidFill>
                <a:latin typeface="Calibri"/>
              </a:rPr>
              <a:t>• SIH Problem 26229 (MoM / JNARDDC): </a:t>
            </a:r>
            <a:r>
              <a:rPr b="0" sz="1200" u="none">
                <a:solidFill>
                  <a:srgbClr val="334155"/>
                </a:solidFill>
                <a:latin typeface="Calibri"/>
              </a:rPr>
              <a:t>Mandate for formalizing informal waste-pickers and establishing verified price benchmarks.</a:t>
            </a:r>
          </a:p>
          <a:p>
            <a:pPr>
              <a:spcBef>
                <a:spcPts val="350"/>
              </a:spcBef>
              <a:spcAft>
                <a:spcPts val="0"/>
              </a:spcAft>
            </a:pPr>
            <a:r>
              <a:rPr b="1" sz="1200" u="none">
                <a:solidFill>
                  <a:srgbClr val="1E3A8A"/>
                </a:solidFill>
                <a:latin typeface="Calibri"/>
              </a:rPr>
              <a:t>• CPCB E-Waste Rules 2022: </a:t>
            </a:r>
            <a:r>
              <a:rPr b="0" sz="1200" u="none">
                <a:solidFill>
                  <a:srgbClr val="334155"/>
                </a:solidFill>
                <a:latin typeface="Calibri"/>
              </a:rPr>
              <a:t>Enforces digital EPR credit trading, formal recycler licensing, and automated Form-6 audit trails.</a:t>
            </a:r>
          </a:p>
          <a:p>
            <a:pPr>
              <a:spcBef>
                <a:spcPts val="350"/>
              </a:spcBef>
              <a:spcAft>
                <a:spcPts val="0"/>
              </a:spcAft>
            </a:pPr>
            <a:r>
              <a:rPr b="1" sz="1200" u="none">
                <a:solidFill>
                  <a:srgbClr val="1E3A8A"/>
                </a:solidFill>
                <a:latin typeface="Calibri"/>
              </a:rPr>
              <a:t>• NITI Aayog Circular Economy: </a:t>
            </a:r>
            <a:r>
              <a:rPr b="0" sz="1200" u="none">
                <a:solidFill>
                  <a:srgbClr val="334155"/>
                </a:solidFill>
                <a:latin typeface="Calibri"/>
              </a:rPr>
              <a:t>Prioritizes decentralized aggregation hubs, fair floor pricing, and domestic critical mineral recovery.</a:t>
            </a:r>
          </a:p>
          <a:p>
            <a:pPr>
              <a:spcBef>
                <a:spcPts val="350"/>
              </a:spcBef>
              <a:spcAft>
                <a:spcPts val="0"/>
              </a:spcAft>
            </a:pPr>
            <a:r>
              <a:rPr b="1" sz="1200" u="none">
                <a:solidFill>
                  <a:srgbClr val="1E3A8A"/>
                </a:solidFill>
                <a:latin typeface="Calibri"/>
              </a:rPr>
              <a:t>• Toxics Link Field Studies: </a:t>
            </a:r>
            <a:r>
              <a:rPr b="0" sz="1200" u="none">
                <a:solidFill>
                  <a:srgbClr val="334155"/>
                </a:solidFill>
                <a:latin typeface="Calibri"/>
              </a:rPr>
              <a:t>Documents 25–40% value skimming by middlemen and severe heavy metal contamination from crude burning.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4288536" y="1261872"/>
            <a:ext cx="3611880" cy="3429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73152"/>
          <a:lstStyle/>
          <a:p>
            <a:pPr algn="ctr"/>
            <a:r>
              <a:rPr b="1" sz="1300" u="none">
                <a:solidFill>
                  <a:srgbClr val="166534"/>
                </a:solidFill>
                <a:latin typeface="Times New Roman"/>
              </a:rPr>
              <a:t>2. TECHNOLOGY &amp; AI RESEARCH</a:t>
            </a:r>
            <a:r>
              <a:rPr b="0" sz="1150" u="none">
                <a:solidFill>
                  <a:srgbClr val="64748B"/>
                </a:solidFill>
                <a:latin typeface="Calibri"/>
              </a:rPr>
              <a:t>
Peer-Reviewed Models &amp; Open Standards</a:t>
            </a:r>
          </a:p>
          <a:p>
            <a:pPr>
              <a:spcBef>
                <a:spcPts val="350"/>
              </a:spcBef>
              <a:spcAft>
                <a:spcPts val="0"/>
              </a:spcAft>
            </a:pPr>
            <a:r>
              <a:rPr b="1" sz="1200" u="none">
                <a:solidFill>
                  <a:srgbClr val="166534"/>
                </a:solidFill>
                <a:latin typeface="Calibri"/>
              </a:rPr>
              <a:t>• IEEE Access (2021) E-Waste AI: </a:t>
            </a:r>
            <a:r>
              <a:rPr b="0" sz="1200" u="none">
                <a:solidFill>
                  <a:srgbClr val="334155"/>
                </a:solidFill>
                <a:latin typeface="Calibri"/>
              </a:rPr>
              <a:t>Proves CNN transfer-learning achieves 94%+ scrap classification accuracy on edge hardware.</a:t>
            </a:r>
          </a:p>
          <a:p>
            <a:pPr>
              <a:spcBef>
                <a:spcPts val="350"/>
              </a:spcBef>
              <a:spcAft>
                <a:spcPts val="0"/>
              </a:spcAft>
            </a:pPr>
            <a:r>
              <a:rPr b="1" sz="1200" u="none">
                <a:solidFill>
                  <a:srgbClr val="166534"/>
                </a:solidFill>
                <a:latin typeface="Calibri"/>
              </a:rPr>
              <a:t>• MobileNetV3 (Google Research): </a:t>
            </a:r>
            <a:r>
              <a:rPr b="0" sz="1200" u="none">
                <a:solidFill>
                  <a:srgbClr val="334155"/>
                </a:solidFill>
                <a:latin typeface="Calibri"/>
              </a:rPr>
              <a:t>Quantized INT8 neural model (&lt;5MB) running real-time inference on budget Android phones.</a:t>
            </a:r>
          </a:p>
          <a:p>
            <a:pPr>
              <a:spcBef>
                <a:spcPts val="350"/>
              </a:spcBef>
              <a:spcAft>
                <a:spcPts val="0"/>
              </a:spcAft>
            </a:pPr>
            <a:r>
              <a:rPr b="1" sz="1200" u="none">
                <a:solidFill>
                  <a:srgbClr val="166534"/>
                </a:solidFill>
                <a:latin typeface="Calibri"/>
              </a:rPr>
              <a:t>• AI4Bharat Indic Speech (IIT Madras): </a:t>
            </a:r>
            <a:r>
              <a:rPr b="0" sz="1200" u="none">
                <a:solidFill>
                  <a:srgbClr val="334155"/>
                </a:solidFill>
                <a:latin typeface="Calibri"/>
              </a:rPr>
              <a:t>Vernacular speech-to-text models in 10+ regional Indian languages for non-literate workers.</a:t>
            </a:r>
          </a:p>
          <a:p>
            <a:pPr>
              <a:spcBef>
                <a:spcPts val="350"/>
              </a:spcBef>
              <a:spcAft>
                <a:spcPts val="0"/>
              </a:spcAft>
            </a:pPr>
            <a:r>
              <a:rPr b="1" sz="1200" u="none">
                <a:solidFill>
                  <a:srgbClr val="166534"/>
                </a:solidFill>
                <a:latin typeface="Calibri"/>
              </a:rPr>
              <a:t>• PostGIS Spatial Clustering: </a:t>
            </a:r>
            <a:r>
              <a:rPr b="0" sz="1200" u="none">
                <a:solidFill>
                  <a:srgbClr val="334155"/>
                </a:solidFill>
                <a:latin typeface="Calibri"/>
              </a:rPr>
              <a:t>Geospatial indexing (ST_DWithin) and KNN queries for optimal collector milk-run routing.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8028432" y="1261872"/>
            <a:ext cx="3611880" cy="3429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73152"/>
          <a:lstStyle/>
          <a:p>
            <a:pPr algn="ctr"/>
            <a:r>
              <a:rPr b="1" sz="1300" u="none">
                <a:solidFill>
                  <a:srgbClr val="B45309"/>
                </a:solidFill>
                <a:latin typeface="Times New Roman"/>
              </a:rPr>
              <a:t>3. PRIMARY FIELD RESEARCH</a:t>
            </a:r>
            <a:r>
              <a:rPr b="0" sz="1150" u="none">
                <a:solidFill>
                  <a:srgbClr val="64748B"/>
                </a:solidFill>
                <a:latin typeface="Calibri"/>
              </a:rPr>
              <a:t>
On-Ground Interviews &amp; Validation (Delhi)</a:t>
            </a:r>
          </a:p>
          <a:p>
            <a:pPr>
              <a:spcBef>
                <a:spcPts val="350"/>
              </a:spcBef>
              <a:spcAft>
                <a:spcPts val="0"/>
              </a:spcAft>
            </a:pPr>
            <a:r>
              <a:rPr b="1" sz="1200" u="none">
                <a:solidFill>
                  <a:srgbClr val="B45309"/>
                </a:solidFill>
                <a:latin typeface="Calibri"/>
              </a:rPr>
              <a:t>• Collector 01 (Waste-Picker): </a:t>
            </a:r>
            <a:r>
              <a:rPr b="0" sz="1200" u="none">
                <a:solidFill>
                  <a:srgbClr val="334155"/>
                </a:solidFill>
                <a:latin typeface="Calibri"/>
              </a:rPr>
              <a:t>"Scrap dealers deduct 1–2 kg on spring scales. Scale photo proof protects our hard-earned money."</a:t>
            </a:r>
          </a:p>
          <a:p>
            <a:pPr>
              <a:spcBef>
                <a:spcPts val="350"/>
              </a:spcBef>
              <a:spcAft>
                <a:spcPts val="0"/>
              </a:spcAft>
            </a:pPr>
            <a:r>
              <a:rPr b="1" sz="1200" u="none">
                <a:solidFill>
                  <a:srgbClr val="B45309"/>
                </a:solidFill>
                <a:latin typeface="Calibri"/>
              </a:rPr>
              <a:t>• Collector 02 (Itinerant Buyer): </a:t>
            </a:r>
            <a:r>
              <a:rPr b="0" sz="1200" u="none">
                <a:solidFill>
                  <a:srgbClr val="334155"/>
                </a:solidFill>
                <a:latin typeface="Calibri"/>
              </a:rPr>
              <a:t>"Households don't trust rates; showing live market prices on our phone closes deals fast."</a:t>
            </a:r>
          </a:p>
          <a:p>
            <a:pPr>
              <a:spcBef>
                <a:spcPts val="350"/>
              </a:spcBef>
              <a:spcAft>
                <a:spcPts val="0"/>
              </a:spcAft>
            </a:pPr>
            <a:r>
              <a:rPr b="1" sz="1200" u="none">
                <a:solidFill>
                  <a:srgbClr val="B45309"/>
                </a:solidFill>
                <a:latin typeface="Calibri"/>
              </a:rPr>
              <a:t>• Aggregator 03 (Scrap Hub Owner): </a:t>
            </a:r>
            <a:r>
              <a:rPr b="0" sz="1200" u="none">
                <a:solidFill>
                  <a:srgbClr val="334155"/>
                </a:solidFill>
                <a:latin typeface="Calibri"/>
              </a:rPr>
              <a:t>"Big recyclers demand bulk lots and manifests. Digital lotting lets us operate as formal hubs."</a:t>
            </a:r>
          </a:p>
          <a:p>
            <a:pPr>
              <a:spcBef>
                <a:spcPts val="350"/>
              </a:spcBef>
              <a:spcAft>
                <a:spcPts val="0"/>
              </a:spcAft>
            </a:pPr>
            <a:r>
              <a:rPr b="1" sz="1200" u="none">
                <a:solidFill>
                  <a:srgbClr val="B45309"/>
                </a:solidFill>
                <a:latin typeface="Calibri"/>
              </a:rPr>
              <a:t>• Core Field Validation: </a:t>
            </a:r>
            <a:r>
              <a:rPr b="0" sz="1200" u="none">
                <a:solidFill>
                  <a:srgbClr val="334155"/>
                </a:solidFill>
                <a:latin typeface="Calibri"/>
              </a:rPr>
              <a:t>100% of informal actors confirm willingness to use free voice app with instant UPI settlement.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548640" y="4828032"/>
            <a:ext cx="5477256" cy="137160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/>
          <a:lstStyle/>
          <a:p>
            <a:pPr algn="ctr"/>
            <a:r>
              <a:rPr b="1" sz="1250" u="none">
                <a:solidFill>
                  <a:srgbClr val="166534"/>
                </a:solidFill>
                <a:latin typeface="Times New Roman"/>
              </a:rPr>
              <a:t>PROTOTYPE WEB APPLICATION:  </a:t>
            </a:r>
            <a:r>
              <a:rPr b="1" sz="1250" u="sng">
                <a:solidFill>
                  <a:srgbClr val="1E3A8A"/>
                </a:solidFill>
                <a:latin typeface="Calibri"/>
                <a:hlinkClick r:id="rId4"/>
              </a:rPr>
              <a:t>https://recysaathi.vercel.app ↗</a:t>
            </a:r>
          </a:p>
          <a:p>
            <a:pPr>
              <a:spcBef>
                <a:spcPts val="400"/>
              </a:spcBef>
            </a:pPr>
            <a:r>
              <a:rPr b="1" sz="1200" u="none">
                <a:solidFill>
                  <a:srgbClr val="0F172A"/>
                </a:solidFill>
                <a:latin typeface="Calibri"/>
              </a:rPr>
              <a:t>Live Responsive PWA: </a:t>
            </a:r>
            <a:r>
              <a:rPr b="0" sz="1200" u="none">
                <a:solidFill>
                  <a:srgbClr val="334155"/>
                </a:solidFill>
                <a:latin typeface="Calibri"/>
              </a:rPr>
              <a:t>Mobile web app with visual scrap touch categories, offline IndexedDB transaction storage, and camera scale OCR weight extraction for budget Android phones.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6163056" y="4828032"/>
            <a:ext cx="5477256" cy="1371600"/>
          </a:xfrm>
          <a:prstGeom prst="roundRect">
            <a:avLst/>
          </a:prstGeom>
          <a:solidFill>
            <a:srgbClr val="F0F9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/>
          <a:lstStyle/>
          <a:p>
            <a:pPr algn="ctr"/>
            <a:r>
              <a:rPr b="1" sz="1250" u="none">
                <a:solidFill>
                  <a:srgbClr val="1E3A8A"/>
                </a:solidFill>
                <a:latin typeface="Times New Roman"/>
              </a:rPr>
              <a:t>YOUTUBE DEMO:  </a:t>
            </a:r>
            <a:r>
              <a:rPr b="1" sz="1250" u="sng">
                <a:solidFill>
                  <a:srgbClr val="1E3A8A"/>
                </a:solidFill>
                <a:latin typeface="Calibri"/>
                <a:hlinkClick r:id="rId5"/>
              </a:rPr>
              <a:t>https://youtu.be/ewastesetu-demo ↗</a:t>
            </a:r>
          </a:p>
          <a:p>
            <a:pPr>
              <a:spcBef>
                <a:spcPts val="400"/>
              </a:spcBef>
            </a:pPr>
            <a:r>
              <a:rPr b="1" sz="1200" u="none">
                <a:solidFill>
                  <a:srgbClr val="0F172A"/>
                </a:solidFill>
                <a:latin typeface="Calibri"/>
              </a:rPr>
              <a:t>Complete System Walkthrough: </a:t>
            </a:r>
            <a:r>
              <a:rPr b="0" sz="1200" u="none">
                <a:solidFill>
                  <a:srgbClr val="334155"/>
                </a:solidFill>
                <a:latin typeface="Calibri"/>
              </a:rPr>
              <a:t>End-to-end video demo of voice scrap logging, digital scale OCR weight capture, local hub batch lotting, and dual QR CPCB Form-6 manifest handover.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