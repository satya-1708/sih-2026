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sih2026.vuce.in/ps/SIH26229" TargetMode="External"/><Relationship Id="rId5" Type="http://schemas.openxmlformats.org/officeDocument/2006/relationships/hyperlink" Target="https://eprewaste.cpcb.gov.in/assets/PDF/e-waste_rules_2022.pdf" TargetMode="External"/><Relationship Id="rId6" Type="http://schemas.openxmlformats.org/officeDocument/2006/relationships/hyperlink" Target="https://eprewaste.cpcb.gov.in/" TargetMode="External"/><Relationship Id="rId7" Type="http://schemas.openxmlformats.org/officeDocument/2006/relationships/hyperlink" Target="https://www.niti.gov.in/node/2108" TargetMode="External"/><Relationship Id="rId8" Type="http://schemas.openxmlformats.org/officeDocument/2006/relationships/hyperlink" Target="https://www.jnarddc.gov.in/en/services/waste.aspx" TargetMode="External"/><Relationship Id="rId9" Type="http://schemas.openxmlformats.org/officeDocument/2006/relationships/hyperlink" Target="https://toxicslink.org/electronic-waste/" TargetMode="External"/><Relationship Id="rId10" Type="http://schemas.openxmlformats.org/officeDocument/2006/relationships/hyperlink" Target="https://arxiv.org/abs/1905.02244" TargetMode="External"/><Relationship Id="rId11" Type="http://schemas.openxmlformats.org/officeDocument/2006/relationships/hyperlink" Target="https://ieeexplore.ieee.org/document/9385073" TargetMode="External"/><Relationship Id="rId12" Type="http://schemas.openxmlformats.org/officeDocument/2006/relationships/hyperlink" Target="https://ai4bharat.org/" TargetMode="External"/><Relationship Id="rId13" Type="http://schemas.openxmlformats.org/officeDocument/2006/relationships/hyperlink" Target="https://opencv.org/" TargetMode="External"/><Relationship Id="rId14" Type="http://schemas.openxmlformats.org/officeDocument/2006/relationships/hyperlink" Target="https://postgis.net/" TargetMode="External"/><Relationship Id="rId15" Type="http://schemas.openxmlformats.org/officeDocument/2006/relationships/hyperlink" Target="https://developer.mozilla.org/en-US/docs/Web/API/IndexedDB_API" TargetMode="External"/><Relationship Id="rId16" Type="http://schemas.openxmlformats.org/officeDocument/2006/relationships/hyperlink" Target="https://recysaathi.vercel.app" TargetMode="External"/><Relationship Id="rId17" Type="http://schemas.openxmlformats.org/officeDocument/2006/relationships/hyperlink" Target="https://youtu.be/ewastesetu-dem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algn="l">
              <a:spcAft>
                <a:spcPts val="700"/>
              </a:spcAft>
            </a:pPr>
            <a:r>
              <a:rPr b="1" sz="1400">
                <a:solidFill>
                  <a:srgbClr val="166534"/>
                </a:solidFill>
                <a:latin typeface="Arial"/>
              </a:rPr>
              <a:t>Problem Statement ID – </a:t>
            </a:r>
            <a:r>
              <a:rPr b="1" sz="1400">
                <a:solidFill>
                  <a:srgbClr val="0F172A"/>
                </a:solidFill>
                <a:latin typeface="Arial"/>
              </a:rPr>
              <a:t>26229</a:t>
            </a:r>
            <a:endParaRPr lang="en-US" dirty="0"/>
          </a:p>
          <a:p>
            <a:pPr algn="l">
              <a:spcAft>
                <a:spcPts val="700"/>
              </a:spcAft>
            </a:pPr>
            <a:r>
              <a:rPr b="1" sz="1400">
                <a:solidFill>
                  <a:srgbClr val="166534"/>
                </a:solidFill>
                <a:latin typeface="Arial"/>
              </a:rPr>
              <a:t>Problem Statement Title - </a:t>
            </a:r>
            <a:r>
              <a:rPr b="0" sz="1400">
                <a:solidFill>
                  <a:srgbClr val="0F172A"/>
                </a:solidFill>
                <a:latin typeface="Arial"/>
              </a:rPr>
              <a:t>Kabadiwala Connect – Bringing the Informal Collector into the Formal Recycling Chain</a:t>
            </a:r>
          </a:p>
          <a:p>
            <a:pPr algn="l">
              <a:spcAft>
                <a:spcPts val="700"/>
              </a:spcAft>
            </a:pPr>
            <a:r>
              <a:rPr b="1" sz="1400">
                <a:solidFill>
                  <a:srgbClr val="166534"/>
                </a:solidFill>
                <a:latin typeface="Arial"/>
              </a:rPr>
              <a:t>Organization - </a:t>
            </a:r>
            <a:r>
              <a:rPr b="0" sz="1400">
                <a:solidFill>
                  <a:srgbClr val="0F172A"/>
                </a:solidFill>
                <a:latin typeface="Arial"/>
              </a:rPr>
              <a:t>Ministry of Mines (MoM) / JNARDDC</a:t>
            </a:r>
          </a:p>
          <a:p>
            <a:pPr algn="l">
              <a:spcAft>
                <a:spcPts val="700"/>
              </a:spcAft>
            </a:pPr>
            <a:r>
              <a:rPr b="1" sz="1400">
                <a:solidFill>
                  <a:srgbClr val="166534"/>
                </a:solidFill>
                <a:latin typeface="Arial"/>
              </a:rPr>
              <a:t>Theme - </a:t>
            </a:r>
            <a:r>
              <a:rPr b="0" sz="1400">
                <a:solidFill>
                  <a:srgbClr val="0F172A"/>
                </a:solidFill>
                <a:latin typeface="Arial"/>
              </a:rPr>
              <a:t>Clean &amp; Green Technology</a:t>
            </a:r>
          </a:p>
          <a:p>
            <a:pPr algn="l">
              <a:spcAft>
                <a:spcPts val="700"/>
              </a:spcAft>
            </a:pPr>
            <a:r>
              <a:rPr b="1" sz="1400">
                <a:solidFill>
                  <a:srgbClr val="166534"/>
                </a:solidFill>
                <a:latin typeface="Arial"/>
              </a:rPr>
              <a:t>PS Category - </a:t>
            </a:r>
            <a:r>
              <a:rPr b="0" sz="1400">
                <a:solidFill>
                  <a:srgbClr val="0F172A"/>
                </a:solidFill>
                <a:latin typeface="Arial"/>
              </a:rPr>
              <a:t>Software</a:t>
            </a:r>
          </a:p>
          <a:p>
            <a:pPr algn="l">
              <a:spcAft>
                <a:spcPts val="700"/>
              </a:spcAft>
            </a:pPr>
            <a:r>
              <a:rPr b="1" sz="1400">
                <a:solidFill>
                  <a:srgbClr val="166534"/>
                </a:solidFill>
                <a:latin typeface="Arial"/>
              </a:rPr>
              <a:t>Team ID - </a:t>
            </a:r>
            <a:r>
              <a:rPr b="0" sz="1400">
                <a:solidFill>
                  <a:srgbClr val="0F172A"/>
                </a:solidFill>
                <a:latin typeface="Arial"/>
              </a:rPr>
              <a:t>170413</a:t>
            </a:r>
          </a:p>
          <a:p>
            <a:pPr algn="l">
              <a:spcAft>
                <a:spcPts val="700"/>
              </a:spcAft>
            </a:pPr>
            <a:r>
              <a:rPr b="1" sz="1400">
                <a:solidFill>
                  <a:srgbClr val="166534"/>
                </a:solidFill>
                <a:latin typeface="Arial"/>
              </a:rPr>
              <a:t>Team Name - </a:t>
            </a:r>
            <a:r>
              <a:rPr b="1" sz="1400">
                <a:solidFill>
                  <a:srgbClr val="0F172A"/>
                </a:solidFill>
                <a:latin typeface="Arial"/>
              </a:rPr>
              <a:t>HelloWorldWarriors</a:t>
            </a:r>
          </a:p>
          <a:p>
            <a:pPr algn="l">
              <a:spcAft>
                <a:spcPts val="700"/>
              </a:spcAft>
            </a:pPr>
            <a:r>
              <a:rPr b="1" sz="1400">
                <a:solidFill>
                  <a:srgbClr val="166534"/>
                </a:solidFill>
                <a:latin typeface="Arial"/>
              </a:rPr>
              <a:t>Idea / Solution Title - </a:t>
            </a:r>
            <a:r>
              <a:rPr b="1" sz="1400">
                <a:solidFill>
                  <a:srgbClr val="0F172A"/>
                </a:solidFill>
                <a:latin typeface="Arial"/>
              </a:rPr>
              <a:t>E-Waste Setu (ई-कचरा सेतु)</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b="1" sz="3200">
                <a:solidFill>
                  <a:srgbClr val="0F172A"/>
                </a:solidFill>
                <a:latin typeface="Arial"/>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a:lstStyle/>
          <a:p>
            <a:pPr algn="ctr"/>
            <a:r>
              <a:rPr b="1" sz="1000">
                <a:solidFill>
                  <a:srgbClr val="0F172A"/>
                </a:solidFill>
                <a:latin typeface="Arial"/>
              </a:rPr>
              <a:t>HelloWorldWarriors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548640" y="987552"/>
            <a:ext cx="11091672" cy="594360"/>
          </a:xfrm>
          <a:prstGeom prst="rect">
            <a:avLst/>
          </a:prstGeom>
          <a:noFill/>
        </p:spPr>
        <p:txBody>
          <a:bodyPr wrap="square" lIns="0" tIns="0">
            <a:spAutoFit/>
          </a:bodyPr>
          <a:lstStyle/>
          <a:p>
            <a:pPr algn="l"/>
            <a:r>
              <a:rPr b="1" sz="1350" u="sng">
                <a:solidFill>
                  <a:srgbClr val="0F172A"/>
                </a:solidFill>
                <a:latin typeface="Arial"/>
              </a:rPr>
              <a:t>E-Waste Setu: Connecting Informal Waste Collectors (Kabadiwalas) to Authorized Recyclers</a:t>
            </a:r>
          </a:p>
          <a:p>
            <a:pPr algn="l">
              <a:spcBef>
                <a:spcPts val="200"/>
              </a:spcBef>
            </a:pPr>
            <a:r>
              <a:rPr b="1" sz="980">
                <a:solidFill>
                  <a:srgbClr val="166534"/>
                </a:solidFill>
                <a:latin typeface="Arial"/>
              </a:rPr>
              <a:t>Core Supply Chain: </a:t>
            </a:r>
            <a:r>
              <a:rPr b="1" sz="919">
                <a:solidFill>
                  <a:srgbClr val="1E40AF"/>
                </a:solidFill>
                <a:latin typeface="Arial"/>
              </a:rPr>
              <a:t>Small Collector  ──&gt;  Local Aggregator / Collection Hub  ──&gt;  Bulk Aggregation  ──&gt;  Authorized Recycler (CPCB)</a:t>
            </a:r>
          </a:p>
        </p:txBody>
      </p:sp>
      <p:sp>
        <p:nvSpPr>
          <p:cNvPr id="15363" name="Rounded Rectangle 15362"/>
          <p:cNvSpPr/>
          <p:nvPr/>
        </p:nvSpPr>
        <p:spPr>
          <a:xfrm>
            <a:off x="548640" y="1627632"/>
            <a:ext cx="5440680" cy="2322576"/>
          </a:xfrm>
          <a:prstGeom prst="roundRect">
            <a:avLst/>
          </a:prstGeom>
          <a:solidFill>
            <a:srgbClr val="FFFFFF"/>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91440" bIns="73152"/>
          <a:lstStyle/>
          <a:p>
            <a:pPr algn="l">
              <a:spcAft>
                <a:spcPts val="300"/>
              </a:spcAft>
            </a:pPr>
            <a:r>
              <a:rPr b="1" sz="1200" u="sng">
                <a:solidFill>
                  <a:srgbClr val="991B1B"/>
                </a:solidFill>
                <a:latin typeface="Arial"/>
              </a:rPr>
              <a:t>Main Problems &amp; How We Address Them</a:t>
            </a:r>
          </a:p>
          <a:p>
            <a:pPr algn="l">
              <a:spcBef>
                <a:spcPts val="150"/>
              </a:spcBef>
              <a:spcAft>
                <a:spcPts val="100"/>
              </a:spcAft>
            </a:pPr>
            <a:r>
              <a:rPr b="1" sz="819">
                <a:solidFill>
                  <a:srgbClr val="0F172A"/>
                </a:solidFill>
                <a:latin typeface="Arial"/>
              </a:rPr>
              <a:t>• Unclear &amp; Unfair Prices (25–40% loss): </a:t>
            </a:r>
            <a:r>
              <a:rPr b="0" sz="800">
                <a:solidFill>
                  <a:srgbClr val="334155"/>
                </a:solidFill>
                <a:latin typeface="Arial"/>
              </a:rPr>
              <a:t>Middlemen exploit lack of market awareness. </a:t>
            </a:r>
            <a:r>
              <a:rPr b="1" sz="800">
                <a:solidFill>
                  <a:srgbClr val="166534"/>
                </a:solidFill>
                <a:latin typeface="Arial"/>
              </a:rPr>
              <a:t>➔ Daily fair metal-benchmarked scrap rates on phone.</a:t>
            </a:r>
          </a:p>
          <a:p>
            <a:pPr algn="l">
              <a:spcBef>
                <a:spcPts val="150"/>
              </a:spcBef>
              <a:spcAft>
                <a:spcPts val="100"/>
              </a:spcAft>
            </a:pPr>
            <a:r>
              <a:rPr b="1" sz="819">
                <a:solidFill>
                  <a:srgbClr val="0F172A"/>
                </a:solidFill>
                <a:latin typeface="Arial"/>
              </a:rPr>
              <a:t>• Tampered Scales (15–20% weight loss): </a:t>
            </a:r>
            <a:r>
              <a:rPr b="0" sz="800">
                <a:solidFill>
                  <a:srgbClr val="334155"/>
                </a:solidFill>
                <a:latin typeface="Arial"/>
              </a:rPr>
              <a:t>Mechanical scales are rigged by middlemen. </a:t>
            </a:r>
            <a:r>
              <a:rPr b="1" sz="800">
                <a:solidFill>
                  <a:srgbClr val="166534"/>
                </a:solidFill>
                <a:latin typeface="Arial"/>
              </a:rPr>
              <a:t>➔ Phone camera verifies scale display screen to lock true weight.</a:t>
            </a:r>
          </a:p>
          <a:p>
            <a:pPr algn="l">
              <a:spcBef>
                <a:spcPts val="150"/>
              </a:spcBef>
              <a:spcAft>
                <a:spcPts val="100"/>
              </a:spcAft>
            </a:pPr>
            <a:r>
              <a:rPr b="1" sz="819">
                <a:solidFill>
                  <a:srgbClr val="0F172A"/>
                </a:solidFill>
                <a:latin typeface="Arial"/>
              </a:rPr>
              <a:t>• No Trusted Recycler Access: </a:t>
            </a:r>
            <a:r>
              <a:rPr b="0" sz="800">
                <a:solidFill>
                  <a:srgbClr val="334155"/>
                </a:solidFill>
                <a:latin typeface="Arial"/>
              </a:rPr>
              <a:t>Collectors &amp; hubs don't know verified recyclers or rates. </a:t>
            </a:r>
            <a:r>
              <a:rPr b="1" sz="800">
                <a:solidFill>
                  <a:srgbClr val="166534"/>
                </a:solidFill>
                <a:latin typeface="Arial"/>
              </a:rPr>
              <a:t>➔ Matches lots with authorized recyclers using license, material, price &amp; pickup.</a:t>
            </a:r>
          </a:p>
          <a:p>
            <a:pPr algn="l">
              <a:spcBef>
                <a:spcPts val="150"/>
              </a:spcBef>
              <a:spcAft>
                <a:spcPts val="100"/>
              </a:spcAft>
            </a:pPr>
            <a:r>
              <a:rPr b="1" sz="819">
                <a:solidFill>
                  <a:srgbClr val="0F172A"/>
                </a:solidFill>
                <a:latin typeface="Arial"/>
              </a:rPr>
              <a:t>• Too Many Middlemen: </a:t>
            </a:r>
            <a:r>
              <a:rPr b="0" sz="800">
                <a:solidFill>
                  <a:srgbClr val="334155"/>
                </a:solidFill>
                <a:latin typeface="Arial"/>
              </a:rPr>
              <a:t>Fragmented informal tiers skim margins and resist formal apps. </a:t>
            </a:r>
            <a:r>
              <a:rPr b="1" sz="800">
                <a:solidFill>
                  <a:srgbClr val="166534"/>
                </a:solidFill>
                <a:latin typeface="Arial"/>
              </a:rPr>
              <a:t>➔ Upgrades local scrap dealers into certified collection hubs with legal fees.</a:t>
            </a:r>
          </a:p>
          <a:p>
            <a:pPr algn="l">
              <a:spcBef>
                <a:spcPts val="150"/>
              </a:spcBef>
              <a:spcAft>
                <a:spcPts val="100"/>
              </a:spcAft>
            </a:pPr>
            <a:r>
              <a:rPr b="1" sz="819">
                <a:solidFill>
                  <a:srgbClr val="0F172A"/>
                </a:solidFill>
                <a:latin typeface="Arial"/>
              </a:rPr>
              <a:t>• Illiteracy &amp; Cash Reliance: </a:t>
            </a:r>
            <a:r>
              <a:rPr b="0" sz="800">
                <a:solidFill>
                  <a:srgbClr val="334155"/>
                </a:solidFill>
                <a:latin typeface="Arial"/>
              </a:rPr>
              <a:t>Cannot read text-heavy apps; rely strictly on cash. </a:t>
            </a:r>
            <a:r>
              <a:rPr b="1" sz="800">
                <a:solidFill>
                  <a:srgbClr val="166534"/>
                </a:solidFill>
                <a:latin typeface="Arial"/>
              </a:rPr>
              <a:t>➔ Visual touch UI + optional voice; supports both Cash and UPI.</a:t>
            </a:r>
          </a:p>
        </p:txBody>
      </p:sp>
      <p:sp>
        <p:nvSpPr>
          <p:cNvPr id="15364" name="Rounded Rectangle 15363"/>
          <p:cNvSpPr/>
          <p:nvPr/>
        </p:nvSpPr>
        <p:spPr>
          <a:xfrm>
            <a:off x="6199632" y="1627632"/>
            <a:ext cx="5440680" cy="2322576"/>
          </a:xfrm>
          <a:prstGeom prst="roundRect">
            <a:avLst/>
          </a:prstGeom>
          <a:solidFill>
            <a:srgbClr val="FFFFFF"/>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91440" bIns="73152"/>
          <a:lstStyle/>
          <a:p>
            <a:pPr algn="l">
              <a:spcAft>
                <a:spcPts val="300"/>
              </a:spcAft>
            </a:pPr>
            <a:r>
              <a:rPr b="1" sz="1200" u="sng">
                <a:solidFill>
                  <a:srgbClr val="166534"/>
                </a:solidFill>
                <a:latin typeface="Arial"/>
              </a:rPr>
              <a:t>Proposed Solution: End-to-End Handover Flow</a:t>
            </a:r>
          </a:p>
          <a:p>
            <a:pPr algn="l">
              <a:spcBef>
                <a:spcPts val="150"/>
              </a:spcBef>
              <a:spcAft>
                <a:spcPts val="100"/>
              </a:spcAft>
            </a:pPr>
            <a:r>
              <a:rPr b="1" sz="819">
                <a:solidFill>
                  <a:srgbClr val="1E40AF"/>
                </a:solidFill>
                <a:latin typeface="Arial"/>
              </a:rPr>
              <a:t>1. Collector [Photo + Voice + Category]: </a:t>
            </a:r>
            <a:r>
              <a:rPr b="0" sz="800">
                <a:solidFill>
                  <a:srgbClr val="334155"/>
                </a:solidFill>
                <a:latin typeface="Arial"/>
              </a:rPr>
              <a:t>Logs scrap items via touch visual catalog or optional 10-language voice; views guaranteed fair rates.</a:t>
            </a:r>
          </a:p>
          <a:p>
            <a:pPr algn="l">
              <a:spcBef>
                <a:spcPts val="150"/>
              </a:spcBef>
              <a:spcAft>
                <a:spcPts val="100"/>
              </a:spcAft>
            </a:pPr>
            <a:r>
              <a:rPr b="1" sz="819">
                <a:solidFill>
                  <a:srgbClr val="1E40AF"/>
                </a:solidFill>
                <a:latin typeface="Arial"/>
              </a:rPr>
              <a:t>2. Digital Lot Created [Weight + Value Lock]: </a:t>
            </a:r>
            <a:r>
              <a:rPr b="0" sz="800">
                <a:solidFill>
                  <a:srgbClr val="334155"/>
                </a:solidFill>
                <a:latin typeface="Arial"/>
              </a:rPr>
              <a:t>System pre-records item category, estimated quantity, and metal-benchmarked floor valuation.</a:t>
            </a:r>
          </a:p>
          <a:p>
            <a:pPr algn="l">
              <a:spcBef>
                <a:spcPts val="150"/>
              </a:spcBef>
              <a:spcAft>
                <a:spcPts val="100"/>
              </a:spcAft>
            </a:pPr>
            <a:r>
              <a:rPr b="1" sz="819">
                <a:solidFill>
                  <a:srgbClr val="166534"/>
                </a:solidFill>
                <a:latin typeface="Arial"/>
              </a:rPr>
              <a:t>3. Local Collection Hub [Scale Photo &amp; Settle]: </a:t>
            </a:r>
            <a:r>
              <a:rPr b="0" sz="800">
                <a:solidFill>
                  <a:srgbClr val="334155"/>
                </a:solidFill>
                <a:latin typeface="Arial"/>
              </a:rPr>
              <a:t>Drop-off at hub (1–2 km); camera reads scale display to verify weight. Cash or UPI ➔ digital receipt ➔ earnings ledger.</a:t>
            </a:r>
          </a:p>
          <a:p>
            <a:pPr algn="l">
              <a:spcBef>
                <a:spcPts val="150"/>
              </a:spcBef>
              <a:spcAft>
                <a:spcPts val="100"/>
              </a:spcAft>
            </a:pPr>
            <a:r>
              <a:rPr b="1" sz="819">
                <a:solidFill>
                  <a:srgbClr val="1E40AF"/>
                </a:solidFill>
                <a:latin typeface="Arial"/>
              </a:rPr>
              <a:t>4. Bulk Collection &amp; Transfer [Smart Logistics]: </a:t>
            </a:r>
            <a:r>
              <a:rPr b="0" sz="800">
                <a:solidFill>
                  <a:srgbClr val="334155"/>
                </a:solidFill>
                <a:latin typeface="Arial"/>
              </a:rPr>
              <a:t>Hubs aggregate volume; PostGIS routes authorized trucks for optimized bulk pickup across hubs.</a:t>
            </a:r>
          </a:p>
          <a:p>
            <a:pPr algn="l">
              <a:spcBef>
                <a:spcPts val="150"/>
              </a:spcBef>
              <a:spcAft>
                <a:spcPts val="100"/>
              </a:spcAft>
            </a:pPr>
            <a:r>
              <a:rPr b="1" sz="819">
                <a:solidFill>
                  <a:srgbClr val="166534"/>
                </a:solidFill>
                <a:latin typeface="Arial"/>
              </a:rPr>
              <a:t>5. Authorized Recycler [Track Every Handover]: </a:t>
            </a:r>
            <a:r>
              <a:rPr b="0" sz="800">
                <a:solidFill>
                  <a:srgbClr val="334155"/>
                </a:solidFill>
                <a:latin typeface="Arial"/>
              </a:rPr>
              <a:t>CPCB plant verifies lot QR code for safe scientific recycling; automated Form-6 manifest logged on portal.</a:t>
            </a:r>
          </a:p>
        </p:txBody>
      </p:sp>
      <p:sp>
        <p:nvSpPr>
          <p:cNvPr id="15365" name="TextBox 15364"/>
          <p:cNvSpPr txBox="1"/>
          <p:nvPr/>
        </p:nvSpPr>
        <p:spPr>
          <a:xfrm>
            <a:off x="548640" y="3986784"/>
            <a:ext cx="11091672" cy="256032"/>
          </a:xfrm>
          <a:prstGeom prst="rect">
            <a:avLst/>
          </a:prstGeom>
          <a:noFill/>
        </p:spPr>
        <p:txBody>
          <a:bodyPr wrap="square" lIns="0" tIns="0">
            <a:spAutoFit/>
          </a:bodyPr>
          <a:lstStyle/>
          <a:p>
            <a:pPr algn="l"/>
            <a:r>
              <a:rPr b="1" sz="1200" u="sng">
                <a:solidFill>
                  <a:srgbClr val="0F172A"/>
                </a:solidFill>
                <a:latin typeface="Arial"/>
              </a:rPr>
              <a:t>Innovation and Uniqueness of the Solution</a:t>
            </a:r>
          </a:p>
        </p:txBody>
      </p:sp>
      <p:sp>
        <p:nvSpPr>
          <p:cNvPr id="15366" name="Rounded Rectangle 15365"/>
          <p:cNvSpPr/>
          <p:nvPr/>
        </p:nvSpPr>
        <p:spPr>
          <a:xfrm>
            <a:off x="548640" y="4279392"/>
            <a:ext cx="2642616" cy="1920240"/>
          </a:xfrm>
          <a:prstGeom prst="roundRect">
            <a:avLst/>
          </a:prstGeom>
          <a:solidFill>
            <a:srgbClr val="F0F9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bIns="73152"/>
          <a:lstStyle/>
          <a:p>
            <a:pPr algn="l"/>
            <a:r>
              <a:rPr b="1" sz="850">
                <a:solidFill>
                  <a:srgbClr val="0369A1"/>
                </a:solidFill>
                <a:latin typeface="Arial"/>
              </a:rPr>
              <a:t>[INNOVATION 1]
</a:t>
            </a:r>
            <a:r>
              <a:rPr b="1" sz="1000">
                <a:solidFill>
                  <a:srgbClr val="0F172A"/>
                </a:solidFill>
                <a:latin typeface="Arial"/>
              </a:rPr>
              <a:t>Partners with Local Dealers</a:t>
            </a:r>
          </a:p>
          <a:p>
            <a:pPr algn="l">
              <a:spcBef>
                <a:spcPts val="300"/>
              </a:spcBef>
            </a:pPr>
            <a:r>
              <a:rPr b="0" sz="810">
                <a:solidFill>
                  <a:srgbClr val="334155"/>
                </a:solidFill>
                <a:latin typeface="Arial"/>
              </a:rPr>
              <a:t>Instead of eliminating local scrap shops (which triggers backlash), we upgrade them into certified collection hubs earning steady legal commissions.</a:t>
            </a:r>
          </a:p>
          <a:p>
            <a:pPr algn="r">
              <a:spcBef>
                <a:spcPts val="300"/>
              </a:spcBef>
            </a:pPr>
            <a:r>
              <a:rPr b="1" sz="800">
                <a:solidFill>
                  <a:srgbClr val="0369A1"/>
                </a:solidFill>
                <a:latin typeface="Arial"/>
              </a:rPr>
              <a:t>• Conflict-Free Adoption</a:t>
            </a:r>
          </a:p>
        </p:txBody>
      </p:sp>
      <p:sp>
        <p:nvSpPr>
          <p:cNvPr id="15367" name="Rounded Rectangle 15366"/>
          <p:cNvSpPr/>
          <p:nvPr/>
        </p:nvSpPr>
        <p:spPr>
          <a:xfrm>
            <a:off x="3364992" y="4279392"/>
            <a:ext cx="2642616" cy="1920240"/>
          </a:xfrm>
          <a:prstGeom prst="roundRect">
            <a:avLst/>
          </a:prstGeom>
          <a:solidFill>
            <a:srgbClr val="F0FDF4"/>
          </a:solidFill>
          <a:ln w="19050">
            <a:solidFill>
              <a:srgbClr val="BBF7D0"/>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bIns="73152"/>
          <a:lstStyle/>
          <a:p>
            <a:pPr algn="l"/>
            <a:r>
              <a:rPr b="1" sz="850">
                <a:solidFill>
                  <a:srgbClr val="166534"/>
                </a:solidFill>
                <a:latin typeface="Arial"/>
              </a:rPr>
              <a:t>[INNOVATION 2]
</a:t>
            </a:r>
            <a:r>
              <a:rPr b="1" sz="1000">
                <a:solidFill>
                  <a:srgbClr val="0F172A"/>
                </a:solidFill>
                <a:latin typeface="Arial"/>
              </a:rPr>
              <a:t>Camera-Based Scale Reading</a:t>
            </a:r>
          </a:p>
          <a:p>
            <a:pPr algn="l">
              <a:spcBef>
                <a:spcPts val="300"/>
              </a:spcBef>
            </a:pPr>
            <a:r>
              <a:rPr b="0" sz="810">
                <a:solidFill>
                  <a:srgbClr val="334155"/>
                </a:solidFill>
                <a:latin typeface="Arial"/>
              </a:rPr>
              <a:t>Requires no expensive IoT scales. Any standard smartphone camera reads numbers off existing weighing scales to stop weight cheating.</a:t>
            </a:r>
          </a:p>
          <a:p>
            <a:pPr algn="r">
              <a:spcBef>
                <a:spcPts val="300"/>
              </a:spcBef>
            </a:pPr>
            <a:r>
              <a:rPr b="1" sz="800">
                <a:solidFill>
                  <a:srgbClr val="166534"/>
                </a:solidFill>
                <a:latin typeface="Arial"/>
              </a:rPr>
              <a:t>• Zero Extra Hardware Cost</a:t>
            </a:r>
          </a:p>
        </p:txBody>
      </p:sp>
      <p:sp>
        <p:nvSpPr>
          <p:cNvPr id="15368" name="Rounded Rectangle 15367"/>
          <p:cNvSpPr/>
          <p:nvPr/>
        </p:nvSpPr>
        <p:spPr>
          <a:xfrm>
            <a:off x="6181344" y="4279392"/>
            <a:ext cx="2642616" cy="192024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bIns="73152"/>
          <a:lstStyle/>
          <a:p>
            <a:pPr algn="l"/>
            <a:r>
              <a:rPr b="1" sz="850">
                <a:solidFill>
                  <a:srgbClr val="B45309"/>
                </a:solidFill>
                <a:latin typeface="Arial"/>
              </a:rPr>
              <a:t>[INNOVATION 3]
</a:t>
            </a:r>
            <a:r>
              <a:rPr b="1" sz="1000">
                <a:solidFill>
                  <a:srgbClr val="0F172A"/>
                </a:solidFill>
                <a:latin typeface="Arial"/>
              </a:rPr>
              <a:t>Multimodal Accessibility</a:t>
            </a:r>
          </a:p>
          <a:p>
            <a:pPr algn="l">
              <a:spcBef>
                <a:spcPts val="300"/>
              </a:spcBef>
            </a:pPr>
            <a:r>
              <a:rPr b="0" sz="810">
                <a:solidFill>
                  <a:srgbClr val="334155"/>
                </a:solidFill>
                <a:latin typeface="Arial"/>
              </a:rPr>
              <a:t>Built for all literacy levels. Visual touch UI with category photos, plus optional voice assistance in 10 Indian dialects with offline caching.</a:t>
            </a:r>
          </a:p>
          <a:p>
            <a:pPr algn="r">
              <a:spcBef>
                <a:spcPts val="300"/>
              </a:spcBef>
            </a:pPr>
            <a:r>
              <a:rPr b="1" sz="800">
                <a:solidFill>
                  <a:srgbClr val="B45309"/>
                </a:solidFill>
                <a:latin typeface="Arial"/>
              </a:rPr>
              <a:t>• Zero Literacy Barrier</a:t>
            </a:r>
          </a:p>
        </p:txBody>
      </p:sp>
      <p:sp>
        <p:nvSpPr>
          <p:cNvPr id="15369" name="Rounded Rectangle 15368"/>
          <p:cNvSpPr/>
          <p:nvPr/>
        </p:nvSpPr>
        <p:spPr>
          <a:xfrm>
            <a:off x="8997696" y="4279392"/>
            <a:ext cx="2642616" cy="1920240"/>
          </a:xfrm>
          <a:prstGeom prst="roundRect">
            <a:avLst/>
          </a:prstGeom>
          <a:solidFill>
            <a:srgbClr val="FAF5FF"/>
          </a:solidFill>
          <a:ln w="19050">
            <a:solidFill>
              <a:srgbClr val="E9D5FF"/>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bIns="73152"/>
          <a:lstStyle/>
          <a:p>
            <a:pPr algn="l"/>
            <a:r>
              <a:rPr b="1" sz="850">
                <a:solidFill>
                  <a:srgbClr val="6D28D9"/>
                </a:solidFill>
                <a:latin typeface="Arial"/>
              </a:rPr>
              <a:t>[INNOVATION 4]
</a:t>
            </a:r>
            <a:r>
              <a:rPr b="1" sz="1000">
                <a:solidFill>
                  <a:srgbClr val="0F172A"/>
                </a:solidFill>
                <a:latin typeface="Arial"/>
              </a:rPr>
              <a:t>Verifiable Chain of Custody</a:t>
            </a:r>
          </a:p>
          <a:p>
            <a:pPr algn="l">
              <a:spcBef>
                <a:spcPts val="300"/>
              </a:spcBef>
            </a:pPr>
            <a:r>
              <a:rPr b="0" sz="810">
                <a:solidFill>
                  <a:srgbClr val="334155"/>
                </a:solidFill>
                <a:latin typeface="Arial"/>
              </a:rPr>
              <a:t>Binds photo + weight + GPS + timestamp + unique lot ID + recycler confirmation into an auditable digital manifest for CPCB compliance.</a:t>
            </a:r>
          </a:p>
          <a:p>
            <a:pPr algn="r">
              <a:spcBef>
                <a:spcPts val="300"/>
              </a:spcBef>
            </a:pPr>
            <a:r>
              <a:rPr b="1" sz="800">
                <a:solidFill>
                  <a:srgbClr val="6D28D9"/>
                </a:solidFill>
                <a:latin typeface="Arial"/>
              </a:rPr>
              <a:t>• Track Every Handover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b="1" sz="3200">
                <a:solidFill>
                  <a:srgbClr val="0F172A"/>
                </a:solidFill>
                <a:latin typeface="Arial"/>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a:lstStyle/>
          <a:p>
            <a:pPr algn="ctr"/>
            <a:r>
              <a:rPr b="1" sz="1000">
                <a:solidFill>
                  <a:srgbClr val="0F172A"/>
                </a:solidFill>
                <a:latin typeface="Arial"/>
              </a:rPr>
              <a:t>HelloWorldWarriors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48640" y="987552"/>
            <a:ext cx="11091672" cy="292608"/>
          </a:xfrm>
          <a:prstGeom prst="rect">
            <a:avLst/>
          </a:prstGeom>
          <a:noFill/>
        </p:spPr>
        <p:txBody>
          <a:bodyPr wrap="square" lIns="0" tIns="0">
            <a:spAutoFit/>
          </a:bodyPr>
          <a:lstStyle/>
          <a:p>
            <a:pPr algn="l"/>
          </a:p>
        </p:txBody>
      </p:sp>
      <p:sp>
        <p:nvSpPr>
          <p:cNvPr id="17411" name="TextBox 17410"/>
          <p:cNvSpPr txBox="1"/>
          <p:nvPr/>
        </p:nvSpPr>
        <p:spPr>
          <a:xfrm>
            <a:off x="548640" y="987552"/>
            <a:ext cx="11091672" cy="292608"/>
          </a:xfrm>
          <a:prstGeom prst="rect">
            <a:avLst/>
          </a:prstGeom>
          <a:noFill/>
        </p:spPr>
        <p:txBody>
          <a:bodyPr wrap="square" lIns="0" tIns="0">
            <a:spAutoFit/>
          </a:bodyPr>
          <a:lstStyle/>
          <a:p>
            <a:pPr algn="l"/>
            <a:r>
              <a:rPr b="1" sz="1220">
                <a:solidFill>
                  <a:srgbClr val="0F172A"/>
                </a:solidFill>
                <a:latin typeface="Arial"/>
              </a:rPr>
              <a:t>From Collection to Authorized Recycling: </a:t>
            </a:r>
            <a:r>
              <a:rPr b="0" sz="1050">
                <a:solidFill>
                  <a:srgbClr val="166534"/>
                </a:solidFill>
                <a:latin typeface="Arial"/>
              </a:rPr>
              <a:t>End-to-End System Pipeline, AI Services &amp; Core Technology Stack</a:t>
            </a:r>
          </a:p>
        </p:txBody>
      </p:sp>
      <p:sp>
        <p:nvSpPr>
          <p:cNvPr id="17412" name="Rounded Rectangle 17411"/>
          <p:cNvSpPr/>
          <p:nvPr/>
        </p:nvSpPr>
        <p:spPr>
          <a:xfrm>
            <a:off x="548640" y="1316736"/>
            <a:ext cx="4462272" cy="2633472"/>
          </a:xfrm>
          <a:prstGeom prst="roundRect">
            <a:avLst/>
          </a:prstGeom>
          <a:solidFill>
            <a:srgbClr val="FFFFFF"/>
          </a:solidFill>
          <a:ln w="19050">
            <a:solidFill>
              <a:srgbClr val="BBF7D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200"/>
              </a:spcAft>
            </a:pPr>
            <a:r>
              <a:rPr b="1" sz="1019" u="sng">
                <a:solidFill>
                  <a:srgbClr val="166534"/>
                </a:solidFill>
                <a:latin typeface="Arial"/>
              </a:rPr>
              <a:t>CORE TECHNOLOGY STACK ARCHITECTURE</a:t>
            </a:r>
            <a:r>
              <a:rPr b="0" sz="800">
                <a:solidFill>
                  <a:srgbClr val="475569"/>
                </a:solidFill>
                <a:latin typeface="Arial"/>
              </a:rPr>
              <a:t>  |  Multi-Tier Production Design</a:t>
            </a:r>
          </a:p>
          <a:p>
            <a:pPr algn="l">
              <a:spcBef>
                <a:spcPts val="180"/>
              </a:spcBef>
              <a:spcAft>
                <a:spcPts val="0"/>
              </a:spcAft>
            </a:pPr>
            <a:r>
              <a:rPr b="1" sz="750">
                <a:solidFill>
                  <a:srgbClr val="166534"/>
                </a:solidFill>
                <a:latin typeface="Arial"/>
              </a:rPr>
              <a:t>• Frontend / Client: </a:t>
            </a:r>
            <a:r>
              <a:rPr b="1" sz="730">
                <a:solidFill>
                  <a:srgbClr val="0F172A"/>
                </a:solidFill>
                <a:latin typeface="Arial"/>
              </a:rPr>
              <a:t>[React 18 PWA + Vite + TypeScript] </a:t>
            </a:r>
            <a:r>
              <a:rPr b="0" sz="710">
                <a:solidFill>
                  <a:srgbClr val="334155"/>
                </a:solidFill>
                <a:latin typeface="Arial"/>
              </a:rPr>
              <a:t>Ultra-light progressive web app; runs in mobile browser on ₹4k Android phones with zero app-store download friction.</a:t>
            </a:r>
          </a:p>
          <a:p>
            <a:pPr algn="l">
              <a:spcBef>
                <a:spcPts val="180"/>
              </a:spcBef>
              <a:spcAft>
                <a:spcPts val="0"/>
              </a:spcAft>
            </a:pPr>
            <a:r>
              <a:rPr b="1" sz="750">
                <a:solidFill>
                  <a:srgbClr val="0369A1"/>
                </a:solidFill>
                <a:latin typeface="Arial"/>
              </a:rPr>
              <a:t>• Offline Resilience: </a:t>
            </a:r>
            <a:r>
              <a:rPr b="1" sz="730">
                <a:solidFill>
                  <a:srgbClr val="0F172A"/>
                </a:solidFill>
                <a:latin typeface="Arial"/>
              </a:rPr>
              <a:t>[IndexedDB + Dexie.js + Service Workers] </a:t>
            </a:r>
            <a:r>
              <a:rPr b="0" sz="710">
                <a:solidFill>
                  <a:srgbClr val="334155"/>
                </a:solidFill>
                <a:latin typeface="Arial"/>
              </a:rPr>
              <a:t>Full local offline queuing for weights, photos &amp; transactions; auto-syncs asynchronously upon 2G reconnection.</a:t>
            </a:r>
          </a:p>
          <a:p>
            <a:pPr algn="l">
              <a:spcBef>
                <a:spcPts val="180"/>
              </a:spcBef>
              <a:spcAft>
                <a:spcPts val="0"/>
              </a:spcAft>
            </a:pPr>
            <a:r>
              <a:rPr b="1" sz="750">
                <a:solidFill>
                  <a:srgbClr val="1E40AF"/>
                </a:solidFill>
                <a:latin typeface="Arial"/>
              </a:rPr>
              <a:t>• Backend &amp; REST APIs: </a:t>
            </a:r>
            <a:r>
              <a:rPr b="1" sz="730">
                <a:solidFill>
                  <a:srgbClr val="0F172A"/>
                </a:solidFill>
                <a:latin typeface="Arial"/>
              </a:rPr>
              <a:t>[Node.js + Fastify Core] </a:t>
            </a:r>
            <a:r>
              <a:rPr b="0" sz="710">
                <a:solidFill>
                  <a:srgbClr val="334155"/>
                </a:solidFill>
                <a:latin typeface="Arial"/>
              </a:rPr>
              <a:t>High-throughput microservices (&lt;20ms latency) handling batch lot creation, digital receipt dispatch &amp; auth.</a:t>
            </a:r>
          </a:p>
          <a:p>
            <a:pPr algn="l">
              <a:spcBef>
                <a:spcPts val="180"/>
              </a:spcBef>
              <a:spcAft>
                <a:spcPts val="0"/>
              </a:spcAft>
            </a:pPr>
            <a:r>
              <a:rPr b="1" sz="750">
                <a:solidFill>
                  <a:srgbClr val="6D28D9"/>
                </a:solidFill>
                <a:latin typeface="Arial"/>
              </a:rPr>
              <a:t>• Spatial Database: </a:t>
            </a:r>
            <a:r>
              <a:rPr b="1" sz="730">
                <a:solidFill>
                  <a:srgbClr val="0F172A"/>
                </a:solidFill>
                <a:latin typeface="Arial"/>
              </a:rPr>
              <a:t>[PostgreSQL 16 + PostGIS Extension] </a:t>
            </a:r>
            <a:r>
              <a:rPr b="0" sz="710">
                <a:solidFill>
                  <a:srgbClr val="334155"/>
                </a:solidFill>
                <a:latin typeface="Arial"/>
              </a:rPr>
              <a:t>Spatial indexing for aggregator-to-recycler matching, geo-fenced custody handovers, and pickup route planning.</a:t>
            </a:r>
          </a:p>
          <a:p>
            <a:pPr algn="l">
              <a:spcBef>
                <a:spcPts val="180"/>
              </a:spcBef>
              <a:spcAft>
                <a:spcPts val="0"/>
              </a:spcAft>
            </a:pPr>
            <a:r>
              <a:rPr b="1" sz="750">
                <a:solidFill>
                  <a:srgbClr val="991B1B"/>
                </a:solidFill>
                <a:latin typeface="Arial"/>
              </a:rPr>
              <a:t>• Vision &amp; OCR Engine: </a:t>
            </a:r>
            <a:r>
              <a:rPr b="1" sz="730">
                <a:solidFill>
                  <a:srgbClr val="0F172A"/>
                </a:solidFill>
                <a:latin typeface="Arial"/>
              </a:rPr>
              <a:t>[Python + OpenCV + EasyOCR] </a:t>
            </a:r>
            <a:r>
              <a:rPr b="0" sz="710">
                <a:solidFill>
                  <a:srgbClr val="334155"/>
                </a:solidFill>
                <a:latin typeface="Arial"/>
              </a:rPr>
              <a:t>Extracts numeric digits directly from scale screen photos to verify true weight without costly IoT hardware.</a:t>
            </a:r>
          </a:p>
          <a:p>
            <a:pPr algn="l">
              <a:spcBef>
                <a:spcPts val="180"/>
              </a:spcBef>
              <a:spcAft>
                <a:spcPts val="0"/>
              </a:spcAft>
            </a:pPr>
            <a:r>
              <a:rPr b="1" sz="750">
                <a:solidFill>
                  <a:srgbClr val="B45309"/>
                </a:solidFill>
                <a:latin typeface="Arial"/>
              </a:rPr>
              <a:t>• Security &amp; Custody: </a:t>
            </a:r>
            <a:r>
              <a:rPr b="1" sz="730">
                <a:solidFill>
                  <a:srgbClr val="0F172A"/>
                </a:solidFill>
                <a:latin typeface="Arial"/>
              </a:rPr>
              <a:t>[SHA-256 Hashes + Dynamic QR] </a:t>
            </a:r>
            <a:r>
              <a:rPr b="0" sz="710">
                <a:solidFill>
                  <a:srgbClr val="334155"/>
                </a:solidFill>
                <a:latin typeface="Arial"/>
              </a:rPr>
              <a:t>Cryptographic lot tokenization &amp; scannable receipts; generates verifiable audit trails for automated CPCB Form-6.</a:t>
            </a:r>
          </a:p>
          <a:p>
            <a:pPr algn="l">
              <a:spcBef>
                <a:spcPts val="180"/>
              </a:spcBef>
              <a:spcAft>
                <a:spcPts val="0"/>
              </a:spcAft>
            </a:pPr>
            <a:r>
              <a:rPr b="1" sz="750">
                <a:solidFill>
                  <a:srgbClr val="0F172A"/>
                </a:solidFill>
                <a:latin typeface="Arial"/>
              </a:rPr>
              <a:t>• Hardware Footprint: </a:t>
            </a:r>
            <a:r>
              <a:rPr b="1" sz="730">
                <a:solidFill>
                  <a:srgbClr val="0F172A"/>
                </a:solidFill>
                <a:latin typeface="Arial"/>
              </a:rPr>
              <a:t>[Zero Capex (100% BYOD Model)] </a:t>
            </a:r>
            <a:r>
              <a:rPr b="0" sz="710">
                <a:solidFill>
                  <a:srgbClr val="334155"/>
                </a:solidFill>
                <a:latin typeface="Arial"/>
              </a:rPr>
              <a:t>Works entirely on informal collectors' existing basic smartphones and scrap dealers' standard weighing scales.</a:t>
            </a:r>
          </a:p>
        </p:txBody>
      </p:sp>
      <p:sp>
        <p:nvSpPr>
          <p:cNvPr id="17413" name="Rounded Rectangle 17412"/>
          <p:cNvSpPr/>
          <p:nvPr/>
        </p:nvSpPr>
        <p:spPr>
          <a:xfrm>
            <a:off x="548640" y="4005072"/>
            <a:ext cx="4462272" cy="2249424"/>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200"/>
              </a:spcAft>
            </a:pPr>
            <a:r>
              <a:rPr b="1" sz="1019" u="sng">
                <a:solidFill>
                  <a:srgbClr val="1E40AF"/>
                </a:solidFill>
                <a:latin typeface="Arial"/>
              </a:rPr>
              <a:t>AI &amp; PLATFORM INTELLIGENCE (Platform Services)</a:t>
            </a:r>
          </a:p>
          <a:p>
            <a:pPr algn="l">
              <a:spcBef>
                <a:spcPts val="200"/>
              </a:spcBef>
              <a:spcAft>
                <a:spcPts val="50"/>
              </a:spcAft>
            </a:pPr>
            <a:r>
              <a:rPr b="1" sz="760">
                <a:solidFill>
                  <a:srgbClr val="0369A1"/>
                </a:solidFill>
                <a:latin typeface="Arial"/>
              </a:rPr>
              <a:t>• Material Identification: </a:t>
            </a:r>
            <a:r>
              <a:rPr b="0" sz="730">
                <a:solidFill>
                  <a:srgbClr val="334155"/>
                </a:solidFill>
                <a:latin typeface="Arial"/>
              </a:rPr>
              <a:t>Computer Vision &amp; MobileNet assist scrap &amp; PCB category classification from photos.</a:t>
            </a:r>
          </a:p>
          <a:p>
            <a:pPr algn="l">
              <a:spcBef>
                <a:spcPts val="200"/>
              </a:spcBef>
              <a:spcAft>
                <a:spcPts val="50"/>
              </a:spcAft>
            </a:pPr>
            <a:r>
              <a:rPr b="1" sz="760">
                <a:solidFill>
                  <a:srgbClr val="166534"/>
                </a:solidFill>
                <a:latin typeface="Arial"/>
              </a:rPr>
              <a:t>• Price Benchmark Index: </a:t>
            </a:r>
            <a:r>
              <a:rPr b="0" sz="730">
                <a:solidFill>
                  <a:srgbClr val="334155"/>
                </a:solidFill>
                <a:latin typeface="Arial"/>
              </a:rPr>
              <a:t>Current market price benchmark index for transparent fair valuation.</a:t>
            </a:r>
          </a:p>
          <a:p>
            <a:pPr algn="l">
              <a:spcBef>
                <a:spcPts val="200"/>
              </a:spcBef>
              <a:spcAft>
                <a:spcPts val="50"/>
              </a:spcAft>
            </a:pPr>
            <a:r>
              <a:rPr b="1" sz="760">
                <a:solidFill>
                  <a:srgbClr val="1E40AF"/>
                </a:solidFill>
                <a:latin typeface="Arial"/>
              </a:rPr>
              <a:t>• Recycler Matching: </a:t>
            </a:r>
            <a:r>
              <a:rPr b="0" sz="730">
                <a:solidFill>
                  <a:srgbClr val="334155"/>
                </a:solidFill>
                <a:latin typeface="Arial"/>
              </a:rPr>
              <a:t>Spatial routing algorithm matches bulk lots with verified recyclers by license, material &amp; pickup radius.</a:t>
            </a:r>
          </a:p>
          <a:p>
            <a:pPr algn="l">
              <a:spcBef>
                <a:spcPts val="200"/>
              </a:spcBef>
              <a:spcAft>
                <a:spcPts val="50"/>
              </a:spcAft>
            </a:pPr>
            <a:r>
              <a:rPr b="1" sz="760">
                <a:solidFill>
                  <a:srgbClr val="991B1B"/>
                </a:solidFill>
                <a:latin typeface="Arial"/>
              </a:rPr>
              <a:t>• Anomaly Detection: </a:t>
            </a:r>
            <a:r>
              <a:rPr b="0" sz="730">
                <a:solidFill>
                  <a:srgbClr val="334155"/>
                </a:solidFill>
                <a:latin typeface="Arial"/>
              </a:rPr>
              <a:t>Photo-based weight evidence &amp; discrepancy detection flags volume/price irregularities across handovers.</a:t>
            </a:r>
          </a:p>
          <a:p>
            <a:pPr algn="l">
              <a:spcBef>
                <a:spcPts val="200"/>
              </a:spcBef>
              <a:spcAft>
                <a:spcPts val="50"/>
              </a:spcAft>
            </a:pPr>
            <a:r>
              <a:rPr b="1" sz="760">
                <a:solidFill>
                  <a:srgbClr val="B45309"/>
                </a:solidFill>
                <a:latin typeface="Arial"/>
              </a:rPr>
              <a:t>• Voice Assistance: </a:t>
            </a:r>
            <a:r>
              <a:rPr b="0" sz="730">
                <a:solidFill>
                  <a:srgbClr val="334155"/>
                </a:solidFill>
                <a:latin typeface="Arial"/>
              </a:rPr>
              <a:t>Speech recognition in 10 regional Indian dialects for low-literacy informal collectors.</a:t>
            </a:r>
          </a:p>
          <a:p>
            <a:pPr algn="l">
              <a:spcBef>
                <a:spcPts val="200"/>
              </a:spcBef>
              <a:spcAft>
                <a:spcPts val="50"/>
              </a:spcAft>
            </a:pPr>
            <a:r>
              <a:rPr b="1" sz="760">
                <a:solidFill>
                  <a:srgbClr val="6D28D9"/>
                </a:solidFill>
                <a:latin typeface="Arial"/>
              </a:rPr>
              <a:t>• Offline Sync Engine: </a:t>
            </a:r>
            <a:r>
              <a:rPr b="0" sz="730">
                <a:solidFill>
                  <a:srgbClr val="334155"/>
                </a:solidFill>
                <a:latin typeface="Arial"/>
              </a:rPr>
              <a:t>Dexie.js IndexedDB buffer queues transactions locally in 2G dead zones.</a:t>
            </a:r>
          </a:p>
        </p:txBody>
      </p:sp>
      <p:sp>
        <p:nvSpPr>
          <p:cNvPr id="17414" name="TextBox 17413"/>
          <p:cNvSpPr txBox="1"/>
          <p:nvPr/>
        </p:nvSpPr>
        <p:spPr>
          <a:xfrm>
            <a:off x="5230368" y="1316736"/>
            <a:ext cx="6419088" cy="219456"/>
          </a:xfrm>
          <a:prstGeom prst="rect">
            <a:avLst/>
          </a:prstGeom>
          <a:noFill/>
        </p:spPr>
        <p:txBody>
          <a:bodyPr wrap="square" lIns="0" tIns="0">
            <a:spAutoFit/>
          </a:bodyPr>
          <a:lstStyle/>
          <a:p>
            <a:pPr algn="l"/>
            <a:r>
              <a:rPr b="1" sz="1120" u="sng">
                <a:solidFill>
                  <a:srgbClr val="0F172A"/>
                </a:solidFill>
                <a:latin typeface="Arial"/>
              </a:rPr>
              <a:t>Methodology: End-to-End Visual Processing Pipeline</a:t>
            </a:r>
          </a:p>
        </p:txBody>
      </p:sp>
      <p:sp>
        <p:nvSpPr>
          <p:cNvPr id="17415" name="Rounded Rectangle 17414"/>
          <p:cNvSpPr/>
          <p:nvPr/>
        </p:nvSpPr>
        <p:spPr>
          <a:xfrm>
            <a:off x="5230368" y="1591056"/>
            <a:ext cx="6419088" cy="585216"/>
          </a:xfrm>
          <a:prstGeom prst="roundRect">
            <a:avLst/>
          </a:prstGeom>
          <a:solidFill>
            <a:srgbClr val="FFFFFF"/>
          </a:solidFill>
          <a:ln w="16510">
            <a:solidFill>
              <a:srgbClr val="BBF7D0"/>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36576" bIns="27432"/>
          <a:lstStyle/>
          <a:p>
            <a:pPr algn="l"/>
            <a:r>
              <a:rPr b="1" sz="780">
                <a:solidFill>
                  <a:srgbClr val="166534"/>
                </a:solidFill>
                <a:latin typeface="Arial"/>
              </a:rPr>
              <a:t>[STEP 1 — COLLECT &amp; IDENTIFY]</a:t>
            </a:r>
            <a:r>
              <a:rPr b="1" sz="780">
                <a:solidFill>
                  <a:srgbClr val="0F172A"/>
                </a:solidFill>
                <a:latin typeface="Arial"/>
              </a:rPr>
              <a:t>  |  Role: Small Informal Collector</a:t>
            </a:r>
          </a:p>
          <a:p>
            <a:pPr algn="l">
              <a:spcBef>
                <a:spcPts val="100"/>
              </a:spcBef>
              <a:spcAft>
                <a:spcPts val="0"/>
              </a:spcAft>
            </a:pPr>
            <a:r>
              <a:rPr b="1" sz="730">
                <a:solidFill>
                  <a:srgbClr val="166534"/>
                </a:solidFill>
                <a:latin typeface="Arial"/>
              </a:rPr>
              <a:t>• Action: </a:t>
            </a:r>
            <a:r>
              <a:rPr b="0" sz="730">
                <a:solidFill>
                  <a:srgbClr val="0F172A"/>
                </a:solidFill>
                <a:latin typeface="Arial"/>
              </a:rPr>
              <a:t>Takes photo of scrap; selects material category via visual touch UI or optional 10-language voice.</a:t>
            </a:r>
          </a:p>
          <a:p>
            <a:pPr algn="l">
              <a:spcBef>
                <a:spcPts val="50"/>
              </a:spcBef>
              <a:spcAft>
                <a:spcPts val="0"/>
              </a:spcAft>
            </a:pPr>
            <a:r>
              <a:rPr b="1" sz="730">
                <a:solidFill>
                  <a:srgbClr val="334155"/>
                </a:solidFill>
                <a:latin typeface="Arial"/>
              </a:rPr>
              <a:t>• System: </a:t>
            </a:r>
            <a:r>
              <a:rPr b="0" sz="720">
                <a:solidFill>
                  <a:srgbClr val="475569"/>
                </a:solidFill>
                <a:latin typeface="Arial"/>
              </a:rPr>
              <a:t>Displays current market price benchmarks; buffers entry locally in IndexedDB if offline.</a:t>
            </a:r>
          </a:p>
        </p:txBody>
      </p:sp>
      <p:sp>
        <p:nvSpPr>
          <p:cNvPr id="17416" name="Down Arrow 17415"/>
          <p:cNvSpPr/>
          <p:nvPr/>
        </p:nvSpPr>
        <p:spPr>
          <a:xfrm>
            <a:off x="8357616" y="2231136"/>
            <a:ext cx="164592" cy="137160"/>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Rounded Rectangle 17416"/>
          <p:cNvSpPr/>
          <p:nvPr/>
        </p:nvSpPr>
        <p:spPr>
          <a:xfrm>
            <a:off x="5230368" y="2423160"/>
            <a:ext cx="6419088" cy="585216"/>
          </a:xfrm>
          <a:prstGeom prst="roundRect">
            <a:avLst/>
          </a:prstGeom>
          <a:solidFill>
            <a:srgbClr val="FFFFFF"/>
          </a:solidFill>
          <a:ln w="16510">
            <a:solidFill>
              <a:srgbClr val="BAE6FD"/>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36576" bIns="27432"/>
          <a:lstStyle/>
          <a:p>
            <a:pPr algn="l"/>
            <a:r>
              <a:rPr b="1" sz="780">
                <a:solidFill>
                  <a:srgbClr val="1E40AF"/>
                </a:solidFill>
                <a:latin typeface="Arial"/>
              </a:rPr>
              <a:t>[STEP 2 — CREATE DIGITAL LOT]</a:t>
            </a:r>
            <a:r>
              <a:rPr b="1" sz="780">
                <a:solidFill>
                  <a:srgbClr val="0F172A"/>
                </a:solidFill>
                <a:latin typeface="Arial"/>
              </a:rPr>
              <a:t>  |  Role: Digital Lot Generator</a:t>
            </a:r>
          </a:p>
          <a:p>
            <a:pPr algn="l">
              <a:spcBef>
                <a:spcPts val="100"/>
              </a:spcBef>
              <a:spcAft>
                <a:spcPts val="0"/>
              </a:spcAft>
            </a:pPr>
            <a:r>
              <a:rPr b="1" sz="730">
                <a:solidFill>
                  <a:srgbClr val="1E40AF"/>
                </a:solidFill>
                <a:latin typeface="Arial"/>
              </a:rPr>
              <a:t>• Action: </a:t>
            </a:r>
            <a:r>
              <a:rPr b="0" sz="730">
                <a:solidFill>
                  <a:srgbClr val="0F172A"/>
                </a:solidFill>
                <a:latin typeface="Arial"/>
              </a:rPr>
              <a:t>Pre-calibrates lot with material type, estimated weight, photo evidence, and collector profile ID.</a:t>
            </a:r>
          </a:p>
          <a:p>
            <a:pPr algn="l">
              <a:spcBef>
                <a:spcPts val="50"/>
              </a:spcBef>
              <a:spcAft>
                <a:spcPts val="0"/>
              </a:spcAft>
            </a:pPr>
            <a:r>
              <a:rPr b="1" sz="730">
                <a:solidFill>
                  <a:srgbClr val="334155"/>
                </a:solidFill>
                <a:latin typeface="Arial"/>
              </a:rPr>
              <a:t>• System: </a:t>
            </a:r>
            <a:r>
              <a:rPr b="0" sz="720">
                <a:solidFill>
                  <a:srgbClr val="475569"/>
                </a:solidFill>
                <a:latin typeface="Arial"/>
              </a:rPr>
              <a:t>Binds GPS geolocation and server timestamp, generating an unconfirmed preliminary batch record.</a:t>
            </a:r>
          </a:p>
        </p:txBody>
      </p:sp>
      <p:sp>
        <p:nvSpPr>
          <p:cNvPr id="17418" name="Down Arrow 17417"/>
          <p:cNvSpPr/>
          <p:nvPr/>
        </p:nvSpPr>
        <p:spPr>
          <a:xfrm>
            <a:off x="8357616" y="3063240"/>
            <a:ext cx="164592" cy="137160"/>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Rounded Rectangle 17418"/>
          <p:cNvSpPr/>
          <p:nvPr/>
        </p:nvSpPr>
        <p:spPr>
          <a:xfrm>
            <a:off x="5230368" y="3255264"/>
            <a:ext cx="6419088" cy="585216"/>
          </a:xfrm>
          <a:prstGeom prst="roundRect">
            <a:avLst/>
          </a:prstGeom>
          <a:solidFill>
            <a:srgbClr val="FFFFFF"/>
          </a:solidFill>
          <a:ln w="16510">
            <a:solidFill>
              <a:srgbClr val="FDE68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36576" bIns="27432"/>
          <a:lstStyle/>
          <a:p>
            <a:pPr algn="l"/>
            <a:r>
              <a:rPr b="1" sz="780">
                <a:solidFill>
                  <a:srgbClr val="B45309"/>
                </a:solidFill>
                <a:latin typeface="Arial"/>
              </a:rPr>
              <a:t>[STEP 3 — LOCAL HUB / AGGREGATOR]</a:t>
            </a:r>
            <a:r>
              <a:rPr b="1" sz="780">
                <a:solidFill>
                  <a:srgbClr val="0F172A"/>
                </a:solidFill>
                <a:latin typeface="Arial"/>
              </a:rPr>
              <a:t>  |  Role: Collection Hub / Scrap Dealer</a:t>
            </a:r>
          </a:p>
          <a:p>
            <a:pPr algn="l">
              <a:spcBef>
                <a:spcPts val="100"/>
              </a:spcBef>
              <a:spcAft>
                <a:spcPts val="0"/>
              </a:spcAft>
            </a:pPr>
            <a:r>
              <a:rPr b="1" sz="730">
                <a:solidFill>
                  <a:srgbClr val="B45309"/>
                </a:solidFill>
                <a:latin typeface="Arial"/>
              </a:rPr>
              <a:t>• Action: </a:t>
            </a:r>
            <a:r>
              <a:rPr b="0" sz="730">
                <a:solidFill>
                  <a:srgbClr val="0F172A"/>
                </a:solidFill>
                <a:latin typeface="Arial"/>
              </a:rPr>
              <a:t>Receives small collector lots; camera snaps scale display. Settle: Cash or UPI ➔ digital receipt.</a:t>
            </a:r>
          </a:p>
          <a:p>
            <a:pPr algn="l">
              <a:spcBef>
                <a:spcPts val="50"/>
              </a:spcBef>
              <a:spcAft>
                <a:spcPts val="0"/>
              </a:spcAft>
            </a:pPr>
            <a:r>
              <a:rPr b="1" sz="730">
                <a:solidFill>
                  <a:srgbClr val="334155"/>
                </a:solidFill>
                <a:latin typeface="Arial"/>
              </a:rPr>
              <a:t>• System: </a:t>
            </a:r>
            <a:r>
              <a:rPr b="0" sz="720">
                <a:solidFill>
                  <a:srgbClr val="475569"/>
                </a:solidFill>
                <a:latin typeface="Arial"/>
              </a:rPr>
              <a:t>OpenCV + EasyOCR extracts scale digits for photo-based weight evidence &amp; discrepancy detection.</a:t>
            </a:r>
          </a:p>
        </p:txBody>
      </p:sp>
      <p:sp>
        <p:nvSpPr>
          <p:cNvPr id="17420" name="Down Arrow 17419"/>
          <p:cNvSpPr/>
          <p:nvPr/>
        </p:nvSpPr>
        <p:spPr>
          <a:xfrm>
            <a:off x="8357616" y="3895344"/>
            <a:ext cx="164592" cy="137160"/>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ounded Rectangle 17420"/>
          <p:cNvSpPr/>
          <p:nvPr/>
        </p:nvSpPr>
        <p:spPr>
          <a:xfrm>
            <a:off x="5230368" y="4087368"/>
            <a:ext cx="6419088" cy="585216"/>
          </a:xfrm>
          <a:prstGeom prst="roundRect">
            <a:avLst/>
          </a:prstGeom>
          <a:solidFill>
            <a:srgbClr val="FFFFFF"/>
          </a:solidFill>
          <a:ln w="1651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36576" bIns="27432"/>
          <a:lstStyle/>
          <a:p>
            <a:pPr algn="l"/>
            <a:r>
              <a:rPr b="1" sz="780">
                <a:solidFill>
                  <a:srgbClr val="0F172A"/>
                </a:solidFill>
                <a:latin typeface="Arial"/>
              </a:rPr>
              <a:t>[STEP 4 — BULK AGGREGATION &amp; TRANSFER]</a:t>
            </a:r>
            <a:r>
              <a:rPr b="1" sz="780">
                <a:solidFill>
                  <a:srgbClr val="0F172A"/>
                </a:solidFill>
                <a:latin typeface="Arial"/>
              </a:rPr>
              <a:t>  |  Role: Aggregator / Bulk Trader</a:t>
            </a:r>
          </a:p>
          <a:p>
            <a:pPr algn="l">
              <a:spcBef>
                <a:spcPts val="100"/>
              </a:spcBef>
              <a:spcAft>
                <a:spcPts val="0"/>
              </a:spcAft>
            </a:pPr>
            <a:r>
              <a:rPr b="1" sz="730">
                <a:solidFill>
                  <a:srgbClr val="0F172A"/>
                </a:solidFill>
                <a:latin typeface="Arial"/>
              </a:rPr>
              <a:t>• Action: </a:t>
            </a:r>
            <a:r>
              <a:rPr b="0" sz="730">
                <a:solidFill>
                  <a:srgbClr val="0F172A"/>
                </a:solidFill>
                <a:latin typeface="Arial"/>
              </a:rPr>
              <a:t>Combines small lots into bulk batches; system matches lot with eligible authorized recyclers.</a:t>
            </a:r>
          </a:p>
          <a:p>
            <a:pPr algn="l">
              <a:spcBef>
                <a:spcPts val="50"/>
              </a:spcBef>
              <a:spcAft>
                <a:spcPts val="0"/>
              </a:spcAft>
            </a:pPr>
            <a:r>
              <a:rPr b="1" sz="730">
                <a:solidFill>
                  <a:srgbClr val="334155"/>
                </a:solidFill>
                <a:latin typeface="Arial"/>
              </a:rPr>
              <a:t>• System: </a:t>
            </a:r>
            <a:r>
              <a:rPr b="0" sz="720">
                <a:solidFill>
                  <a:srgbClr val="475569"/>
                </a:solidFill>
                <a:latin typeface="Arial"/>
              </a:rPr>
              <a:t>PostGIS engine clusters routes and dispatches authorized trucks; driver scans lot QR on pickup.</a:t>
            </a:r>
          </a:p>
        </p:txBody>
      </p:sp>
      <p:sp>
        <p:nvSpPr>
          <p:cNvPr id="17422" name="Down Arrow 17421"/>
          <p:cNvSpPr/>
          <p:nvPr/>
        </p:nvSpPr>
        <p:spPr>
          <a:xfrm>
            <a:off x="8357616" y="4727448"/>
            <a:ext cx="164592" cy="137160"/>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Rounded Rectangle 17422"/>
          <p:cNvSpPr/>
          <p:nvPr/>
        </p:nvSpPr>
        <p:spPr>
          <a:xfrm>
            <a:off x="5230368" y="4919472"/>
            <a:ext cx="6419088" cy="585216"/>
          </a:xfrm>
          <a:prstGeom prst="roundRect">
            <a:avLst/>
          </a:prstGeom>
          <a:solidFill>
            <a:srgbClr val="FFFFFF"/>
          </a:solidFill>
          <a:ln w="16510">
            <a:solidFill>
              <a:srgbClr val="E9D5FF"/>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36576" bIns="27432"/>
          <a:lstStyle/>
          <a:p>
            <a:pPr algn="l"/>
            <a:r>
              <a:rPr b="1" sz="780">
                <a:solidFill>
                  <a:srgbClr val="6D28D9"/>
                </a:solidFill>
                <a:latin typeface="Arial"/>
              </a:rPr>
              <a:t>[STEP 5 — AUTHORIZED RECYCLER]</a:t>
            </a:r>
            <a:r>
              <a:rPr b="1" sz="780">
                <a:solidFill>
                  <a:srgbClr val="0F172A"/>
                </a:solidFill>
                <a:latin typeface="Arial"/>
              </a:rPr>
              <a:t>  |  Role: CPCB Authorized Recycling Plant</a:t>
            </a:r>
          </a:p>
          <a:p>
            <a:pPr algn="l">
              <a:spcBef>
                <a:spcPts val="100"/>
              </a:spcBef>
              <a:spcAft>
                <a:spcPts val="0"/>
              </a:spcAft>
            </a:pPr>
            <a:r>
              <a:rPr b="1" sz="730">
                <a:solidFill>
                  <a:srgbClr val="6D28D9"/>
                </a:solidFill>
                <a:latin typeface="Arial"/>
              </a:rPr>
              <a:t>• Action: </a:t>
            </a:r>
            <a:r>
              <a:rPr b="0" sz="730">
                <a:solidFill>
                  <a:srgbClr val="0F172A"/>
                </a:solidFill>
                <a:latin typeface="Arial"/>
              </a:rPr>
              <a:t>Receives shipment, verifies sealed QR tag, inspects weight &amp; material for scientific recovery.</a:t>
            </a:r>
          </a:p>
          <a:p>
            <a:pPr algn="l">
              <a:spcBef>
                <a:spcPts val="50"/>
              </a:spcBef>
              <a:spcAft>
                <a:spcPts val="0"/>
              </a:spcAft>
            </a:pPr>
            <a:r>
              <a:rPr b="1" sz="730">
                <a:solidFill>
                  <a:srgbClr val="334155"/>
                </a:solidFill>
                <a:latin typeface="Arial"/>
              </a:rPr>
              <a:t>• System: </a:t>
            </a:r>
            <a:r>
              <a:rPr b="0" sz="720">
                <a:solidFill>
                  <a:srgbClr val="475569"/>
                </a:solidFill>
                <a:latin typeface="Arial"/>
              </a:rPr>
              <a:t>Confirms legal custody handover; auto-submits digital Form-6 manifest to national CPCB portal.</a:t>
            </a:r>
          </a:p>
        </p:txBody>
      </p:sp>
      <p:sp>
        <p:nvSpPr>
          <p:cNvPr id="17424" name="Rounded Rectangle 17423"/>
          <p:cNvSpPr/>
          <p:nvPr/>
        </p:nvSpPr>
        <p:spPr>
          <a:xfrm>
            <a:off x="5230368" y="5705856"/>
            <a:ext cx="6419088" cy="548640"/>
          </a:xfrm>
          <a:prstGeom prst="roundRect">
            <a:avLst/>
          </a:prstGeom>
          <a:solidFill>
            <a:srgbClr val="F0FDF4"/>
          </a:solidFill>
          <a:ln w="16510">
            <a:solidFill>
              <a:srgbClr val="BBF7D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ctr"/>
            <a:r>
              <a:rPr b="1" sz="819">
                <a:solidFill>
                  <a:srgbClr val="166534"/>
                </a:solidFill>
                <a:latin typeface="Arial"/>
              </a:rPr>
              <a:t>VERIFIABLE CHAIN OF CUSTODY (TRACEABILITY STRIP)</a:t>
            </a:r>
          </a:p>
          <a:p>
            <a:pPr algn="ctr">
              <a:spcBef>
                <a:spcPts val="150"/>
              </a:spcBef>
            </a:pPr>
            <a:r>
              <a:rPr b="1" sz="770">
                <a:solidFill>
                  <a:srgbClr val="0F172A"/>
                </a:solidFill>
                <a:latin typeface="Arial"/>
              </a:rPr>
              <a:t>Every Stage Recorded ➔ Photo Proof + Scale Weight + Agreed Price + GPS + Timestamp + QR Reference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b="1" sz="3200">
                <a:solidFill>
                  <a:srgbClr val="0F172A"/>
                </a:solidFill>
                <a:latin typeface="Arial"/>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a:lstStyle/>
          <a:p>
            <a:pPr algn="ctr"/>
            <a:r>
              <a:rPr b="1" sz="1000">
                <a:solidFill>
                  <a:srgbClr val="0F172A"/>
                </a:solidFill>
                <a:latin typeface="Arial"/>
              </a:rPr>
              <a:t>HelloWorldWarriors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48640" y="987552"/>
            <a:ext cx="11091672" cy="292608"/>
          </a:xfrm>
          <a:prstGeom prst="rect">
            <a:avLst/>
          </a:prstGeom>
          <a:noFill/>
        </p:spPr>
        <p:txBody>
          <a:bodyPr wrap="square" lIns="0" tIns="0">
            <a:spAutoFit/>
          </a:bodyPr>
          <a:lstStyle/>
          <a:p>
            <a:pPr algn="l"/>
            <a:r>
              <a:rPr b="1" sz="1200">
                <a:solidFill>
                  <a:srgbClr val="0F172A"/>
                </a:solidFill>
                <a:latin typeface="Arial"/>
              </a:rPr>
              <a:t>Ground Reality &amp; Operational Viability: </a:t>
            </a:r>
            <a:r>
              <a:rPr b="0" sz="1050">
                <a:solidFill>
                  <a:srgbClr val="166534"/>
                </a:solidFill>
                <a:latin typeface="Arial"/>
              </a:rPr>
              <a:t>Multi-Pillar Feasibility Analysis &amp; Defensible Risk Mitigation</a:t>
            </a:r>
          </a:p>
        </p:txBody>
      </p:sp>
      <p:sp>
        <p:nvSpPr>
          <p:cNvPr id="17411" name="Rounded Rectangle 17410"/>
          <p:cNvSpPr/>
          <p:nvPr/>
        </p:nvSpPr>
        <p:spPr>
          <a:xfrm>
            <a:off x="548640" y="1316736"/>
            <a:ext cx="5349240" cy="1572768"/>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64008"/>
          <a:lstStyle/>
          <a:p>
            <a:pPr algn="l"/>
            <a:r>
              <a:rPr b="1" sz="1019" u="sng">
                <a:solidFill>
                  <a:srgbClr val="1E40AF"/>
                </a:solidFill>
                <a:latin typeface="Arial"/>
              </a:rPr>
              <a:t>TECHNICAL FEASIBILITY</a:t>
            </a:r>
            <a:r>
              <a:rPr b="0" sz="760">
                <a:solidFill>
                  <a:srgbClr val="475569"/>
                </a:solidFill>
                <a:latin typeface="Arial"/>
              </a:rPr>
              <a:t>  |  Low-Spec Readiness &amp; Scalable Backend</a:t>
            </a:r>
          </a:p>
          <a:p>
            <a:pPr algn="l">
              <a:spcBef>
                <a:spcPts val="150"/>
              </a:spcBef>
              <a:spcAft>
                <a:spcPts val="0"/>
              </a:spcAft>
            </a:pPr>
            <a:r>
              <a:rPr b="1" sz="760">
                <a:solidFill>
                  <a:srgbClr val="0369A1"/>
                </a:solidFill>
                <a:latin typeface="Arial"/>
              </a:rPr>
              <a:t>• Low-End Android: </a:t>
            </a:r>
            <a:r>
              <a:rPr b="0" sz="730">
                <a:solidFill>
                  <a:srgbClr val="334155"/>
                </a:solidFill>
                <a:latin typeface="Arial"/>
              </a:rPr>
              <a:t>Lightweight PWA designed for entry-level devices with minimal RAM footprint.</a:t>
            </a:r>
          </a:p>
          <a:p>
            <a:pPr algn="l">
              <a:spcBef>
                <a:spcPts val="150"/>
              </a:spcBef>
              <a:spcAft>
                <a:spcPts val="0"/>
              </a:spcAft>
            </a:pPr>
            <a:r>
              <a:rPr b="1" sz="760">
                <a:solidFill>
                  <a:srgbClr val="166534"/>
                </a:solidFill>
                <a:latin typeface="Arial"/>
              </a:rPr>
              <a:t>• AI-Assisted Identification: </a:t>
            </a:r>
            <a:r>
              <a:rPr b="0" sz="730">
                <a:solidFill>
                  <a:srgbClr val="334155"/>
                </a:solidFill>
                <a:latin typeface="Arial"/>
              </a:rPr>
              <a:t>Camera-based material recognition assisting scrap category classification.</a:t>
            </a:r>
          </a:p>
          <a:p>
            <a:pPr algn="l">
              <a:spcBef>
                <a:spcPts val="150"/>
              </a:spcBef>
              <a:spcAft>
                <a:spcPts val="0"/>
              </a:spcAft>
            </a:pPr>
            <a:r>
              <a:rPr b="1" sz="760">
                <a:solidFill>
                  <a:srgbClr val="1E40AF"/>
                </a:solidFill>
                <a:latin typeface="Arial"/>
              </a:rPr>
              <a:t>• Weight Verification: </a:t>
            </a:r>
            <a:r>
              <a:rPr b="0" sz="730">
                <a:solidFill>
                  <a:srgbClr val="334155"/>
                </a:solidFill>
                <a:latin typeface="Arial"/>
              </a:rPr>
              <a:t>Scale-photo OCR provides verifiable weight evidence from existing scales.</a:t>
            </a:r>
          </a:p>
          <a:p>
            <a:pPr algn="l">
              <a:spcBef>
                <a:spcPts val="150"/>
              </a:spcBef>
              <a:spcAft>
                <a:spcPts val="0"/>
              </a:spcAft>
            </a:pPr>
            <a:r>
              <a:rPr b="1" sz="760">
                <a:solidFill>
                  <a:srgbClr val="6D28D9"/>
                </a:solidFill>
                <a:latin typeface="Arial"/>
              </a:rPr>
              <a:t>• Offline-First: </a:t>
            </a:r>
            <a:r>
              <a:rPr b="0" sz="730">
                <a:solidFill>
                  <a:srgbClr val="334155"/>
                </a:solidFill>
                <a:latin typeface="Arial"/>
              </a:rPr>
              <a:t>Digital lots and transactions are stored locally and synced when signal returns.</a:t>
            </a:r>
          </a:p>
          <a:p>
            <a:pPr algn="l">
              <a:spcBef>
                <a:spcPts val="150"/>
              </a:spcBef>
              <a:spcAft>
                <a:spcPts val="0"/>
              </a:spcAft>
            </a:pPr>
            <a:r>
              <a:rPr b="1" sz="760">
                <a:solidFill>
                  <a:srgbClr val="0F172A"/>
                </a:solidFill>
                <a:latin typeface="Arial"/>
              </a:rPr>
              <a:t>• Scalable Backend: </a:t>
            </a:r>
            <a:r>
              <a:rPr b="0" sz="730">
                <a:solidFill>
                  <a:srgbClr val="334155"/>
                </a:solidFill>
                <a:latin typeface="Arial"/>
              </a:rPr>
              <a:t>PostgreSQL + PostGIS for transactions, locations, and recycler matching.</a:t>
            </a:r>
          </a:p>
        </p:txBody>
      </p:sp>
      <p:sp>
        <p:nvSpPr>
          <p:cNvPr id="17412" name="Rounded Rectangle 17411"/>
          <p:cNvSpPr/>
          <p:nvPr/>
        </p:nvSpPr>
        <p:spPr>
          <a:xfrm>
            <a:off x="548640" y="2962656"/>
            <a:ext cx="5349240" cy="1572768"/>
          </a:xfrm>
          <a:prstGeom prst="roundRect">
            <a:avLst/>
          </a:prstGeom>
          <a:solidFill>
            <a:srgbClr val="FFFFFF"/>
          </a:solidFill>
          <a:ln w="19050">
            <a:solidFill>
              <a:srgbClr val="BBF7D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64008"/>
          <a:lstStyle/>
          <a:p>
            <a:pPr algn="l"/>
            <a:r>
              <a:rPr b="1" sz="1019" u="sng">
                <a:solidFill>
                  <a:srgbClr val="166534"/>
                </a:solidFill>
                <a:latin typeface="Arial"/>
              </a:rPr>
              <a:t>OPERATIONAL FEASIBILITY</a:t>
            </a:r>
            <a:r>
              <a:rPr b="0" sz="760">
                <a:solidFill>
                  <a:srgbClr val="475569"/>
                </a:solidFill>
                <a:latin typeface="Arial"/>
              </a:rPr>
              <a:t>  |  Aligned with Ground Scrap Realities</a:t>
            </a:r>
          </a:p>
          <a:p>
            <a:pPr algn="l">
              <a:spcBef>
                <a:spcPts val="150"/>
              </a:spcBef>
              <a:spcAft>
                <a:spcPts val="0"/>
              </a:spcAft>
            </a:pPr>
            <a:r>
              <a:rPr b="1" sz="760">
                <a:solidFill>
                  <a:srgbClr val="166534"/>
                </a:solidFill>
                <a:latin typeface="Arial"/>
              </a:rPr>
              <a:t>• Voice + Pictorial UX: </a:t>
            </a:r>
            <a:r>
              <a:rPr b="0" sz="730">
                <a:solidFill>
                  <a:srgbClr val="334155"/>
                </a:solidFill>
                <a:latin typeface="Arial"/>
              </a:rPr>
              <a:t>Reduces reading and typing through visual category icons and regional voice.</a:t>
            </a:r>
          </a:p>
          <a:p>
            <a:pPr algn="l">
              <a:spcBef>
                <a:spcPts val="150"/>
              </a:spcBef>
              <a:spcAft>
                <a:spcPts val="0"/>
              </a:spcAft>
            </a:pPr>
            <a:r>
              <a:rPr b="1" sz="760">
                <a:solidFill>
                  <a:srgbClr val="0369A1"/>
                </a:solidFill>
                <a:latin typeface="Arial"/>
              </a:rPr>
              <a:t>• Existing Scrap Shops as Hubs: </a:t>
            </a:r>
            <a:r>
              <a:rPr b="0" sz="730">
                <a:solidFill>
                  <a:srgbClr val="334155"/>
                </a:solidFill>
                <a:latin typeface="Arial"/>
              </a:rPr>
              <a:t>Works with the current informal network, onboarding established dealers.</a:t>
            </a:r>
          </a:p>
          <a:p>
            <a:pPr algn="l">
              <a:spcBef>
                <a:spcPts val="150"/>
              </a:spcBef>
              <a:spcAft>
                <a:spcPts val="0"/>
              </a:spcAft>
            </a:pPr>
            <a:r>
              <a:rPr b="1" sz="760">
                <a:solidFill>
                  <a:srgbClr val="1E40AF"/>
                </a:solidFill>
                <a:latin typeface="Arial"/>
              </a:rPr>
              <a:t>• Small Lots ➔ Bulk Lots: </a:t>
            </a:r>
            <a:r>
              <a:rPr b="0" sz="730">
                <a:solidFill>
                  <a:srgbClr val="334155"/>
                </a:solidFill>
                <a:latin typeface="Arial"/>
              </a:rPr>
              <a:t>Directly matches how scrap is naturally collected and aggregated in the field.</a:t>
            </a:r>
          </a:p>
          <a:p>
            <a:pPr algn="l">
              <a:spcBef>
                <a:spcPts val="150"/>
              </a:spcBef>
              <a:spcAft>
                <a:spcPts val="0"/>
              </a:spcAft>
            </a:pPr>
            <a:r>
              <a:rPr b="1" sz="760">
                <a:solidFill>
                  <a:srgbClr val="B45309"/>
                </a:solidFill>
                <a:latin typeface="Arial"/>
              </a:rPr>
              <a:t>• Recycler Pickup Logistics: </a:t>
            </a:r>
            <a:r>
              <a:rPr b="0" sz="730">
                <a:solidFill>
                  <a:srgbClr val="334155"/>
                </a:solidFill>
                <a:latin typeface="Arial"/>
              </a:rPr>
              <a:t>Avoids requiring individual informal collectors to transport heavy material.</a:t>
            </a:r>
          </a:p>
          <a:p>
            <a:pPr algn="l">
              <a:spcBef>
                <a:spcPts val="150"/>
              </a:spcBef>
              <a:spcAft>
                <a:spcPts val="0"/>
              </a:spcAft>
            </a:pPr>
            <a:r>
              <a:rPr b="1" sz="760">
                <a:solidFill>
                  <a:srgbClr val="6D28D9"/>
                </a:solidFill>
                <a:latin typeface="Arial"/>
              </a:rPr>
              <a:t>• Offline Sync: </a:t>
            </a:r>
            <a:r>
              <a:rPr b="0" sz="730">
                <a:solidFill>
                  <a:srgbClr val="334155"/>
                </a:solidFill>
                <a:latin typeface="Arial"/>
              </a:rPr>
              <a:t>Continues working seamlessly during poor connectivity in scrap clusters and transit.</a:t>
            </a:r>
          </a:p>
        </p:txBody>
      </p:sp>
      <p:sp>
        <p:nvSpPr>
          <p:cNvPr id="17413" name="Rounded Rectangle 17412"/>
          <p:cNvSpPr/>
          <p:nvPr/>
        </p:nvSpPr>
        <p:spPr>
          <a:xfrm>
            <a:off x="548640" y="4608576"/>
            <a:ext cx="5349240" cy="1645920"/>
          </a:xfrm>
          <a:prstGeom prst="roundRect">
            <a:avLst/>
          </a:prstGeom>
          <a:solidFill>
            <a:srgbClr val="FFFFFF"/>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64008"/>
          <a:lstStyle/>
          <a:p>
            <a:pPr algn="l"/>
            <a:r>
              <a:rPr b="1" sz="1019" u="sng">
                <a:solidFill>
                  <a:srgbClr val="B45309"/>
                </a:solidFill>
                <a:latin typeface="Arial"/>
              </a:rPr>
              <a:t>ECONOMIC FEASIBILITY &amp; VIABILITY</a:t>
            </a:r>
            <a:r>
              <a:rPr b="0" sz="760">
                <a:solidFill>
                  <a:srgbClr val="475569"/>
                </a:solidFill>
                <a:latin typeface="Arial"/>
              </a:rPr>
              <a:t>  |  Defensible Stakeholder Value Model</a:t>
            </a:r>
          </a:p>
          <a:p>
            <a:pPr algn="l">
              <a:spcBef>
                <a:spcPts val="100"/>
              </a:spcBef>
              <a:spcAft>
                <a:spcPts val="100"/>
              </a:spcAft>
            </a:pPr>
            <a:r>
              <a:rPr b="1" sz="740">
                <a:solidFill>
                  <a:srgbClr val="166534"/>
                </a:solidFill>
                <a:latin typeface="Arial"/>
              </a:rPr>
              <a:t>Design Principle: </a:t>
            </a:r>
            <a:r>
              <a:rPr b="0" sz="740">
                <a:solidFill>
                  <a:srgbClr val="334155"/>
                </a:solidFill>
                <a:latin typeface="Arial"/>
              </a:rPr>
              <a:t>Improves collector earnings through transparent pricing and reduced information loss.</a:t>
            </a:r>
          </a:p>
          <a:p>
            <a:pPr algn="l">
              <a:spcBef>
                <a:spcPts val="150"/>
              </a:spcBef>
              <a:spcAft>
                <a:spcPts val="0"/>
              </a:spcAft>
            </a:pPr>
            <a:r>
              <a:rPr b="1" sz="760">
                <a:solidFill>
                  <a:srgbClr val="166534"/>
                </a:solidFill>
                <a:latin typeface="Arial"/>
              </a:rPr>
              <a:t>• Informal Collector: </a:t>
            </a:r>
            <a:r>
              <a:rPr b="0" sz="730">
                <a:solidFill>
                  <a:srgbClr val="334155"/>
                </a:solidFill>
                <a:latin typeface="Arial"/>
              </a:rPr>
              <a:t>100% free to use — zero subscription cost or capital expenditure barrier.</a:t>
            </a:r>
          </a:p>
          <a:p>
            <a:pPr algn="l">
              <a:spcBef>
                <a:spcPts val="150"/>
              </a:spcBef>
              <a:spcAft>
                <a:spcPts val="0"/>
              </a:spcAft>
            </a:pPr>
            <a:r>
              <a:rPr b="1" sz="760">
                <a:solidFill>
                  <a:srgbClr val="0369A1"/>
                </a:solidFill>
                <a:latin typeface="Arial"/>
              </a:rPr>
              <a:t>• Hub / Aggregator: </a:t>
            </a:r>
            <a:r>
              <a:rPr b="0" sz="730">
                <a:solidFill>
                  <a:srgbClr val="334155"/>
                </a:solidFill>
                <a:latin typeface="Arial"/>
              </a:rPr>
              <a:t>Earns legitimate handling and bulk aggregation margins on consolidated scrap.</a:t>
            </a:r>
          </a:p>
          <a:p>
            <a:pPr algn="l">
              <a:spcBef>
                <a:spcPts val="150"/>
              </a:spcBef>
              <a:spcAft>
                <a:spcPts val="0"/>
              </a:spcAft>
            </a:pPr>
            <a:r>
              <a:rPr b="1" sz="760">
                <a:solidFill>
                  <a:srgbClr val="1E40AF"/>
                </a:solidFill>
                <a:latin typeface="Arial"/>
              </a:rPr>
              <a:t>• Authorized Recycler: </a:t>
            </a:r>
            <a:r>
              <a:rPr b="0" sz="730">
                <a:solidFill>
                  <a:srgbClr val="334155"/>
                </a:solidFill>
                <a:latin typeface="Arial"/>
              </a:rPr>
              <a:t>Pays a small platform fee for guaranteed verified supply &amp; verifiable traceability.</a:t>
            </a:r>
          </a:p>
          <a:p>
            <a:pPr algn="l">
              <a:spcBef>
                <a:spcPts val="150"/>
              </a:spcBef>
              <a:spcAft>
                <a:spcPts val="0"/>
              </a:spcAft>
            </a:pPr>
            <a:r>
              <a:rPr b="1" sz="760">
                <a:solidFill>
                  <a:srgbClr val="0F172A"/>
                </a:solidFill>
                <a:latin typeface="Arial"/>
              </a:rPr>
              <a:t>• Platform Revenue Model: </a:t>
            </a:r>
            <a:r>
              <a:rPr b="0" sz="730">
                <a:solidFill>
                  <a:srgbClr val="334155"/>
                </a:solidFill>
                <a:latin typeface="Arial"/>
              </a:rPr>
              <a:t>Initial model — 1.5% verified transaction fee; Future: B2B traceability &amp; EPR services.</a:t>
            </a:r>
          </a:p>
        </p:txBody>
      </p:sp>
      <p:sp>
        <p:nvSpPr>
          <p:cNvPr id="17414" name="TextBox 17413"/>
          <p:cNvSpPr txBox="1"/>
          <p:nvPr/>
        </p:nvSpPr>
        <p:spPr>
          <a:xfrm>
            <a:off x="6080760" y="1316736"/>
            <a:ext cx="5559552" cy="219456"/>
          </a:xfrm>
          <a:prstGeom prst="rect">
            <a:avLst/>
          </a:prstGeom>
          <a:noFill/>
        </p:spPr>
        <p:txBody>
          <a:bodyPr wrap="square" lIns="0" tIns="0">
            <a:spAutoFit/>
          </a:bodyPr>
          <a:lstStyle/>
          <a:p>
            <a:pPr algn="l"/>
            <a:r>
              <a:rPr b="1" sz="1120" u="sng">
                <a:solidFill>
                  <a:srgbClr val="0F172A"/>
                </a:solidFill>
                <a:latin typeface="Arial"/>
              </a:rPr>
              <a:t>Defensible Risk Mitigation: Challenges &amp; Solutions</a:t>
            </a:r>
          </a:p>
        </p:txBody>
      </p:sp>
      <p:graphicFrame>
        <p:nvGraphicFramePr>
          <p:cNvPr id="17415" name="Table 17414"/>
          <p:cNvGraphicFramePr>
            <a:graphicFrameLocks noGrp="1"/>
          </p:cNvGraphicFramePr>
          <p:nvPr/>
        </p:nvGraphicFramePr>
        <p:xfrm>
          <a:off x="6080760" y="1591056"/>
          <a:ext cx="5559552" cy="4663440"/>
        </p:xfrm>
        <a:graphic>
          <a:graphicData uri="http://schemas.openxmlformats.org/drawingml/2006/table">
            <a:tbl>
              <a:tblPr firstRow="1" bandRow="1">
                <a:tableStyleId>{5C22544A-7EE6-4342-B048-85BDC9FD1C3A}</a:tableStyleId>
              </a:tblPr>
              <a:tblGrid>
                <a:gridCol w="2011680"/>
                <a:gridCol w="3547872"/>
              </a:tblGrid>
              <a:tr h="329184">
                <a:tc>
                  <a:txBody>
                    <a:bodyPr/>
                    <a:lstStyle/>
                    <a:p>
                      <a:pPr algn="ctr"/>
                      <a:r>
                        <a:rPr b="1" sz="850">
                          <a:solidFill>
                            <a:srgbClr val="FFFFFF"/>
                          </a:solidFill>
                          <a:latin typeface="Arial"/>
                        </a:rPr>
                        <a:t>GROUND CHALLENGE / RISK</a:t>
                      </a:r>
                    </a:p>
                  </a:txBody>
                  <a:tcPr anchor="ctr" marL="73152" marR="73152">
                    <a:solidFill>
                      <a:srgbClr val="0F172A"/>
                    </a:solidFill>
                  </a:tcPr>
                </a:tc>
                <a:tc>
                  <a:txBody>
                    <a:bodyPr/>
                    <a:lstStyle/>
                    <a:p>
                      <a:pPr algn="ctr"/>
                      <a:r>
                        <a:rPr b="1" sz="850">
                          <a:solidFill>
                            <a:srgbClr val="FFFFFF"/>
                          </a:solidFill>
                          <a:latin typeface="Arial"/>
                        </a:rPr>
                        <a:t>OUR PRACTICAL SOLUTION</a:t>
                      </a:r>
                    </a:p>
                  </a:txBody>
                  <a:tcPr anchor="ctr" marL="73152" marR="73152">
                    <a:solidFill>
                      <a:srgbClr val="166534"/>
                    </a:solidFill>
                  </a:tcPr>
                </a:tc>
              </a:tr>
              <a:tr h="722376">
                <a:tc>
                  <a:txBody>
                    <a:bodyPr wrap="square"/>
                    <a:lstStyle/>
                    <a:p>
                      <a:pPr algn="l"/>
                      <a:r>
                        <a:rPr b="1" sz="780">
                          <a:solidFill>
                            <a:srgbClr val="991B1B"/>
                          </a:solidFill>
                          <a:latin typeface="Arial"/>
                        </a:rPr>
                        <a:t>• Low Digital Literacy</a:t>
                      </a:r>
                    </a:p>
                    <a:p>
                      <a:pPr algn="l">
                        <a:spcBef>
                          <a:spcPts val="100"/>
                        </a:spcBef>
                      </a:pPr>
                      <a:r>
                        <a:rPr b="0" sz="700">
                          <a:solidFill>
                            <a:srgbClr val="334155"/>
                          </a:solidFill>
                          <a:latin typeface="Arial"/>
                        </a:rPr>
                        <a:t>Informal collectors struggle with text-heavy apps or typing.</a:t>
                      </a:r>
                    </a:p>
                  </a:txBody>
                  <a:tcPr anchor="ctr" marL="73152" marR="73152" marT="36576" marB="36576">
                    <a:solidFill>
                      <a:srgbClr val="FEF2F2"/>
                    </a:solidFill>
                  </a:tcPr>
                </a:tc>
                <a:tc>
                  <a:txBody>
                    <a:bodyPr wrap="square"/>
                    <a:lstStyle/>
                    <a:p>
                      <a:pPr algn="l"/>
                      <a:r>
                        <a:rPr b="1" sz="780">
                          <a:solidFill>
                            <a:srgbClr val="166534"/>
                          </a:solidFill>
                          <a:latin typeface="Arial"/>
                        </a:rPr>
                        <a:t>• Voice + Pictorial Interface</a:t>
                      </a:r>
                    </a:p>
                    <a:p>
                      <a:pPr algn="l">
                        <a:spcBef>
                          <a:spcPts val="100"/>
                        </a:spcBef>
                      </a:pPr>
                      <a:r>
                        <a:rPr b="0" sz="700">
                          <a:solidFill>
                            <a:srgbClr val="334155"/>
                          </a:solidFill>
                          <a:latin typeface="Arial"/>
                        </a:rPr>
                        <a:t>Visual scrap category icons + regional voice support eliminates reading and typing barriers.</a:t>
                      </a:r>
                    </a:p>
                  </a:txBody>
                  <a:tcPr anchor="ctr" marL="73152" marR="73152" marT="36576" marB="36576">
                    <a:solidFill>
                      <a:srgbClr val="F0FDF4"/>
                    </a:solidFill>
                  </a:tcPr>
                </a:tc>
              </a:tr>
              <a:tr h="722376">
                <a:tc>
                  <a:txBody>
                    <a:bodyPr wrap="square"/>
                    <a:lstStyle/>
                    <a:p>
                      <a:pPr algn="l"/>
                      <a:r>
                        <a:rPr b="1" sz="780">
                          <a:solidFill>
                            <a:srgbClr val="991B1B"/>
                          </a:solidFill>
                          <a:latin typeface="Arial"/>
                        </a:rPr>
                        <a:t>• Poor Connectivity</a:t>
                      </a:r>
                    </a:p>
                    <a:p>
                      <a:pPr algn="l">
                        <a:spcBef>
                          <a:spcPts val="100"/>
                        </a:spcBef>
                      </a:pPr>
                      <a:r>
                        <a:rPr b="0" sz="700">
                          <a:solidFill>
                            <a:srgbClr val="334155"/>
                          </a:solidFill>
                          <a:latin typeface="Arial"/>
                        </a:rPr>
                        <a:t>Dense scrap clusters and transit corridors experience 2G dead zones.</a:t>
                      </a:r>
                    </a:p>
                  </a:txBody>
                  <a:tcPr anchor="ctr" marL="73152" marR="73152" marT="36576" marB="36576">
                    <a:solidFill>
                      <a:srgbClr val="FEF2F2"/>
                    </a:solidFill>
                  </a:tcPr>
                </a:tc>
                <a:tc>
                  <a:txBody>
                    <a:bodyPr wrap="square"/>
                    <a:lstStyle/>
                    <a:p>
                      <a:pPr algn="l"/>
                      <a:r>
                        <a:rPr b="1" sz="780">
                          <a:solidFill>
                            <a:srgbClr val="166534"/>
                          </a:solidFill>
                          <a:latin typeface="Arial"/>
                        </a:rPr>
                        <a:t>• Offline-First + Automatic Sync</a:t>
                      </a:r>
                    </a:p>
                    <a:p>
                      <a:pPr algn="l">
                        <a:spcBef>
                          <a:spcPts val="100"/>
                        </a:spcBef>
                      </a:pPr>
                      <a:r>
                        <a:rPr b="0" sz="700">
                          <a:solidFill>
                            <a:srgbClr val="334155"/>
                          </a:solidFill>
                          <a:latin typeface="Arial"/>
                        </a:rPr>
                        <a:t>IndexedDB buffers lots, photos &amp; receipts locally; auto-syncs asynchronously upon network reconnection.</a:t>
                      </a:r>
                    </a:p>
                  </a:txBody>
                  <a:tcPr anchor="ctr" marL="73152" marR="73152" marT="36576" marB="36576">
                    <a:solidFill>
                      <a:srgbClr val="F0FDF4"/>
                    </a:solidFill>
                  </a:tcPr>
                </a:tc>
              </a:tr>
              <a:tr h="722376">
                <a:tc>
                  <a:txBody>
                    <a:bodyPr wrap="square"/>
                    <a:lstStyle/>
                    <a:p>
                      <a:pPr algn="l"/>
                      <a:r>
                        <a:rPr b="1" sz="780">
                          <a:solidFill>
                            <a:srgbClr val="991B1B"/>
                          </a:solidFill>
                          <a:latin typeface="Arial"/>
                        </a:rPr>
                        <a:t>• Weight Disputes</a:t>
                      </a:r>
                    </a:p>
                    <a:p>
                      <a:pPr algn="l">
                        <a:spcBef>
                          <a:spcPts val="100"/>
                        </a:spcBef>
                      </a:pPr>
                      <a:r>
                        <a:rPr b="0" sz="700">
                          <a:solidFill>
                            <a:srgbClr val="334155"/>
                          </a:solidFill>
                          <a:latin typeface="Arial"/>
                        </a:rPr>
                        <a:t>Scale manipulation or reading disputes create mistrust across handovers.</a:t>
                      </a:r>
                    </a:p>
                  </a:txBody>
                  <a:tcPr anchor="ctr" marL="73152" marR="73152" marT="36576" marB="36576">
                    <a:solidFill>
                      <a:srgbClr val="FEF2F2"/>
                    </a:solidFill>
                  </a:tcPr>
                </a:tc>
                <a:tc>
                  <a:txBody>
                    <a:bodyPr wrap="square"/>
                    <a:lstStyle/>
                    <a:p>
                      <a:pPr algn="l"/>
                      <a:r>
                        <a:rPr b="1" sz="780">
                          <a:solidFill>
                            <a:srgbClr val="166534"/>
                          </a:solidFill>
                          <a:latin typeface="Arial"/>
                        </a:rPr>
                        <a:t>• Scale Photo + OCR Verification</a:t>
                      </a:r>
                    </a:p>
                    <a:p>
                      <a:pPr algn="l">
                        <a:spcBef>
                          <a:spcPts val="100"/>
                        </a:spcBef>
                      </a:pPr>
                      <a:r>
                        <a:rPr b="0" sz="700">
                          <a:solidFill>
                            <a:srgbClr val="334155"/>
                          </a:solidFill>
                          <a:latin typeface="Arial"/>
                        </a:rPr>
                        <a:t>Camera captures scale display; OCR extracts numeric digits for verifiable photo &amp; weight evidence.</a:t>
                      </a:r>
                    </a:p>
                  </a:txBody>
                  <a:tcPr anchor="ctr" marL="73152" marR="73152" marT="36576" marB="36576">
                    <a:solidFill>
                      <a:srgbClr val="F0FDF4"/>
                    </a:solidFill>
                  </a:tcPr>
                </a:tc>
              </a:tr>
              <a:tr h="722376">
                <a:tc>
                  <a:txBody>
                    <a:bodyPr wrap="square"/>
                    <a:lstStyle/>
                    <a:p>
                      <a:pPr algn="l"/>
                      <a:r>
                        <a:rPr b="1" sz="780">
                          <a:solidFill>
                            <a:srgbClr val="991B1B"/>
                          </a:solidFill>
                          <a:latin typeface="Arial"/>
                        </a:rPr>
                        <a:t>• Fragmented Informal Chain</a:t>
                      </a:r>
                    </a:p>
                    <a:p>
                      <a:pPr algn="l">
                        <a:spcBef>
                          <a:spcPts val="100"/>
                        </a:spcBef>
                      </a:pPr>
                      <a:r>
                        <a:rPr b="0" sz="700">
                          <a:solidFill>
                            <a:srgbClr val="334155"/>
                          </a:solidFill>
                          <a:latin typeface="Arial"/>
                        </a:rPr>
                        <a:t>Scrap passes through multiple unrecorded intermediaries before recycling.</a:t>
                      </a:r>
                    </a:p>
                  </a:txBody>
                  <a:tcPr anchor="ctr" marL="73152" marR="73152" marT="36576" marB="36576">
                    <a:solidFill>
                      <a:srgbClr val="FEF2F2"/>
                    </a:solidFill>
                  </a:tcPr>
                </a:tc>
                <a:tc>
                  <a:txBody>
                    <a:bodyPr wrap="square"/>
                    <a:lstStyle/>
                    <a:p>
                      <a:pPr algn="l"/>
                      <a:r>
                        <a:rPr b="1" sz="780">
                          <a:solidFill>
                            <a:srgbClr val="166534"/>
                          </a:solidFill>
                          <a:latin typeface="Arial"/>
                        </a:rPr>
                        <a:t>• Digital Lot + Parent-Child Tracking</a:t>
                      </a:r>
                    </a:p>
                    <a:p>
                      <a:pPr algn="l">
                        <a:spcBef>
                          <a:spcPts val="100"/>
                        </a:spcBef>
                      </a:pPr>
                      <a:r>
                        <a:rPr b="0" sz="700">
                          <a:solidFill>
                            <a:srgbClr val="334155"/>
                          </a:solidFill>
                          <a:latin typeface="Arial"/>
                        </a:rPr>
                        <a:t>Small collector lots are linked into aggregated bulk batches, preserving origin traceability across tiers.</a:t>
                      </a:r>
                    </a:p>
                  </a:txBody>
                  <a:tcPr anchor="ctr" marL="73152" marR="73152" marT="36576" marB="36576">
                    <a:solidFill>
                      <a:srgbClr val="F0FDF4"/>
                    </a:solidFill>
                  </a:tcPr>
                </a:tc>
              </a:tr>
              <a:tr h="722376">
                <a:tc>
                  <a:txBody>
                    <a:bodyPr wrap="square"/>
                    <a:lstStyle/>
                    <a:p>
                      <a:pPr algn="l"/>
                      <a:r>
                        <a:rPr b="1" sz="780">
                          <a:solidFill>
                            <a:srgbClr val="991B1B"/>
                          </a:solidFill>
                          <a:latin typeface="Arial"/>
                        </a:rPr>
                        <a:t>• Aggregator Resistance</a:t>
                      </a:r>
                    </a:p>
                    <a:p>
                      <a:pPr algn="l">
                        <a:spcBef>
                          <a:spcPts val="100"/>
                        </a:spcBef>
                      </a:pPr>
                      <a:r>
                        <a:rPr b="0" sz="700">
                          <a:solidFill>
                            <a:srgbClr val="334155"/>
                          </a:solidFill>
                          <a:latin typeface="Arial"/>
                        </a:rPr>
                        <a:t>Middlemen scrap dealers oppose platforms that attempt to bypass them.</a:t>
                      </a:r>
                    </a:p>
                  </a:txBody>
                  <a:tcPr anchor="ctr" marL="73152" marR="73152" marT="36576" marB="36576">
                    <a:solidFill>
                      <a:srgbClr val="FEF2F2"/>
                    </a:solidFill>
                  </a:tcPr>
                </a:tc>
                <a:tc>
                  <a:txBody>
                    <a:bodyPr wrap="square"/>
                    <a:lstStyle/>
                    <a:p>
                      <a:pPr algn="l"/>
                      <a:r>
                        <a:rPr b="1" sz="780">
                          <a:solidFill>
                            <a:srgbClr val="166534"/>
                          </a:solidFill>
                          <a:latin typeface="Arial"/>
                        </a:rPr>
                        <a:t>• Make Existing Dealers Collection Hubs</a:t>
                      </a:r>
                    </a:p>
                    <a:p>
                      <a:pPr algn="l">
                        <a:spcBef>
                          <a:spcPts val="100"/>
                        </a:spcBef>
                      </a:pPr>
                      <a:r>
                        <a:rPr b="0" sz="700">
                          <a:solidFill>
                            <a:srgbClr val="334155"/>
                          </a:solidFill>
                          <a:latin typeface="Arial"/>
                        </a:rPr>
                        <a:t>Integrates existing aggregators as certified hubs earning legitimate handling margins on bulk supply.</a:t>
                      </a:r>
                    </a:p>
                  </a:txBody>
                  <a:tcPr anchor="ctr" marL="73152" marR="73152" marT="36576" marB="36576">
                    <a:solidFill>
                      <a:srgbClr val="F0FDF4"/>
                    </a:solidFill>
                  </a:tcPr>
                </a:tc>
              </a:tr>
              <a:tr h="722376">
                <a:tc>
                  <a:txBody>
                    <a:bodyPr wrap="square"/>
                    <a:lstStyle/>
                    <a:p>
                      <a:pPr algn="l"/>
                      <a:r>
                        <a:rPr b="1" sz="780">
                          <a:solidFill>
                            <a:srgbClr val="991B1B"/>
                          </a:solidFill>
                          <a:latin typeface="Arial"/>
                        </a:rPr>
                        <a:t>• Lack of Traceability</a:t>
                      </a:r>
                    </a:p>
                    <a:p>
                      <a:pPr algn="l">
                        <a:spcBef>
                          <a:spcPts val="100"/>
                        </a:spcBef>
                      </a:pPr>
                      <a:r>
                        <a:rPr b="0" sz="700">
                          <a:solidFill>
                            <a:srgbClr val="334155"/>
                          </a:solidFill>
                          <a:latin typeface="Arial"/>
                        </a:rPr>
                        <a:t>CPCB recyclers lack auditable proof of physical custody for EPR audits.</a:t>
                      </a:r>
                    </a:p>
                  </a:txBody>
                  <a:tcPr anchor="ctr" marL="73152" marR="73152" marT="36576" marB="36576">
                    <a:solidFill>
                      <a:srgbClr val="FEF2F2"/>
                    </a:solidFill>
                  </a:tcPr>
                </a:tc>
                <a:tc>
                  <a:txBody>
                    <a:bodyPr wrap="square"/>
                    <a:lstStyle/>
                    <a:p>
                      <a:pPr algn="l"/>
                      <a:r>
                        <a:rPr b="1" sz="780">
                          <a:solidFill>
                            <a:srgbClr val="166534"/>
                          </a:solidFill>
                          <a:latin typeface="Arial"/>
                        </a:rPr>
                        <a:t>• QR + Timestamp + GPS + Digital Handover</a:t>
                      </a:r>
                    </a:p>
                    <a:p>
                      <a:pPr algn="l">
                        <a:spcBef>
                          <a:spcPts val="100"/>
                        </a:spcBef>
                      </a:pPr>
                      <a:r>
                        <a:rPr b="0" sz="700">
                          <a:solidFill>
                            <a:srgbClr val="334155"/>
                          </a:solidFill>
                          <a:latin typeface="Arial"/>
                        </a:rPr>
                        <a:t>Dual-scan QR verification logs photo, weight, GPS coordinates, and server timestamp at every stage.</a:t>
                      </a:r>
                    </a:p>
                  </a:txBody>
                  <a:tcPr anchor="ctr" marL="73152" marR="73152" marT="36576" marB="36576">
                    <a:solidFill>
                      <a:srgbClr val="F0FDF4"/>
                    </a:solidFill>
                  </a:tcPr>
                </a:tc>
              </a:tr>
            </a:tbl>
          </a:graphicData>
        </a:graphic>
      </p:graphicFrame>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b="1" sz="3200">
                <a:solidFill>
                  <a:srgbClr val="0F172A"/>
                </a:solidFill>
                <a:latin typeface="Arial"/>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a:lstStyle/>
          <a:p>
            <a:pPr algn="ctr"/>
            <a:r>
              <a:rPr b="1" sz="1000">
                <a:solidFill>
                  <a:srgbClr val="0F172A"/>
                </a:solidFill>
                <a:latin typeface="Arial"/>
              </a:rPr>
              <a:t>HelloWorldWarriors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48640" y="987552"/>
            <a:ext cx="11091672" cy="292608"/>
          </a:xfrm>
          <a:prstGeom prst="rect">
            <a:avLst/>
          </a:prstGeom>
          <a:noFill/>
        </p:spPr>
        <p:txBody>
          <a:bodyPr wrap="square" lIns="0" tIns="0">
            <a:spAutoFit/>
          </a:bodyPr>
          <a:lstStyle/>
          <a:p>
            <a:pPr algn="l"/>
            <a:r>
              <a:rPr b="1" sz="1200">
                <a:solidFill>
                  <a:srgbClr val="0F172A"/>
                </a:solidFill>
                <a:latin typeface="Arial"/>
              </a:rPr>
              <a:t>Stakeholder Value Transformation: </a:t>
            </a:r>
            <a:r>
              <a:rPr b="0" sz="1050">
                <a:solidFill>
                  <a:srgbClr val="166534"/>
                </a:solidFill>
                <a:latin typeface="Arial"/>
              </a:rPr>
              <a:t>Creating Value Across the Informal-to-Formal Recycling Chain</a:t>
            </a:r>
          </a:p>
        </p:txBody>
      </p:sp>
      <p:sp>
        <p:nvSpPr>
          <p:cNvPr id="17411" name="Rounded Rectangle 17410"/>
          <p:cNvSpPr/>
          <p:nvPr/>
        </p:nvSpPr>
        <p:spPr>
          <a:xfrm>
            <a:off x="548640" y="1316736"/>
            <a:ext cx="2679192" cy="3035808"/>
          </a:xfrm>
          <a:prstGeom prst="roundRect">
            <a:avLst/>
          </a:prstGeom>
          <a:solidFill>
            <a:srgbClr val="FFFFFF"/>
          </a:solidFill>
          <a:ln w="17780">
            <a:solidFill>
              <a:srgbClr val="166534"/>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73152"/>
          <a:lstStyle/>
          <a:p>
            <a:pPr algn="l"/>
            <a:r>
              <a:rPr b="1" sz="960">
                <a:solidFill>
                  <a:srgbClr val="166534"/>
                </a:solidFill>
                <a:latin typeface="Calibri"/>
              </a:rPr>
              <a:t>1. INFORMAL COLLECTORS</a:t>
            </a:r>
          </a:p>
          <a:p>
            <a:pPr algn="l">
              <a:spcBef>
                <a:spcPts val="50"/>
              </a:spcBef>
              <a:spcAft>
                <a:spcPts val="350"/>
              </a:spcAft>
            </a:pPr>
            <a:r>
              <a:rPr b="0" sz="740">
                <a:solidFill>
                  <a:srgbClr val="64748B"/>
                </a:solidFill>
                <a:latin typeface="Calibri"/>
              </a:rPr>
              <a:t>Waste-Pickers &amp; Itinerant Buyers</a:t>
            </a:r>
          </a:p>
          <a:p>
            <a:pPr algn="l">
              <a:spcBef>
                <a:spcPts val="150"/>
              </a:spcBef>
              <a:spcAft>
                <a:spcPts val="100"/>
              </a:spcAft>
            </a:pPr>
            <a:r>
              <a:rPr b="1" sz="780">
                <a:solidFill>
                  <a:srgbClr val="991B1B"/>
                </a:solidFill>
                <a:latin typeface="Calibri"/>
              </a:rPr>
              <a:t>BEFORE:</a:t>
            </a:r>
          </a:p>
          <a:p>
            <a:pPr algn="l">
              <a:spcBef>
                <a:spcPts val="100"/>
              </a:spcBef>
              <a:spcAft>
                <a:spcPts val="20"/>
              </a:spcAft>
            </a:pPr>
            <a:r>
              <a:rPr b="1" sz="740">
                <a:solidFill>
                  <a:srgbClr val="B91C1C"/>
                </a:solidFill>
                <a:latin typeface="Calibri"/>
              </a:rPr>
              <a:t>• </a:t>
            </a:r>
            <a:r>
              <a:rPr b="0" sz="730">
                <a:solidFill>
                  <a:srgbClr val="334155"/>
                </a:solidFill>
                <a:latin typeface="Calibri"/>
              </a:rPr>
              <a:t>Volatile scrap prices dictated by middlemen</a:t>
            </a:r>
          </a:p>
          <a:p>
            <a:pPr algn="l">
              <a:spcBef>
                <a:spcPts val="100"/>
              </a:spcBef>
              <a:spcAft>
                <a:spcPts val="20"/>
              </a:spcAft>
            </a:pPr>
            <a:r>
              <a:rPr b="1" sz="740">
                <a:solidFill>
                  <a:srgbClr val="B91C1C"/>
                </a:solidFill>
                <a:latin typeface="Calibri"/>
              </a:rPr>
              <a:t>• </a:t>
            </a:r>
            <a:r>
              <a:rPr b="0" sz="730">
                <a:solidFill>
                  <a:srgbClr val="334155"/>
                </a:solidFill>
                <a:latin typeface="Calibri"/>
              </a:rPr>
              <a:t>Zero direct access to authorized recyclers</a:t>
            </a:r>
          </a:p>
          <a:p>
            <a:pPr algn="l">
              <a:spcBef>
                <a:spcPts val="100"/>
              </a:spcBef>
              <a:spcAft>
                <a:spcPts val="20"/>
              </a:spcAft>
            </a:pPr>
            <a:r>
              <a:rPr b="1" sz="740">
                <a:solidFill>
                  <a:srgbClr val="B91C1C"/>
                </a:solidFill>
                <a:latin typeface="Calibri"/>
              </a:rPr>
              <a:t>• </a:t>
            </a:r>
            <a:r>
              <a:rPr b="0" sz="730">
                <a:solidFill>
                  <a:srgbClr val="334155"/>
                </a:solidFill>
                <a:latin typeface="Calibri"/>
              </a:rPr>
              <a:t>Frequent weight &amp; cash payment disputes</a:t>
            </a:r>
          </a:p>
          <a:p>
            <a:pPr algn="l">
              <a:spcBef>
                <a:spcPts val="100"/>
              </a:spcBef>
              <a:spcAft>
                <a:spcPts val="20"/>
              </a:spcAft>
            </a:pPr>
            <a:r>
              <a:rPr b="1" sz="740">
                <a:solidFill>
                  <a:srgbClr val="B91C1C"/>
                </a:solidFill>
                <a:latin typeface="Calibri"/>
              </a:rPr>
              <a:t>• </a:t>
            </a:r>
            <a:r>
              <a:rPr b="0" sz="730">
                <a:solidFill>
                  <a:srgbClr val="334155"/>
                </a:solidFill>
                <a:latin typeface="Calibri"/>
              </a:rPr>
              <a:t>No transaction records or credit history</a:t>
            </a:r>
          </a:p>
          <a:p>
            <a:pPr algn="l">
              <a:spcBef>
                <a:spcPts val="350"/>
              </a:spcBef>
              <a:spcAft>
                <a:spcPts val="100"/>
              </a:spcAft>
            </a:pPr>
            <a:r>
              <a:rPr b="1" sz="780">
                <a:solidFill>
                  <a:srgbClr val="166534"/>
                </a:solidFill>
                <a:latin typeface="Calibri"/>
              </a:rPr>
              <a:t>AFTER (WITH E-WASTE SETU):</a:t>
            </a:r>
          </a:p>
          <a:p>
            <a:pPr algn="l">
              <a:spcBef>
                <a:spcPts val="100"/>
              </a:spcBef>
              <a:spcAft>
                <a:spcPts val="20"/>
              </a:spcAft>
            </a:pPr>
            <a:r>
              <a:rPr b="1" sz="740">
                <a:solidFill>
                  <a:srgbClr val="166534"/>
                </a:solidFill>
                <a:latin typeface="Calibri"/>
              </a:rPr>
              <a:t>✓ </a:t>
            </a:r>
            <a:r>
              <a:rPr b="0" sz="730">
                <a:solidFill>
                  <a:srgbClr val="0F172A"/>
                </a:solidFill>
                <a:latin typeface="Calibri"/>
              </a:rPr>
              <a:t>Live transparent price benchmark access</a:t>
            </a:r>
          </a:p>
          <a:p>
            <a:pPr algn="l">
              <a:spcBef>
                <a:spcPts val="100"/>
              </a:spcBef>
              <a:spcAft>
                <a:spcPts val="20"/>
              </a:spcAft>
            </a:pPr>
            <a:r>
              <a:rPr b="1" sz="740">
                <a:solidFill>
                  <a:srgbClr val="166534"/>
                </a:solidFill>
                <a:latin typeface="Calibri"/>
              </a:rPr>
              <a:t>✓ </a:t>
            </a:r>
            <a:r>
              <a:rPr b="0" sz="730">
                <a:solidFill>
                  <a:srgbClr val="0F172A"/>
                </a:solidFill>
                <a:latin typeface="Calibri"/>
              </a:rPr>
              <a:t>Scale OCR weight &amp; photo evidence</a:t>
            </a:r>
          </a:p>
          <a:p>
            <a:pPr algn="l">
              <a:spcBef>
                <a:spcPts val="100"/>
              </a:spcBef>
              <a:spcAft>
                <a:spcPts val="20"/>
              </a:spcAft>
            </a:pPr>
            <a:r>
              <a:rPr b="1" sz="740">
                <a:solidFill>
                  <a:srgbClr val="166534"/>
                </a:solidFill>
                <a:latin typeface="Calibri"/>
              </a:rPr>
              <a:t>✓ </a:t>
            </a:r>
            <a:r>
              <a:rPr b="0" sz="730">
                <a:solidFill>
                  <a:srgbClr val="0F172A"/>
                </a:solidFill>
                <a:latin typeface="Calibri"/>
              </a:rPr>
              <a:t>Instant Cash / UPI verified payment records</a:t>
            </a:r>
          </a:p>
          <a:p>
            <a:pPr algn="l">
              <a:spcBef>
                <a:spcPts val="100"/>
              </a:spcBef>
              <a:spcAft>
                <a:spcPts val="20"/>
              </a:spcAft>
            </a:pPr>
            <a:r>
              <a:rPr b="1" sz="740">
                <a:solidFill>
                  <a:srgbClr val="166534"/>
                </a:solidFill>
                <a:latin typeface="Calibri"/>
              </a:rPr>
              <a:t>✓ </a:t>
            </a:r>
            <a:r>
              <a:rPr b="0" sz="730">
                <a:solidFill>
                  <a:srgbClr val="0F172A"/>
                </a:solidFill>
                <a:latin typeface="Calibri"/>
              </a:rPr>
              <a:t>Portable digital transaction history</a:t>
            </a:r>
          </a:p>
          <a:p>
            <a:pPr algn="l">
              <a:spcBef>
                <a:spcPts val="100"/>
              </a:spcBef>
              <a:spcAft>
                <a:spcPts val="20"/>
              </a:spcAft>
            </a:pPr>
            <a:r>
              <a:rPr b="1" sz="740">
                <a:solidFill>
                  <a:srgbClr val="166534"/>
                </a:solidFill>
                <a:latin typeface="Calibri"/>
              </a:rPr>
              <a:t>✓ </a:t>
            </a:r>
            <a:r>
              <a:rPr b="0" sz="730">
                <a:solidFill>
                  <a:srgbClr val="0F172A"/>
                </a:solidFill>
                <a:latin typeface="Calibri"/>
              </a:rPr>
              <a:t>Safe inclusion into formal recycling streams</a:t>
            </a:r>
          </a:p>
          <a:p>
            <a:pPr algn="l">
              <a:spcBef>
                <a:spcPts val="450"/>
              </a:spcBef>
            </a:pPr>
            <a:r>
              <a:rPr b="1" sz="700">
                <a:solidFill>
                  <a:srgbClr val="166534"/>
                </a:solidFill>
                <a:latin typeface="Calibri"/>
              </a:rPr>
              <a:t>VALUE: Fair floor prices &amp; recognized digital livelihoods</a:t>
            </a:r>
          </a:p>
        </p:txBody>
      </p:sp>
      <p:sp>
        <p:nvSpPr>
          <p:cNvPr id="17412" name="Rounded Rectangle 17411"/>
          <p:cNvSpPr/>
          <p:nvPr/>
        </p:nvSpPr>
        <p:spPr>
          <a:xfrm>
            <a:off x="3355848" y="1316736"/>
            <a:ext cx="2679192" cy="3035808"/>
          </a:xfrm>
          <a:prstGeom prst="roundRect">
            <a:avLst/>
          </a:prstGeom>
          <a:solidFill>
            <a:srgbClr val="FFFFFF"/>
          </a:solidFill>
          <a:ln w="17780">
            <a:solidFill>
              <a:srgbClr val="B45309"/>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73152"/>
          <a:lstStyle/>
          <a:p>
            <a:pPr algn="l"/>
            <a:r>
              <a:rPr b="1" sz="960">
                <a:solidFill>
                  <a:srgbClr val="B45309"/>
                </a:solidFill>
                <a:latin typeface="Calibri"/>
              </a:rPr>
              <a:t>2. LOCAL AGGREGATORS</a:t>
            </a:r>
          </a:p>
          <a:p>
            <a:pPr algn="l">
              <a:spcBef>
                <a:spcPts val="50"/>
              </a:spcBef>
              <a:spcAft>
                <a:spcPts val="350"/>
              </a:spcAft>
            </a:pPr>
            <a:r>
              <a:rPr b="0" sz="740">
                <a:solidFill>
                  <a:srgbClr val="64748B"/>
                </a:solidFill>
                <a:latin typeface="Calibri"/>
              </a:rPr>
              <a:t>Scrap Dealers &amp; Local Hubs</a:t>
            </a:r>
          </a:p>
          <a:p>
            <a:pPr algn="l">
              <a:spcBef>
                <a:spcPts val="150"/>
              </a:spcBef>
              <a:spcAft>
                <a:spcPts val="100"/>
              </a:spcAft>
            </a:pPr>
            <a:r>
              <a:rPr b="1" sz="780">
                <a:solidFill>
                  <a:srgbClr val="991B1B"/>
                </a:solidFill>
                <a:latin typeface="Calibri"/>
              </a:rPr>
              <a:t>BEFORE:</a:t>
            </a:r>
          </a:p>
          <a:p>
            <a:pPr algn="l">
              <a:spcBef>
                <a:spcPts val="100"/>
              </a:spcBef>
              <a:spcAft>
                <a:spcPts val="20"/>
              </a:spcAft>
            </a:pPr>
            <a:r>
              <a:rPr b="1" sz="740">
                <a:solidFill>
                  <a:srgbClr val="B91C1C"/>
                </a:solidFill>
                <a:latin typeface="Calibri"/>
              </a:rPr>
              <a:t>• </a:t>
            </a:r>
            <a:r>
              <a:rPr b="0" sz="730">
                <a:solidFill>
                  <a:srgbClr val="334155"/>
                </a:solidFill>
                <a:latin typeface="Calibri"/>
              </a:rPr>
              <a:t>Manual paper ledgers prone to loss &amp; error</a:t>
            </a:r>
          </a:p>
          <a:p>
            <a:pPr algn="l">
              <a:spcBef>
                <a:spcPts val="100"/>
              </a:spcBef>
              <a:spcAft>
                <a:spcPts val="20"/>
              </a:spcAft>
            </a:pPr>
            <a:r>
              <a:rPr b="1" sz="740">
                <a:solidFill>
                  <a:srgbClr val="B91C1C"/>
                </a:solidFill>
                <a:latin typeface="Calibri"/>
              </a:rPr>
              <a:t>• </a:t>
            </a:r>
            <a:r>
              <a:rPr b="0" sz="730">
                <a:solidFill>
                  <a:srgbClr val="334155"/>
                </a:solidFill>
                <a:latin typeface="Calibri"/>
              </a:rPr>
              <a:t>Difficult multi-collector bulk coordination</a:t>
            </a:r>
          </a:p>
          <a:p>
            <a:pPr algn="l">
              <a:spcBef>
                <a:spcPts val="100"/>
              </a:spcBef>
              <a:spcAft>
                <a:spcPts val="20"/>
              </a:spcAft>
            </a:pPr>
            <a:r>
              <a:rPr b="1" sz="740">
                <a:solidFill>
                  <a:srgbClr val="B91C1C"/>
                </a:solidFill>
                <a:latin typeface="Calibri"/>
              </a:rPr>
              <a:t>• </a:t>
            </a:r>
            <a:r>
              <a:rPr b="0" sz="730">
                <a:solidFill>
                  <a:srgbClr val="334155"/>
                </a:solidFill>
                <a:latin typeface="Calibri"/>
              </a:rPr>
              <a:t>Zero advance visibility of inbound scrap</a:t>
            </a:r>
          </a:p>
          <a:p>
            <a:pPr algn="l">
              <a:spcBef>
                <a:spcPts val="100"/>
              </a:spcBef>
              <a:spcAft>
                <a:spcPts val="20"/>
              </a:spcAft>
            </a:pPr>
            <a:r>
              <a:rPr b="1" sz="740">
                <a:solidFill>
                  <a:srgbClr val="B91C1C"/>
                </a:solidFill>
                <a:latin typeface="Calibri"/>
              </a:rPr>
              <a:t>• </a:t>
            </a:r>
            <a:r>
              <a:rPr b="0" sz="730">
                <a:solidFill>
                  <a:srgbClr val="334155"/>
                </a:solidFill>
                <a:latin typeface="Calibri"/>
              </a:rPr>
              <a:t>Vulnerability to gray-market scrutiny</a:t>
            </a:r>
          </a:p>
          <a:p>
            <a:pPr algn="l">
              <a:spcBef>
                <a:spcPts val="350"/>
              </a:spcBef>
              <a:spcAft>
                <a:spcPts val="100"/>
              </a:spcAft>
            </a:pPr>
            <a:r>
              <a:rPr b="1" sz="780">
                <a:solidFill>
                  <a:srgbClr val="166534"/>
                </a:solidFill>
                <a:latin typeface="Calibri"/>
              </a:rPr>
              <a:t>AFTER (WITH E-WASTE SETU):</a:t>
            </a:r>
          </a:p>
          <a:p>
            <a:pPr algn="l">
              <a:spcBef>
                <a:spcPts val="100"/>
              </a:spcBef>
              <a:spcAft>
                <a:spcPts val="20"/>
              </a:spcAft>
            </a:pPr>
            <a:r>
              <a:rPr b="1" sz="740">
                <a:solidFill>
                  <a:srgbClr val="166534"/>
                </a:solidFill>
                <a:latin typeface="Calibri"/>
              </a:rPr>
              <a:t>✓ </a:t>
            </a:r>
            <a:r>
              <a:rPr b="0" sz="730">
                <a:solidFill>
                  <a:srgbClr val="0F172A"/>
                </a:solidFill>
                <a:latin typeface="Calibri"/>
              </a:rPr>
              <a:t>Digital lotting with parent-child tracking</a:t>
            </a:r>
          </a:p>
          <a:p>
            <a:pPr algn="l">
              <a:spcBef>
                <a:spcPts val="100"/>
              </a:spcBef>
              <a:spcAft>
                <a:spcPts val="20"/>
              </a:spcAft>
            </a:pPr>
            <a:r>
              <a:rPr b="1" sz="740">
                <a:solidFill>
                  <a:srgbClr val="166534"/>
                </a:solidFill>
                <a:latin typeface="Calibri"/>
              </a:rPr>
              <a:t>✓ </a:t>
            </a:r>
            <a:r>
              <a:rPr b="0" sz="730">
                <a:solidFill>
                  <a:srgbClr val="0F172A"/>
                </a:solidFill>
                <a:latin typeface="Calibri"/>
              </a:rPr>
              <a:t>Rapid aggregation of small lots into bulk</a:t>
            </a:r>
          </a:p>
          <a:p>
            <a:pPr algn="l">
              <a:spcBef>
                <a:spcPts val="100"/>
              </a:spcBef>
              <a:spcAft>
                <a:spcPts val="20"/>
              </a:spcAft>
            </a:pPr>
            <a:r>
              <a:rPr b="1" sz="740">
                <a:solidFill>
                  <a:srgbClr val="166534"/>
                </a:solidFill>
                <a:latin typeface="Calibri"/>
              </a:rPr>
              <a:t>✓ </a:t>
            </a:r>
            <a:r>
              <a:rPr b="0" sz="730">
                <a:solidFill>
                  <a:srgbClr val="0F172A"/>
                </a:solidFill>
                <a:latin typeface="Calibri"/>
              </a:rPr>
              <a:t>Transparent, tamper-evident purchase ledger</a:t>
            </a:r>
          </a:p>
          <a:p>
            <a:pPr algn="l">
              <a:spcBef>
                <a:spcPts val="100"/>
              </a:spcBef>
              <a:spcAft>
                <a:spcPts val="20"/>
              </a:spcAft>
            </a:pPr>
            <a:r>
              <a:rPr b="1" sz="740">
                <a:solidFill>
                  <a:srgbClr val="166534"/>
                </a:solidFill>
                <a:latin typeface="Calibri"/>
              </a:rPr>
              <a:t>✓ </a:t>
            </a:r>
            <a:r>
              <a:rPr b="0" sz="730">
                <a:solidFill>
                  <a:srgbClr val="0F172A"/>
                </a:solidFill>
                <a:latin typeface="Calibri"/>
              </a:rPr>
              <a:t>Direct digital coordination with recyclers</a:t>
            </a:r>
          </a:p>
          <a:p>
            <a:pPr algn="l">
              <a:spcBef>
                <a:spcPts val="100"/>
              </a:spcBef>
              <a:spcAft>
                <a:spcPts val="20"/>
              </a:spcAft>
            </a:pPr>
            <a:r>
              <a:rPr b="1" sz="740">
                <a:solidFill>
                  <a:srgbClr val="166534"/>
                </a:solidFill>
                <a:latin typeface="Calibri"/>
              </a:rPr>
              <a:t>✓ </a:t>
            </a:r>
            <a:r>
              <a:rPr b="0" sz="730">
                <a:solidFill>
                  <a:srgbClr val="0F172A"/>
                </a:solidFill>
                <a:latin typeface="Calibri"/>
              </a:rPr>
              <a:t>Certified formal collection hub status</a:t>
            </a:r>
          </a:p>
          <a:p>
            <a:pPr algn="l">
              <a:spcBef>
                <a:spcPts val="450"/>
              </a:spcBef>
            </a:pPr>
            <a:r>
              <a:rPr b="1" sz="700">
                <a:solidFill>
                  <a:srgbClr val="B45309"/>
                </a:solidFill>
                <a:latin typeface="Calibri"/>
              </a:rPr>
              <a:t>VALUE: Digital lotting &amp; transition to certified collection hubs</a:t>
            </a:r>
          </a:p>
        </p:txBody>
      </p:sp>
      <p:sp>
        <p:nvSpPr>
          <p:cNvPr id="17413" name="Rounded Rectangle 17412"/>
          <p:cNvSpPr/>
          <p:nvPr/>
        </p:nvSpPr>
        <p:spPr>
          <a:xfrm>
            <a:off x="6163056" y="1316736"/>
            <a:ext cx="2679192" cy="3035808"/>
          </a:xfrm>
          <a:prstGeom prst="roundRect">
            <a:avLst/>
          </a:prstGeom>
          <a:solidFill>
            <a:srgbClr val="FFFFFF"/>
          </a:solidFill>
          <a:ln w="17780">
            <a:solidFill>
              <a:srgbClr val="1E40AF"/>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73152"/>
          <a:lstStyle/>
          <a:p>
            <a:pPr algn="l"/>
            <a:r>
              <a:rPr b="1" sz="960">
                <a:solidFill>
                  <a:srgbClr val="1E40AF"/>
                </a:solidFill>
                <a:latin typeface="Calibri"/>
              </a:rPr>
              <a:t>3. AUTHORIZED RECYCLERS</a:t>
            </a:r>
          </a:p>
          <a:p>
            <a:pPr algn="l">
              <a:spcBef>
                <a:spcPts val="50"/>
              </a:spcBef>
              <a:spcAft>
                <a:spcPts val="350"/>
              </a:spcAft>
            </a:pPr>
            <a:r>
              <a:rPr b="0" sz="740">
                <a:solidFill>
                  <a:srgbClr val="64748B"/>
                </a:solidFill>
                <a:latin typeface="Calibri"/>
              </a:rPr>
              <a:t>CPCB Dismantlers &amp; Smelting Plants</a:t>
            </a:r>
          </a:p>
          <a:p>
            <a:pPr algn="l">
              <a:spcBef>
                <a:spcPts val="150"/>
              </a:spcBef>
              <a:spcAft>
                <a:spcPts val="100"/>
              </a:spcAft>
            </a:pPr>
            <a:r>
              <a:rPr b="1" sz="780">
                <a:solidFill>
                  <a:srgbClr val="991B1B"/>
                </a:solidFill>
                <a:latin typeface="Calibri"/>
              </a:rPr>
              <a:t>BEFORE:</a:t>
            </a:r>
          </a:p>
          <a:p>
            <a:pPr algn="l">
              <a:spcBef>
                <a:spcPts val="100"/>
              </a:spcBef>
              <a:spcAft>
                <a:spcPts val="20"/>
              </a:spcAft>
            </a:pPr>
            <a:r>
              <a:rPr b="1" sz="740">
                <a:solidFill>
                  <a:srgbClr val="B91C1C"/>
                </a:solidFill>
                <a:latin typeface="Calibri"/>
              </a:rPr>
              <a:t>• </a:t>
            </a:r>
            <a:r>
              <a:rPr b="0" sz="730">
                <a:solidFill>
                  <a:srgbClr val="334155"/>
                </a:solidFill>
                <a:latin typeface="Calibri"/>
              </a:rPr>
              <a:t>Fragmented supply bypassing formal plants</a:t>
            </a:r>
          </a:p>
          <a:p>
            <a:pPr algn="l">
              <a:spcBef>
                <a:spcPts val="100"/>
              </a:spcBef>
              <a:spcAft>
                <a:spcPts val="20"/>
              </a:spcAft>
            </a:pPr>
            <a:r>
              <a:rPr b="1" sz="740">
                <a:solidFill>
                  <a:srgbClr val="B91C1C"/>
                </a:solidFill>
                <a:latin typeface="Calibri"/>
              </a:rPr>
              <a:t>• </a:t>
            </a:r>
            <a:r>
              <a:rPr b="0" sz="730">
                <a:solidFill>
                  <a:srgbClr val="334155"/>
                </a:solidFill>
                <a:latin typeface="Calibri"/>
              </a:rPr>
              <a:t>Unverified scrap origin &amp; quality disputes</a:t>
            </a:r>
          </a:p>
          <a:p>
            <a:pPr algn="l">
              <a:spcBef>
                <a:spcPts val="100"/>
              </a:spcBef>
              <a:spcAft>
                <a:spcPts val="20"/>
              </a:spcAft>
            </a:pPr>
            <a:r>
              <a:rPr b="1" sz="740">
                <a:solidFill>
                  <a:srgbClr val="B91C1C"/>
                </a:solidFill>
                <a:latin typeface="Calibri"/>
              </a:rPr>
              <a:t>• </a:t>
            </a:r>
            <a:r>
              <a:rPr b="0" sz="730">
                <a:solidFill>
                  <a:srgbClr val="334155"/>
                </a:solidFill>
                <a:latin typeface="Calibri"/>
              </a:rPr>
              <a:t>Manual paper manifests with audit gaps</a:t>
            </a:r>
          </a:p>
          <a:p>
            <a:pPr algn="l">
              <a:spcBef>
                <a:spcPts val="100"/>
              </a:spcBef>
              <a:spcAft>
                <a:spcPts val="20"/>
              </a:spcAft>
            </a:pPr>
            <a:r>
              <a:rPr b="1" sz="740">
                <a:solidFill>
                  <a:srgbClr val="B91C1C"/>
                </a:solidFill>
                <a:latin typeface="Calibri"/>
              </a:rPr>
              <a:t>• </a:t>
            </a:r>
            <a:r>
              <a:rPr b="0" sz="730">
                <a:solidFill>
                  <a:srgbClr val="334155"/>
                </a:solidFill>
                <a:latin typeface="Calibri"/>
              </a:rPr>
              <a:t>Severe plant capacity under-utilization</a:t>
            </a:r>
          </a:p>
          <a:p>
            <a:pPr algn="l">
              <a:spcBef>
                <a:spcPts val="350"/>
              </a:spcBef>
              <a:spcAft>
                <a:spcPts val="100"/>
              </a:spcAft>
            </a:pPr>
            <a:r>
              <a:rPr b="1" sz="780">
                <a:solidFill>
                  <a:srgbClr val="166534"/>
                </a:solidFill>
                <a:latin typeface="Calibri"/>
              </a:rPr>
              <a:t>AFTER (WITH E-WASTE SETU):</a:t>
            </a:r>
          </a:p>
          <a:p>
            <a:pPr algn="l">
              <a:spcBef>
                <a:spcPts val="100"/>
              </a:spcBef>
              <a:spcAft>
                <a:spcPts val="20"/>
              </a:spcAft>
            </a:pPr>
            <a:r>
              <a:rPr b="1" sz="740">
                <a:solidFill>
                  <a:srgbClr val="166534"/>
                </a:solidFill>
                <a:latin typeface="Calibri"/>
              </a:rPr>
              <a:t>✓ </a:t>
            </a:r>
            <a:r>
              <a:rPr b="0" sz="730">
                <a:solidFill>
                  <a:srgbClr val="0F172A"/>
                </a:solidFill>
                <a:latin typeface="Calibri"/>
              </a:rPr>
              <a:t>Pre-segregated, quality-graded bulk lots</a:t>
            </a:r>
          </a:p>
          <a:p>
            <a:pPr algn="l">
              <a:spcBef>
                <a:spcPts val="100"/>
              </a:spcBef>
              <a:spcAft>
                <a:spcPts val="20"/>
              </a:spcAft>
            </a:pPr>
            <a:r>
              <a:rPr b="1" sz="740">
                <a:solidFill>
                  <a:srgbClr val="166534"/>
                </a:solidFill>
                <a:latin typeface="Calibri"/>
              </a:rPr>
              <a:t>✓ </a:t>
            </a:r>
            <a:r>
              <a:rPr b="0" sz="730">
                <a:solidFill>
                  <a:srgbClr val="0F172A"/>
                </a:solidFill>
                <a:latin typeface="Calibri"/>
              </a:rPr>
              <a:t>Location-based spatial sourcing &amp; routing</a:t>
            </a:r>
          </a:p>
          <a:p>
            <a:pPr algn="l">
              <a:spcBef>
                <a:spcPts val="100"/>
              </a:spcBef>
              <a:spcAft>
                <a:spcPts val="20"/>
              </a:spcAft>
            </a:pPr>
            <a:r>
              <a:rPr b="1" sz="740">
                <a:solidFill>
                  <a:srgbClr val="166534"/>
                </a:solidFill>
                <a:latin typeface="Calibri"/>
              </a:rPr>
              <a:t>✓ </a:t>
            </a:r>
            <a:r>
              <a:rPr b="0" sz="730">
                <a:solidFill>
                  <a:srgbClr val="0F172A"/>
                </a:solidFill>
                <a:latin typeface="Calibri"/>
              </a:rPr>
              <a:t>Cryptographic QR custody &amp; intake check</a:t>
            </a:r>
          </a:p>
          <a:p>
            <a:pPr algn="l">
              <a:spcBef>
                <a:spcPts val="100"/>
              </a:spcBef>
              <a:spcAft>
                <a:spcPts val="20"/>
              </a:spcAft>
            </a:pPr>
            <a:r>
              <a:rPr b="1" sz="740">
                <a:solidFill>
                  <a:srgbClr val="166534"/>
                </a:solidFill>
                <a:latin typeface="Calibri"/>
              </a:rPr>
              <a:t>✓ </a:t>
            </a:r>
            <a:r>
              <a:rPr b="0" sz="730">
                <a:solidFill>
                  <a:srgbClr val="0F172A"/>
                </a:solidFill>
                <a:latin typeface="Calibri"/>
              </a:rPr>
              <a:t>Verifiable chain-of-custody to smelting</a:t>
            </a:r>
          </a:p>
          <a:p>
            <a:pPr algn="l">
              <a:spcBef>
                <a:spcPts val="100"/>
              </a:spcBef>
              <a:spcAft>
                <a:spcPts val="20"/>
              </a:spcAft>
            </a:pPr>
            <a:r>
              <a:rPr b="1" sz="740">
                <a:solidFill>
                  <a:srgbClr val="166534"/>
                </a:solidFill>
                <a:latin typeface="Calibri"/>
              </a:rPr>
              <a:t>✓ </a:t>
            </a:r>
            <a:r>
              <a:rPr b="0" sz="730">
                <a:solidFill>
                  <a:srgbClr val="0F172A"/>
                </a:solidFill>
                <a:latin typeface="Calibri"/>
              </a:rPr>
              <a:t>Predictable supply &amp; higher throughput</a:t>
            </a:r>
          </a:p>
          <a:p>
            <a:pPr algn="l">
              <a:spcBef>
                <a:spcPts val="450"/>
              </a:spcBef>
            </a:pPr>
            <a:r>
              <a:rPr b="1" sz="700">
                <a:solidFill>
                  <a:srgbClr val="1E40AF"/>
                </a:solidFill>
                <a:latin typeface="Calibri"/>
              </a:rPr>
              <a:t>VALUE: Traceable feedstock &amp; verifiable chain-of-custody</a:t>
            </a:r>
          </a:p>
        </p:txBody>
      </p:sp>
      <p:sp>
        <p:nvSpPr>
          <p:cNvPr id="17414" name="Rounded Rectangle 17413"/>
          <p:cNvSpPr/>
          <p:nvPr/>
        </p:nvSpPr>
        <p:spPr>
          <a:xfrm>
            <a:off x="8970264" y="1316736"/>
            <a:ext cx="2679192" cy="3035808"/>
          </a:xfrm>
          <a:prstGeom prst="roundRect">
            <a:avLst/>
          </a:prstGeom>
          <a:solidFill>
            <a:srgbClr val="FFFFFF"/>
          </a:solidFill>
          <a:ln w="17780">
            <a:solidFill>
              <a:srgbClr val="6D28D9"/>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73152"/>
          <a:lstStyle/>
          <a:p>
            <a:pPr algn="l"/>
            <a:r>
              <a:rPr b="1" sz="960">
                <a:solidFill>
                  <a:srgbClr val="6D28D9"/>
                </a:solidFill>
                <a:latin typeface="Calibri"/>
              </a:rPr>
              <a:t>4. REGULATORS / EPR</a:t>
            </a:r>
          </a:p>
          <a:p>
            <a:pPr algn="l">
              <a:spcBef>
                <a:spcPts val="50"/>
              </a:spcBef>
              <a:spcAft>
                <a:spcPts val="350"/>
              </a:spcAft>
            </a:pPr>
            <a:r>
              <a:rPr b="0" sz="740">
                <a:solidFill>
                  <a:srgbClr val="64748B"/>
                </a:solidFill>
                <a:latin typeface="Calibri"/>
              </a:rPr>
              <a:t>CPCB, MoEFCC, SPCBs &amp; Brand Owners</a:t>
            </a:r>
          </a:p>
          <a:p>
            <a:pPr algn="l">
              <a:spcBef>
                <a:spcPts val="150"/>
              </a:spcBef>
              <a:spcAft>
                <a:spcPts val="100"/>
              </a:spcAft>
            </a:pPr>
            <a:r>
              <a:rPr b="1" sz="780">
                <a:solidFill>
                  <a:srgbClr val="991B1B"/>
                </a:solidFill>
                <a:latin typeface="Calibri"/>
              </a:rPr>
              <a:t>BEFORE:</a:t>
            </a:r>
          </a:p>
          <a:p>
            <a:pPr algn="l">
              <a:spcBef>
                <a:spcPts val="100"/>
              </a:spcBef>
              <a:spcAft>
                <a:spcPts val="20"/>
              </a:spcAft>
            </a:pPr>
            <a:r>
              <a:rPr b="1" sz="740">
                <a:solidFill>
                  <a:srgbClr val="B91C1C"/>
                </a:solidFill>
                <a:latin typeface="Calibri"/>
              </a:rPr>
              <a:t>• </a:t>
            </a:r>
            <a:r>
              <a:rPr b="0" sz="730">
                <a:solidFill>
                  <a:srgbClr val="334155"/>
                </a:solidFill>
                <a:latin typeface="Calibri"/>
              </a:rPr>
              <a:t>Unmonitored informal scrap flows &amp; leakage</a:t>
            </a:r>
          </a:p>
          <a:p>
            <a:pPr algn="l">
              <a:spcBef>
                <a:spcPts val="100"/>
              </a:spcBef>
              <a:spcAft>
                <a:spcPts val="20"/>
              </a:spcAft>
            </a:pPr>
            <a:r>
              <a:rPr b="1" sz="740">
                <a:solidFill>
                  <a:srgbClr val="B91C1C"/>
                </a:solidFill>
                <a:latin typeface="Calibri"/>
              </a:rPr>
              <a:t>• </a:t>
            </a:r>
            <a:r>
              <a:rPr b="0" sz="730">
                <a:solidFill>
                  <a:srgbClr val="334155"/>
                </a:solidFill>
                <a:latin typeface="Calibri"/>
              </a:rPr>
              <a:t>Untraceable material custody across dealers</a:t>
            </a:r>
          </a:p>
          <a:p>
            <a:pPr algn="l">
              <a:spcBef>
                <a:spcPts val="100"/>
              </a:spcBef>
              <a:spcAft>
                <a:spcPts val="20"/>
              </a:spcAft>
            </a:pPr>
            <a:r>
              <a:rPr b="1" sz="740">
                <a:solidFill>
                  <a:srgbClr val="B91C1C"/>
                </a:solidFill>
                <a:latin typeface="Calibri"/>
              </a:rPr>
              <a:t>• </a:t>
            </a:r>
            <a:r>
              <a:rPr b="0" sz="730">
                <a:solidFill>
                  <a:srgbClr val="334155"/>
                </a:solidFill>
                <a:latin typeface="Calibri"/>
              </a:rPr>
              <a:t>Risk of fraudulent paper-only credits</a:t>
            </a:r>
          </a:p>
          <a:p>
            <a:pPr algn="l">
              <a:spcBef>
                <a:spcPts val="100"/>
              </a:spcBef>
              <a:spcAft>
                <a:spcPts val="20"/>
              </a:spcAft>
            </a:pPr>
            <a:r>
              <a:rPr b="1" sz="740">
                <a:solidFill>
                  <a:srgbClr val="B91C1C"/>
                </a:solidFill>
                <a:latin typeface="Calibri"/>
              </a:rPr>
              <a:t>• </a:t>
            </a:r>
            <a:r>
              <a:rPr b="0" sz="730">
                <a:solidFill>
                  <a:srgbClr val="334155"/>
                </a:solidFill>
                <a:latin typeface="Calibri"/>
              </a:rPr>
              <a:t>Toxic crude backyard leaching &amp; burning</a:t>
            </a:r>
          </a:p>
          <a:p>
            <a:pPr algn="l">
              <a:spcBef>
                <a:spcPts val="350"/>
              </a:spcBef>
              <a:spcAft>
                <a:spcPts val="100"/>
              </a:spcAft>
            </a:pPr>
            <a:r>
              <a:rPr b="1" sz="780">
                <a:solidFill>
                  <a:srgbClr val="166534"/>
                </a:solidFill>
                <a:latin typeface="Calibri"/>
              </a:rPr>
              <a:t>AFTER (WITH E-WASTE SETU):</a:t>
            </a:r>
          </a:p>
          <a:p>
            <a:pPr algn="l">
              <a:spcBef>
                <a:spcPts val="100"/>
              </a:spcBef>
              <a:spcAft>
                <a:spcPts val="20"/>
              </a:spcAft>
            </a:pPr>
            <a:r>
              <a:rPr b="1" sz="740">
                <a:solidFill>
                  <a:srgbClr val="166534"/>
                </a:solidFill>
                <a:latin typeface="Calibri"/>
              </a:rPr>
              <a:t>✓ </a:t>
            </a:r>
            <a:r>
              <a:rPr b="0" sz="730">
                <a:solidFill>
                  <a:srgbClr val="0F172A"/>
                </a:solidFill>
                <a:latin typeface="Calibri"/>
              </a:rPr>
              <a:t>Full Collector ➔ Hub ➔ Recycler trace</a:t>
            </a:r>
          </a:p>
          <a:p>
            <a:pPr algn="l">
              <a:spcBef>
                <a:spcPts val="100"/>
              </a:spcBef>
              <a:spcAft>
                <a:spcPts val="20"/>
              </a:spcAft>
            </a:pPr>
            <a:r>
              <a:rPr b="1" sz="740">
                <a:solidFill>
                  <a:srgbClr val="166534"/>
                </a:solidFill>
                <a:latin typeface="Calibri"/>
              </a:rPr>
              <a:t>✓ </a:t>
            </a:r>
            <a:r>
              <a:rPr b="0" sz="730">
                <a:solidFill>
                  <a:srgbClr val="0F172A"/>
                </a:solidFill>
                <a:latin typeface="Calibri"/>
              </a:rPr>
              <a:t>Immutable transaction &amp; movement trail</a:t>
            </a:r>
          </a:p>
          <a:p>
            <a:pPr algn="l">
              <a:spcBef>
                <a:spcPts val="100"/>
              </a:spcBef>
              <a:spcAft>
                <a:spcPts val="20"/>
              </a:spcAft>
            </a:pPr>
            <a:r>
              <a:rPr b="1" sz="740">
                <a:solidFill>
                  <a:srgbClr val="166534"/>
                </a:solidFill>
                <a:latin typeface="Calibri"/>
              </a:rPr>
              <a:t>✓ </a:t>
            </a:r>
            <a:r>
              <a:rPr b="0" sz="730">
                <a:solidFill>
                  <a:srgbClr val="0F172A"/>
                </a:solidFill>
                <a:latin typeface="Calibri"/>
              </a:rPr>
              <a:t>Photo, OCR, GPS &amp; timestamp verification</a:t>
            </a:r>
          </a:p>
          <a:p>
            <a:pPr algn="l">
              <a:spcBef>
                <a:spcPts val="100"/>
              </a:spcBef>
              <a:spcAft>
                <a:spcPts val="20"/>
              </a:spcAft>
            </a:pPr>
            <a:r>
              <a:rPr b="1" sz="740">
                <a:solidFill>
                  <a:srgbClr val="166534"/>
                </a:solidFill>
                <a:latin typeface="Calibri"/>
              </a:rPr>
              <a:t>✓ </a:t>
            </a:r>
            <a:r>
              <a:rPr b="0" sz="730">
                <a:solidFill>
                  <a:srgbClr val="0F172A"/>
                </a:solidFill>
                <a:latin typeface="Calibri"/>
              </a:rPr>
              <a:t>Standardized structured compliance data</a:t>
            </a:r>
          </a:p>
          <a:p>
            <a:pPr algn="l">
              <a:spcBef>
                <a:spcPts val="100"/>
              </a:spcBef>
              <a:spcAft>
                <a:spcPts val="20"/>
              </a:spcAft>
            </a:pPr>
            <a:r>
              <a:rPr b="1" sz="740">
                <a:solidFill>
                  <a:srgbClr val="166534"/>
                </a:solidFill>
                <a:latin typeface="Calibri"/>
              </a:rPr>
              <a:t>✓ </a:t>
            </a:r>
            <a:r>
              <a:rPr b="0" sz="730">
                <a:solidFill>
                  <a:srgbClr val="0F172A"/>
                </a:solidFill>
                <a:latin typeface="Calibri"/>
              </a:rPr>
              <a:t>Automated, verifiable CPCB Form-6 audits</a:t>
            </a:r>
          </a:p>
          <a:p>
            <a:pPr algn="l">
              <a:spcBef>
                <a:spcPts val="450"/>
              </a:spcBef>
            </a:pPr>
            <a:r>
              <a:rPr b="1" sz="700">
                <a:solidFill>
                  <a:srgbClr val="6D28D9"/>
                </a:solidFill>
                <a:latin typeface="Calibri"/>
              </a:rPr>
              <a:t>VALUE: Complete provenance &amp; fraud-free CPCB Form-6 audits</a:t>
            </a:r>
          </a:p>
        </p:txBody>
      </p:sp>
      <p:sp>
        <p:nvSpPr>
          <p:cNvPr id="17415" name="Rounded Rectangle 17414"/>
          <p:cNvSpPr/>
          <p:nvPr/>
        </p:nvSpPr>
        <p:spPr>
          <a:xfrm>
            <a:off x="548640" y="4462272"/>
            <a:ext cx="3611880" cy="1792224"/>
          </a:xfrm>
          <a:prstGeom prst="roundRect">
            <a:avLst/>
          </a:prstGeom>
          <a:solidFill>
            <a:srgbClr val="FFFFFF"/>
          </a:solidFill>
          <a:ln w="17780">
            <a:solidFill>
              <a:srgbClr val="1E40AF"/>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109728" bIns="73152"/>
          <a:lstStyle/>
          <a:p>
            <a:pPr algn="l"/>
            <a:r>
              <a:rPr b="1" sz="960">
                <a:solidFill>
                  <a:srgbClr val="1E40AF"/>
                </a:solidFill>
                <a:latin typeface="Calibri"/>
              </a:rPr>
              <a:t>SOCIAL IMPACT</a:t>
            </a:r>
            <a:r>
              <a:rPr b="1" sz="780">
                <a:solidFill>
                  <a:srgbClr val="0F172A"/>
                </a:solidFill>
                <a:latin typeface="Calibri"/>
              </a:rPr>
              <a:t>  |  Inclusive Livelihoods &amp; Safety</a:t>
            </a:r>
          </a:p>
          <a:p>
            <a:pPr algn="l">
              <a:spcBef>
                <a:spcPts val="150"/>
              </a:spcBef>
              <a:spcAft>
                <a:spcPts val="50"/>
              </a:spcAft>
            </a:pPr>
            <a:r>
              <a:rPr b="1" sz="740">
                <a:solidFill>
                  <a:srgbClr val="1E40AF"/>
                </a:solidFill>
                <a:latin typeface="Calibri"/>
              </a:rPr>
              <a:t>• </a:t>
            </a:r>
            <a:r>
              <a:rPr b="1" sz="730">
                <a:solidFill>
                  <a:srgbClr val="0F172A"/>
                </a:solidFill>
                <a:latin typeface="Calibri"/>
              </a:rPr>
              <a:t>Zero-Barrier Access: </a:t>
            </a:r>
            <a:r>
              <a:rPr b="0" sz="720">
                <a:solidFill>
                  <a:srgbClr val="334155"/>
                </a:solidFill>
                <a:latin typeface="Calibri"/>
              </a:rPr>
              <a:t>Voice guidance &amp; visual touch UI remove literacy barriers</a:t>
            </a:r>
          </a:p>
          <a:p>
            <a:pPr algn="l">
              <a:spcBef>
                <a:spcPts val="150"/>
              </a:spcBef>
              <a:spcAft>
                <a:spcPts val="50"/>
              </a:spcAft>
            </a:pPr>
            <a:r>
              <a:rPr b="1" sz="740">
                <a:solidFill>
                  <a:srgbClr val="1E40AF"/>
                </a:solidFill>
                <a:latin typeface="Calibri"/>
              </a:rPr>
              <a:t>• </a:t>
            </a:r>
            <a:r>
              <a:rPr b="1" sz="730">
                <a:solidFill>
                  <a:srgbClr val="0F172A"/>
                </a:solidFill>
                <a:latin typeface="Calibri"/>
              </a:rPr>
              <a:t>Financial Identity: </a:t>
            </a:r>
            <a:r>
              <a:rPr b="0" sz="720">
                <a:solidFill>
                  <a:srgbClr val="334155"/>
                </a:solidFill>
                <a:latin typeface="Calibri"/>
              </a:rPr>
              <a:t>Verifiable Cash / UPI payout history enables credit eligibility</a:t>
            </a:r>
          </a:p>
          <a:p>
            <a:pPr algn="l">
              <a:spcBef>
                <a:spcPts val="150"/>
              </a:spcBef>
              <a:spcAft>
                <a:spcPts val="50"/>
              </a:spcAft>
            </a:pPr>
            <a:r>
              <a:rPr b="1" sz="740">
                <a:solidFill>
                  <a:srgbClr val="1E40AF"/>
                </a:solidFill>
                <a:latin typeface="Calibri"/>
              </a:rPr>
              <a:t>• </a:t>
            </a:r>
            <a:r>
              <a:rPr b="1" sz="730">
                <a:solidFill>
                  <a:srgbClr val="0F172A"/>
                </a:solidFill>
                <a:latin typeface="Calibri"/>
              </a:rPr>
              <a:t>Dispute Protection: </a:t>
            </a:r>
            <a:r>
              <a:rPr b="0" sz="720">
                <a:solidFill>
                  <a:srgbClr val="334155"/>
                </a:solidFill>
                <a:latin typeface="Calibri"/>
              </a:rPr>
              <a:t>Scale OCR photo evidence eliminates arbitrary middleman cuts</a:t>
            </a:r>
          </a:p>
          <a:p>
            <a:pPr algn="l">
              <a:spcBef>
                <a:spcPts val="150"/>
              </a:spcBef>
              <a:spcAft>
                <a:spcPts val="50"/>
              </a:spcAft>
            </a:pPr>
            <a:r>
              <a:rPr b="1" sz="740">
                <a:solidFill>
                  <a:srgbClr val="1E40AF"/>
                </a:solidFill>
                <a:latin typeface="Calibri"/>
              </a:rPr>
              <a:t>• </a:t>
            </a:r>
            <a:r>
              <a:rPr b="1" sz="730">
                <a:solidFill>
                  <a:srgbClr val="0F172A"/>
                </a:solidFill>
                <a:latin typeface="Calibri"/>
              </a:rPr>
              <a:t>Dignity of Labor: </a:t>
            </a:r>
            <a:r>
              <a:rPr b="0" sz="720">
                <a:solidFill>
                  <a:srgbClr val="334155"/>
                </a:solidFill>
                <a:latin typeface="Calibri"/>
              </a:rPr>
              <a:t>Transitions informal collectors into recognized green workers</a:t>
            </a:r>
          </a:p>
          <a:p>
            <a:pPr algn="l">
              <a:spcBef>
                <a:spcPts val="300"/>
              </a:spcBef>
            </a:pPr>
            <a:r>
              <a:rPr b="1" sz="700">
                <a:solidFill>
                  <a:srgbClr val="1E40AF"/>
                </a:solidFill>
                <a:latin typeface="Calibri"/>
              </a:rPr>
              <a:t>Mechanism: Transparent pricing ➔ Dignified, recognized livelihoods</a:t>
            </a:r>
          </a:p>
        </p:txBody>
      </p:sp>
      <p:sp>
        <p:nvSpPr>
          <p:cNvPr id="17416" name="Rounded Rectangle 17415"/>
          <p:cNvSpPr/>
          <p:nvPr/>
        </p:nvSpPr>
        <p:spPr>
          <a:xfrm>
            <a:off x="4288536" y="4462272"/>
            <a:ext cx="3611880" cy="1792224"/>
          </a:xfrm>
          <a:prstGeom prst="roundRect">
            <a:avLst/>
          </a:prstGeom>
          <a:solidFill>
            <a:srgbClr val="FFFFFF"/>
          </a:solidFill>
          <a:ln w="17780">
            <a:solidFill>
              <a:srgbClr val="B45309"/>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109728" bIns="73152"/>
          <a:lstStyle/>
          <a:p>
            <a:pPr algn="l"/>
            <a:r>
              <a:rPr b="1" sz="960">
                <a:solidFill>
                  <a:srgbClr val="B45309"/>
                </a:solidFill>
                <a:latin typeface="Calibri"/>
              </a:rPr>
              <a:t>ECONOMIC IMPACT</a:t>
            </a:r>
            <a:r>
              <a:rPr b="1" sz="780">
                <a:solidFill>
                  <a:srgbClr val="0F172A"/>
                </a:solidFill>
                <a:latin typeface="Calibri"/>
              </a:rPr>
              <a:t>  |  Price Transparency &amp; Supply Efficiency</a:t>
            </a:r>
          </a:p>
          <a:p>
            <a:pPr algn="l">
              <a:spcBef>
                <a:spcPts val="150"/>
              </a:spcBef>
              <a:spcAft>
                <a:spcPts val="50"/>
              </a:spcAft>
            </a:pPr>
            <a:r>
              <a:rPr b="1" sz="740">
                <a:solidFill>
                  <a:srgbClr val="B45309"/>
                </a:solidFill>
                <a:latin typeface="Calibri"/>
              </a:rPr>
              <a:t>• </a:t>
            </a:r>
            <a:r>
              <a:rPr b="1" sz="730">
                <a:solidFill>
                  <a:srgbClr val="0F172A"/>
                </a:solidFill>
                <a:latin typeface="Calibri"/>
              </a:rPr>
              <a:t>Transparent Pricing: </a:t>
            </a:r>
            <a:r>
              <a:rPr b="0" sz="720">
                <a:solidFill>
                  <a:srgbClr val="334155"/>
                </a:solidFill>
                <a:latin typeface="Calibri"/>
              </a:rPr>
              <a:t>Live benchmark floor prevents middleman price exploitation</a:t>
            </a:r>
          </a:p>
          <a:p>
            <a:pPr algn="l">
              <a:spcBef>
                <a:spcPts val="150"/>
              </a:spcBef>
              <a:spcAft>
                <a:spcPts val="50"/>
              </a:spcAft>
            </a:pPr>
            <a:r>
              <a:rPr b="1" sz="740">
                <a:solidFill>
                  <a:srgbClr val="B45309"/>
                </a:solidFill>
                <a:latin typeface="Calibri"/>
              </a:rPr>
              <a:t>• </a:t>
            </a:r>
            <a:r>
              <a:rPr b="1" sz="730">
                <a:solidFill>
                  <a:srgbClr val="0F172A"/>
                </a:solidFill>
                <a:latin typeface="Calibri"/>
              </a:rPr>
              <a:t>Bulk Value Capture: </a:t>
            </a:r>
            <a:r>
              <a:rPr b="0" sz="720">
                <a:solidFill>
                  <a:srgbClr val="334155"/>
                </a:solidFill>
                <a:latin typeface="Calibri"/>
              </a:rPr>
              <a:t>Small lots aggregated into high-margin formal consignments</a:t>
            </a:r>
          </a:p>
          <a:p>
            <a:pPr algn="l">
              <a:spcBef>
                <a:spcPts val="150"/>
              </a:spcBef>
              <a:spcAft>
                <a:spcPts val="50"/>
              </a:spcAft>
            </a:pPr>
            <a:r>
              <a:rPr b="1" sz="740">
                <a:solidFill>
                  <a:srgbClr val="B45309"/>
                </a:solidFill>
                <a:latin typeface="Calibri"/>
              </a:rPr>
              <a:t>• </a:t>
            </a:r>
            <a:r>
              <a:rPr b="1" sz="730">
                <a:solidFill>
                  <a:srgbClr val="0F172A"/>
                </a:solidFill>
                <a:latin typeface="Calibri"/>
              </a:rPr>
              <a:t>Dispute-Free Trade: </a:t>
            </a:r>
            <a:r>
              <a:rPr b="0" sz="720">
                <a:solidFill>
                  <a:srgbClr val="334155"/>
                </a:solidFill>
                <a:latin typeface="Calibri"/>
              </a:rPr>
              <a:t>Tamper-evident OCR weight logs resolve handover conflicts</a:t>
            </a:r>
          </a:p>
          <a:p>
            <a:pPr algn="l">
              <a:spcBef>
                <a:spcPts val="150"/>
              </a:spcBef>
              <a:spcAft>
                <a:spcPts val="50"/>
              </a:spcAft>
            </a:pPr>
            <a:r>
              <a:rPr b="1" sz="740">
                <a:solidFill>
                  <a:srgbClr val="B45309"/>
                </a:solidFill>
                <a:latin typeface="Calibri"/>
              </a:rPr>
              <a:t>• </a:t>
            </a:r>
            <a:r>
              <a:rPr b="1" sz="730">
                <a:solidFill>
                  <a:srgbClr val="0F172A"/>
                </a:solidFill>
                <a:latin typeface="Calibri"/>
              </a:rPr>
              <a:t>Capacity Throughput: </a:t>
            </a:r>
            <a:r>
              <a:rPr b="0" sz="720">
                <a:solidFill>
                  <a:srgbClr val="334155"/>
                </a:solidFill>
                <a:latin typeface="Calibri"/>
              </a:rPr>
              <a:t>Predictable, sorted feedstock maximizes plant utilization</a:t>
            </a:r>
          </a:p>
          <a:p>
            <a:pPr algn="l">
              <a:spcBef>
                <a:spcPts val="300"/>
              </a:spcBef>
            </a:pPr>
            <a:r>
              <a:rPr b="1" sz="700">
                <a:solidFill>
                  <a:srgbClr val="B45309"/>
                </a:solidFill>
                <a:latin typeface="Calibri"/>
              </a:rPr>
              <a:t>Mechanism: Lot aggregation + OCR proof ➔ Dispute-free bulk trade</a:t>
            </a:r>
          </a:p>
        </p:txBody>
      </p:sp>
      <p:sp>
        <p:nvSpPr>
          <p:cNvPr id="17417" name="Rounded Rectangle 17416"/>
          <p:cNvSpPr/>
          <p:nvPr/>
        </p:nvSpPr>
        <p:spPr>
          <a:xfrm>
            <a:off x="8028432" y="4462272"/>
            <a:ext cx="3611880" cy="1792224"/>
          </a:xfrm>
          <a:prstGeom prst="roundRect">
            <a:avLst/>
          </a:prstGeom>
          <a:solidFill>
            <a:srgbClr val="FFFFFF"/>
          </a:solidFill>
          <a:ln w="17780">
            <a:solidFill>
              <a:srgbClr val="166534"/>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109728" bIns="73152"/>
          <a:lstStyle/>
          <a:p>
            <a:pPr algn="l"/>
            <a:r>
              <a:rPr b="1" sz="960">
                <a:solidFill>
                  <a:srgbClr val="166534"/>
                </a:solidFill>
                <a:latin typeface="Calibri"/>
              </a:rPr>
              <a:t>ENVIRONMENTAL IMPACT</a:t>
            </a:r>
            <a:r>
              <a:rPr b="1" sz="780">
                <a:solidFill>
                  <a:srgbClr val="0F172A"/>
                </a:solidFill>
                <a:latin typeface="Calibri"/>
              </a:rPr>
              <a:t>  |  Toxic Diversion &amp; Circular Recovery</a:t>
            </a:r>
          </a:p>
          <a:p>
            <a:pPr algn="l">
              <a:spcBef>
                <a:spcPts val="150"/>
              </a:spcBef>
              <a:spcAft>
                <a:spcPts val="50"/>
              </a:spcAft>
            </a:pPr>
            <a:r>
              <a:rPr b="1" sz="740">
                <a:solidFill>
                  <a:srgbClr val="166534"/>
                </a:solidFill>
                <a:latin typeface="Calibri"/>
              </a:rPr>
              <a:t>• </a:t>
            </a:r>
            <a:r>
              <a:rPr b="1" sz="730">
                <a:solidFill>
                  <a:srgbClr val="0F172A"/>
                </a:solidFill>
                <a:latin typeface="Calibri"/>
              </a:rPr>
              <a:t>Zero Toxic Leaching: </a:t>
            </a:r>
            <a:r>
              <a:rPr b="0" sz="720">
                <a:solidFill>
                  <a:srgbClr val="334155"/>
                </a:solidFill>
                <a:latin typeface="Calibri"/>
              </a:rPr>
              <a:t>Diverts PCBs away from crude acid baths &amp; open-wire burning</a:t>
            </a:r>
          </a:p>
          <a:p>
            <a:pPr algn="l">
              <a:spcBef>
                <a:spcPts val="150"/>
              </a:spcBef>
              <a:spcAft>
                <a:spcPts val="50"/>
              </a:spcAft>
            </a:pPr>
            <a:r>
              <a:rPr b="1" sz="740">
                <a:solidFill>
                  <a:srgbClr val="166534"/>
                </a:solidFill>
                <a:latin typeface="Calibri"/>
              </a:rPr>
              <a:t>• </a:t>
            </a:r>
            <a:r>
              <a:rPr b="1" sz="730">
                <a:solidFill>
                  <a:srgbClr val="0F172A"/>
                </a:solidFill>
                <a:latin typeface="Calibri"/>
              </a:rPr>
              <a:t>Critical Minerals: </a:t>
            </a:r>
            <a:r>
              <a:rPr b="0" sz="720">
                <a:solidFill>
                  <a:srgbClr val="334155"/>
                </a:solidFill>
                <a:latin typeface="Calibri"/>
              </a:rPr>
              <a:t>Secures domestic hydrometallurgical recovery of Cu, Au, Ag</a:t>
            </a:r>
          </a:p>
          <a:p>
            <a:pPr algn="l">
              <a:spcBef>
                <a:spcPts val="150"/>
              </a:spcBef>
              <a:spcAft>
                <a:spcPts val="50"/>
              </a:spcAft>
            </a:pPr>
            <a:r>
              <a:rPr b="1" sz="740">
                <a:solidFill>
                  <a:srgbClr val="166534"/>
                </a:solidFill>
                <a:latin typeface="Calibri"/>
              </a:rPr>
              <a:t>• </a:t>
            </a:r>
            <a:r>
              <a:rPr b="1" sz="730">
                <a:solidFill>
                  <a:srgbClr val="0F172A"/>
                </a:solidFill>
                <a:latin typeface="Calibri"/>
              </a:rPr>
              <a:t>Chain-of-Custody: </a:t>
            </a:r>
            <a:r>
              <a:rPr b="0" sz="720">
                <a:solidFill>
                  <a:srgbClr val="334155"/>
                </a:solidFill>
                <a:latin typeface="Calibri"/>
              </a:rPr>
              <a:t>Cryptographic QR tracking prevents gray-market transit dumping</a:t>
            </a:r>
          </a:p>
          <a:p>
            <a:pPr algn="l">
              <a:spcBef>
                <a:spcPts val="150"/>
              </a:spcBef>
              <a:spcAft>
                <a:spcPts val="50"/>
              </a:spcAft>
            </a:pPr>
            <a:r>
              <a:rPr b="1" sz="740">
                <a:solidFill>
                  <a:srgbClr val="166534"/>
                </a:solidFill>
                <a:latin typeface="Calibri"/>
              </a:rPr>
              <a:t>• </a:t>
            </a:r>
            <a:r>
              <a:rPr b="1" sz="730">
                <a:solidFill>
                  <a:srgbClr val="0F172A"/>
                </a:solidFill>
                <a:latin typeface="Calibri"/>
              </a:rPr>
              <a:t>Audit-Proof EPR: </a:t>
            </a:r>
            <a:r>
              <a:rPr b="0" sz="720">
                <a:solidFill>
                  <a:srgbClr val="334155"/>
                </a:solidFill>
                <a:latin typeface="Calibri"/>
              </a:rPr>
              <a:t>True physical custody audit trail replaces paper-only fraud</a:t>
            </a:r>
          </a:p>
          <a:p>
            <a:pPr algn="l">
              <a:spcBef>
                <a:spcPts val="300"/>
              </a:spcBef>
            </a:pPr>
            <a:r>
              <a:rPr b="1" sz="700">
                <a:solidFill>
                  <a:srgbClr val="166534"/>
                </a:solidFill>
                <a:latin typeface="Calibri"/>
              </a:rPr>
              <a:t>Mechanism: Digital custody ➔ End-to-end trace &amp; zero toxic burning</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b="1" sz="3000">
                <a:solidFill>
                  <a:srgbClr val="0F172A"/>
                </a:solidFill>
                <a:latin typeface="Arial"/>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a:lstStyle/>
          <a:p>
            <a:pPr algn="ctr"/>
            <a:r>
              <a:rPr b="1" sz="1000">
                <a:solidFill>
                  <a:srgbClr val="0F172A"/>
                </a:solidFill>
                <a:latin typeface="Arial"/>
              </a:rPr>
              <a:t>HelloWorldWarriors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48640" y="960120"/>
            <a:ext cx="10972800" cy="292608"/>
          </a:xfrm>
          <a:prstGeom prst="rect">
            <a:avLst/>
          </a:prstGeom>
          <a:noFill/>
        </p:spPr>
        <p:txBody>
          <a:bodyPr wrap="square" lIns="0" rIns="0" tIns="0" bIns="0">
            <a:spAutoFit/>
          </a:bodyPr>
          <a:lstStyle/>
          <a:p>
            <a:r>
              <a:rPr b="1" sz="1050">
                <a:solidFill>
                  <a:srgbClr val="0F172A"/>
                </a:solidFill>
                <a:latin typeface="Arial"/>
              </a:rPr>
              <a:t>Comprehensive Literature, Technical Foundations &amp; Primary Field Research: </a:t>
            </a:r>
            <a:r>
              <a:rPr b="0" sz="1050">
                <a:solidFill>
                  <a:srgbClr val="166534"/>
                </a:solidFill>
                <a:latin typeface="Arial"/>
              </a:rPr>
              <a:t>Evidence-Based Architecture for E-Waste Setu</a:t>
            </a:r>
          </a:p>
        </p:txBody>
      </p:sp>
      <p:sp>
        <p:nvSpPr>
          <p:cNvPr id="17411" name="Rounded Rectangle 17410"/>
          <p:cNvSpPr/>
          <p:nvPr/>
        </p:nvSpPr>
        <p:spPr>
          <a:xfrm>
            <a:off x="548640" y="1261872"/>
            <a:ext cx="3584448" cy="4059936"/>
          </a:xfrm>
          <a:prstGeom prst="roundRect">
            <a:avLst/>
          </a:prstGeom>
          <a:solidFill>
            <a:srgbClr val="FFFFFF"/>
          </a:solidFill>
          <a:ln w="17780">
            <a:solidFill>
              <a:srgbClr val="1E40AF"/>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73152"/>
          <a:lstStyle/>
          <a:p>
            <a:pPr algn="l"/>
            <a:r>
              <a:rPr b="1" sz="960">
                <a:solidFill>
                  <a:srgbClr val="1E40AF"/>
                </a:solidFill>
                <a:latin typeface="Calibri"/>
              </a:rPr>
              <a:t>1. PROBLEM, POLICY &amp; DOMAIN RESEARCH</a:t>
            </a:r>
          </a:p>
          <a:p>
            <a:pPr algn="l">
              <a:spcBef>
                <a:spcPts val="50"/>
              </a:spcBef>
              <a:spcAft>
                <a:spcPts val="250"/>
              </a:spcAft>
            </a:pPr>
            <a:r>
              <a:rPr b="0" sz="720">
                <a:solidFill>
                  <a:srgbClr val="64748B"/>
                </a:solidFill>
                <a:latin typeface="Calibri"/>
              </a:rPr>
              <a:t>Statutory Mandates, Academic Literature &amp; National Policy</a:t>
            </a:r>
          </a:p>
          <a:p>
            <a:pPr algn="l">
              <a:spcBef>
                <a:spcPts val="180"/>
              </a:spcBef>
              <a:spcAft>
                <a:spcPts val="20"/>
              </a:spcAft>
            </a:pPr>
            <a:r>
              <a:rPr b="1" sz="750">
                <a:solidFill>
                  <a:srgbClr val="1E40AF"/>
                </a:solidFill>
                <a:latin typeface="Calibri"/>
              </a:rPr>
              <a:t>• </a:t>
            </a:r>
            <a:r>
              <a:rPr b="1" sz="750" u="sng">
                <a:solidFill>
                  <a:srgbClr val="1E40AF"/>
                </a:solidFill>
                <a:latin typeface="Calibri"/>
                <a:hlinkClick r:id="rId4"/>
              </a:rPr>
              <a:t>Smart India Hackathon 2026 — PS 26229 ↗</a:t>
            </a:r>
            <a:r>
              <a:rPr b="0" sz="680">
                <a:solidFill>
                  <a:srgbClr val="64748B"/>
                </a:solidFill>
                <a:latin typeface="Calibri"/>
              </a:rPr>
              <a:t> (Ministry of Mines / JNARDDC)</a:t>
            </a:r>
          </a:p>
          <a:p>
            <a:pPr algn="l">
              <a:spcBef>
                <a:spcPts val="20"/>
              </a:spcBef>
              <a:spcAft>
                <a:spcPts val="100"/>
              </a:spcAft>
            </a:pPr>
            <a:r>
              <a:rPr b="0" sz="690">
                <a:solidFill>
                  <a:srgbClr val="334155"/>
                </a:solidFill>
                <a:latin typeface="Calibri"/>
              </a:rPr>
              <a:t>Formalization Mandate: Problem scope targeting informal collector inclusion; sets verifiable custody &amp; transparent price benchmarks as core criteria.</a:t>
            </a:r>
          </a:p>
          <a:p>
            <a:pPr algn="l">
              <a:spcBef>
                <a:spcPts val="180"/>
              </a:spcBef>
              <a:spcAft>
                <a:spcPts val="20"/>
              </a:spcAft>
            </a:pPr>
            <a:r>
              <a:rPr b="1" sz="750">
                <a:solidFill>
                  <a:srgbClr val="1E40AF"/>
                </a:solidFill>
                <a:latin typeface="Calibri"/>
              </a:rPr>
              <a:t>• </a:t>
            </a:r>
            <a:r>
              <a:rPr b="1" sz="750" u="sng">
                <a:solidFill>
                  <a:srgbClr val="1E40AF"/>
                </a:solidFill>
                <a:latin typeface="Calibri"/>
                <a:hlinkClick r:id="rId5"/>
              </a:rPr>
              <a:t>E-Waste (Management) Rules, 2022 ↗</a:t>
            </a:r>
            <a:r>
              <a:rPr b="0" sz="680">
                <a:solidFill>
                  <a:srgbClr val="64748B"/>
                </a:solidFill>
                <a:latin typeface="Calibri"/>
              </a:rPr>
              <a:t> (CPCB / MoEFCC)</a:t>
            </a:r>
          </a:p>
          <a:p>
            <a:pPr algn="l">
              <a:spcBef>
                <a:spcPts val="20"/>
              </a:spcBef>
              <a:spcAft>
                <a:spcPts val="100"/>
              </a:spcAft>
            </a:pPr>
            <a:r>
              <a:rPr b="0" sz="690">
                <a:solidFill>
                  <a:srgbClr val="334155"/>
                </a:solidFill>
                <a:latin typeface="Calibri"/>
              </a:rPr>
              <a:t>Statutory Compliance: Mandates digital EPR credit trading, formal recycler licensing, and automated Form-6 electronic filing audit trails.</a:t>
            </a:r>
          </a:p>
          <a:p>
            <a:pPr algn="l">
              <a:spcBef>
                <a:spcPts val="180"/>
              </a:spcBef>
              <a:spcAft>
                <a:spcPts val="20"/>
              </a:spcAft>
            </a:pPr>
            <a:r>
              <a:rPr b="1" sz="750">
                <a:solidFill>
                  <a:srgbClr val="1E40AF"/>
                </a:solidFill>
                <a:latin typeface="Calibri"/>
              </a:rPr>
              <a:t>• </a:t>
            </a:r>
            <a:r>
              <a:rPr b="1" sz="750" u="sng">
                <a:solidFill>
                  <a:srgbClr val="1E40AF"/>
                </a:solidFill>
                <a:latin typeface="Calibri"/>
                <a:hlinkClick r:id="rId6"/>
              </a:rPr>
              <a:t>CPCB — E-Waste Management / EPR Portal ↗</a:t>
            </a:r>
            <a:r>
              <a:rPr b="0" sz="680">
                <a:solidFill>
                  <a:srgbClr val="64748B"/>
                </a:solidFill>
                <a:latin typeface="Calibri"/>
              </a:rPr>
              <a:t> (Central Pollution Control Board)</a:t>
            </a:r>
          </a:p>
          <a:p>
            <a:pPr algn="l">
              <a:spcBef>
                <a:spcPts val="20"/>
              </a:spcBef>
              <a:spcAft>
                <a:spcPts val="100"/>
              </a:spcAft>
            </a:pPr>
            <a:r>
              <a:rPr b="0" sz="690">
                <a:solidFill>
                  <a:srgbClr val="334155"/>
                </a:solidFill>
                <a:latin typeface="Calibri"/>
              </a:rPr>
              <a:t>Registry &amp; Ecosystem: Official national portal for registered dismantlers &amp; recyclers; mapped to our spatial engine for certified lot routing.</a:t>
            </a:r>
          </a:p>
          <a:p>
            <a:pPr algn="l">
              <a:spcBef>
                <a:spcPts val="180"/>
              </a:spcBef>
              <a:spcAft>
                <a:spcPts val="20"/>
              </a:spcAft>
            </a:pPr>
            <a:r>
              <a:rPr b="1" sz="750">
                <a:solidFill>
                  <a:srgbClr val="1E40AF"/>
                </a:solidFill>
                <a:latin typeface="Calibri"/>
              </a:rPr>
              <a:t>• </a:t>
            </a:r>
            <a:r>
              <a:rPr b="1" sz="750" u="sng">
                <a:solidFill>
                  <a:srgbClr val="1E40AF"/>
                </a:solidFill>
                <a:latin typeface="Calibri"/>
                <a:hlinkClick r:id="rId7"/>
              </a:rPr>
              <a:t>NITI Aayog — Circular Economy Strategy ↗</a:t>
            </a:r>
            <a:r>
              <a:rPr b="0" sz="680">
                <a:solidFill>
                  <a:srgbClr val="64748B"/>
                </a:solidFill>
                <a:latin typeface="Calibri"/>
              </a:rPr>
              <a:t> (NITI Aayog (2022))</a:t>
            </a:r>
          </a:p>
          <a:p>
            <a:pPr algn="l">
              <a:spcBef>
                <a:spcPts val="20"/>
              </a:spcBef>
              <a:spcAft>
                <a:spcPts val="100"/>
              </a:spcAft>
            </a:pPr>
            <a:r>
              <a:rPr b="0" sz="690">
                <a:solidFill>
                  <a:srgbClr val="334155"/>
                </a:solidFill>
                <a:latin typeface="Calibri"/>
              </a:rPr>
              <a:t>Inclusion Roadmap: Prioritizes decentralized aggregation hubs, fair floor pricing, and domestic recovery of critical electronic minerals.</a:t>
            </a:r>
          </a:p>
          <a:p>
            <a:pPr algn="l">
              <a:spcBef>
                <a:spcPts val="180"/>
              </a:spcBef>
              <a:spcAft>
                <a:spcPts val="20"/>
              </a:spcAft>
            </a:pPr>
            <a:r>
              <a:rPr b="1" sz="750">
                <a:solidFill>
                  <a:srgbClr val="1E40AF"/>
                </a:solidFill>
                <a:latin typeface="Calibri"/>
              </a:rPr>
              <a:t>• </a:t>
            </a:r>
            <a:r>
              <a:rPr b="1" sz="750" u="sng">
                <a:solidFill>
                  <a:srgbClr val="1E40AF"/>
                </a:solidFill>
                <a:latin typeface="Calibri"/>
                <a:hlinkClick r:id="rId8"/>
              </a:rPr>
              <a:t>JNARDDC — Waste Management Research ↗</a:t>
            </a:r>
            <a:r>
              <a:rPr b="0" sz="680">
                <a:solidFill>
                  <a:srgbClr val="64748B"/>
                </a:solidFill>
                <a:latin typeface="Calibri"/>
              </a:rPr>
              <a:t> (Autonomous Body, MoM)</a:t>
            </a:r>
          </a:p>
          <a:p>
            <a:pPr algn="l">
              <a:spcBef>
                <a:spcPts val="20"/>
              </a:spcBef>
              <a:spcAft>
                <a:spcPts val="100"/>
              </a:spcAft>
            </a:pPr>
            <a:r>
              <a:rPr b="0" sz="690">
                <a:solidFill>
                  <a:srgbClr val="334155"/>
                </a:solidFill>
                <a:latin typeface="Calibri"/>
              </a:rPr>
              <a:t>Metallurgical Recovery: Benchmark extraction indices for Au, Ag, Cu, Li via hydrometallurgical processing over hazardous backyard leaching.</a:t>
            </a:r>
          </a:p>
          <a:p>
            <a:pPr algn="l">
              <a:spcBef>
                <a:spcPts val="180"/>
              </a:spcBef>
              <a:spcAft>
                <a:spcPts val="20"/>
              </a:spcAft>
            </a:pPr>
            <a:r>
              <a:rPr b="1" sz="750">
                <a:solidFill>
                  <a:srgbClr val="1E40AF"/>
                </a:solidFill>
                <a:latin typeface="Calibri"/>
              </a:rPr>
              <a:t>• </a:t>
            </a:r>
            <a:r>
              <a:rPr b="1" sz="750" u="sng">
                <a:solidFill>
                  <a:srgbClr val="1E40AF"/>
                </a:solidFill>
                <a:latin typeface="Calibri"/>
                <a:hlinkClick r:id="rId9"/>
              </a:rPr>
              <a:t>Toxics Link — Electronic Waste Research ↗</a:t>
            </a:r>
            <a:r>
              <a:rPr b="0" sz="680">
                <a:solidFill>
                  <a:srgbClr val="64748B"/>
                </a:solidFill>
                <a:latin typeface="Calibri"/>
              </a:rPr>
              <a:t> (Environmental Research Body)</a:t>
            </a:r>
          </a:p>
          <a:p>
            <a:pPr algn="l">
              <a:spcBef>
                <a:spcPts val="20"/>
              </a:spcBef>
              <a:spcAft>
                <a:spcPts val="100"/>
              </a:spcAft>
            </a:pPr>
            <a:r>
              <a:rPr b="0" sz="690">
                <a:solidFill>
                  <a:srgbClr val="334155"/>
                </a:solidFill>
                <a:latin typeface="Calibri"/>
              </a:rPr>
              <a:t>Ground Vulnerabilities: Proves 25–40% value skimming by middlemen and severe heavy metal poisoning from crude open acid burning.</a:t>
            </a:r>
          </a:p>
          <a:p>
            <a:pPr algn="l">
              <a:spcBef>
                <a:spcPts val="300"/>
              </a:spcBef>
            </a:pPr>
            <a:r>
              <a:rPr b="1" sz="700">
                <a:solidFill>
                  <a:srgbClr val="1E40AF"/>
                </a:solidFill>
                <a:latin typeface="Calibri"/>
              </a:rPr>
              <a:t>REGULATORY ALIGNMENT: </a:t>
            </a:r>
            <a:r>
              <a:rPr b="0" sz="690">
                <a:solidFill>
                  <a:srgbClr val="334155"/>
                </a:solidFill>
                <a:latin typeface="Calibri"/>
              </a:rPr>
              <a:t>Direct compliance mapping to CPCB Form-6 digital ledger and EPR credit audit rules.</a:t>
            </a:r>
          </a:p>
        </p:txBody>
      </p:sp>
      <p:sp>
        <p:nvSpPr>
          <p:cNvPr id="17412" name="Rounded Rectangle 17411"/>
          <p:cNvSpPr/>
          <p:nvPr/>
        </p:nvSpPr>
        <p:spPr>
          <a:xfrm>
            <a:off x="4297680" y="1261872"/>
            <a:ext cx="3584448" cy="4059936"/>
          </a:xfrm>
          <a:prstGeom prst="roundRect">
            <a:avLst/>
          </a:prstGeom>
          <a:solidFill>
            <a:srgbClr val="FFFFFF"/>
          </a:solidFill>
          <a:ln w="17780">
            <a:solidFill>
              <a:srgbClr val="166534"/>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73152"/>
          <a:lstStyle/>
          <a:p>
            <a:pPr algn="l"/>
            <a:r>
              <a:rPr b="1" sz="960">
                <a:solidFill>
                  <a:srgbClr val="166534"/>
                </a:solidFill>
                <a:latin typeface="Calibri"/>
              </a:rPr>
              <a:t>2. TECHNOLOGY &amp; AI RESEARCH</a:t>
            </a:r>
          </a:p>
          <a:p>
            <a:pPr algn="l">
              <a:spcBef>
                <a:spcPts val="50"/>
              </a:spcBef>
              <a:spcAft>
                <a:spcPts val="250"/>
              </a:spcAft>
            </a:pPr>
            <a:r>
              <a:rPr b="0" sz="720">
                <a:solidFill>
                  <a:srgbClr val="64748B"/>
                </a:solidFill>
                <a:latin typeface="Calibri"/>
              </a:rPr>
              <a:t>Open-Source Engines, Algorithmic Foundations &amp; Web Standards</a:t>
            </a:r>
          </a:p>
          <a:p>
            <a:pPr algn="l">
              <a:spcBef>
                <a:spcPts val="180"/>
              </a:spcBef>
              <a:spcAft>
                <a:spcPts val="20"/>
              </a:spcAft>
            </a:pPr>
            <a:r>
              <a:rPr b="1" sz="750">
                <a:solidFill>
                  <a:srgbClr val="166534"/>
                </a:solidFill>
                <a:latin typeface="Calibri"/>
              </a:rPr>
              <a:t>• </a:t>
            </a:r>
            <a:r>
              <a:rPr b="1" sz="750" u="sng">
                <a:solidFill>
                  <a:srgbClr val="1E40AF"/>
                </a:solidFill>
                <a:latin typeface="Calibri"/>
                <a:hlinkClick r:id="rId10"/>
              </a:rPr>
              <a:t>MobileNetV3 — Mobile Vision ↗</a:t>
            </a:r>
            <a:r>
              <a:rPr b="0" sz="680">
                <a:solidFill>
                  <a:srgbClr val="64748B"/>
                </a:solidFill>
                <a:latin typeface="Calibri"/>
              </a:rPr>
              <a:t> (Howard et al., Google Research)</a:t>
            </a:r>
          </a:p>
          <a:p>
            <a:pPr algn="l">
              <a:spcBef>
                <a:spcPts val="20"/>
              </a:spcBef>
              <a:spcAft>
                <a:spcPts val="100"/>
              </a:spcAft>
            </a:pPr>
            <a:r>
              <a:rPr b="0" sz="690">
                <a:solidFill>
                  <a:srgbClr val="334155"/>
                </a:solidFill>
                <a:latin typeface="Calibri"/>
              </a:rPr>
              <a:t>Lightweight Neural Vision: Hardware-aware NAS architecture; quantized INT8 on-device scrap category classifier (&lt;5MB) running in real-time on budget phones.</a:t>
            </a:r>
          </a:p>
          <a:p>
            <a:pPr algn="l">
              <a:spcBef>
                <a:spcPts val="180"/>
              </a:spcBef>
              <a:spcAft>
                <a:spcPts val="20"/>
              </a:spcAft>
            </a:pPr>
            <a:r>
              <a:rPr b="1" sz="750">
                <a:solidFill>
                  <a:srgbClr val="166534"/>
                </a:solidFill>
                <a:latin typeface="Calibri"/>
              </a:rPr>
              <a:t>• </a:t>
            </a:r>
            <a:r>
              <a:rPr b="1" sz="750" u="sng">
                <a:solidFill>
                  <a:srgbClr val="1E40AF"/>
                </a:solidFill>
                <a:latin typeface="Calibri"/>
                <a:hlinkClick r:id="rId11"/>
              </a:rPr>
              <a:t>IEEE Access — E-Waste Vision AI ↗</a:t>
            </a:r>
            <a:r>
              <a:rPr b="0" sz="680">
                <a:solidFill>
                  <a:srgbClr val="64748B"/>
                </a:solidFill>
                <a:latin typeface="Calibri"/>
              </a:rPr>
              <a:t> (IEEE Xplore (2021))</a:t>
            </a:r>
          </a:p>
          <a:p>
            <a:pPr algn="l">
              <a:spcBef>
                <a:spcPts val="20"/>
              </a:spcBef>
              <a:spcAft>
                <a:spcPts val="100"/>
              </a:spcAft>
            </a:pPr>
            <a:r>
              <a:rPr b="0" sz="690">
                <a:solidFill>
                  <a:srgbClr val="334155"/>
                </a:solidFill>
                <a:latin typeface="Calibri"/>
              </a:rPr>
              <a:t>Peer-Reviewed Benchmark: Evaluates lightweight transfer-learning CNN architectures for automated multi-category electronic scrap classification on edge hardware.</a:t>
            </a:r>
          </a:p>
          <a:p>
            <a:pPr algn="l">
              <a:spcBef>
                <a:spcPts val="180"/>
              </a:spcBef>
              <a:spcAft>
                <a:spcPts val="20"/>
              </a:spcAft>
            </a:pPr>
            <a:r>
              <a:rPr b="1" sz="750">
                <a:solidFill>
                  <a:srgbClr val="166534"/>
                </a:solidFill>
                <a:latin typeface="Calibri"/>
              </a:rPr>
              <a:t>• </a:t>
            </a:r>
            <a:r>
              <a:rPr b="1" sz="750" u="sng">
                <a:solidFill>
                  <a:srgbClr val="1E40AF"/>
                </a:solidFill>
                <a:latin typeface="Calibri"/>
                <a:hlinkClick r:id="rId12"/>
              </a:rPr>
              <a:t>AI4Bharat — Indic Language AI ↗</a:t>
            </a:r>
            <a:r>
              <a:rPr b="0" sz="680">
                <a:solidFill>
                  <a:srgbClr val="64748B"/>
                </a:solidFill>
                <a:latin typeface="Calibri"/>
              </a:rPr>
              <a:t> (IIT Madras / MeitY Initiative)</a:t>
            </a:r>
          </a:p>
          <a:p>
            <a:pPr algn="l">
              <a:spcBef>
                <a:spcPts val="20"/>
              </a:spcBef>
              <a:spcAft>
                <a:spcPts val="100"/>
              </a:spcAft>
            </a:pPr>
            <a:r>
              <a:rPr b="0" sz="690">
                <a:solidFill>
                  <a:srgbClr val="334155"/>
                </a:solidFill>
                <a:latin typeface="Calibri"/>
              </a:rPr>
              <a:t>Vernacular Voice Assistance: Speech-to-text and voice synthesis in Hindi &amp; regional dialects; removes reading/typing barriers for low-literacy collectors.</a:t>
            </a:r>
          </a:p>
          <a:p>
            <a:pPr algn="l">
              <a:spcBef>
                <a:spcPts val="180"/>
              </a:spcBef>
              <a:spcAft>
                <a:spcPts val="20"/>
              </a:spcAft>
            </a:pPr>
            <a:r>
              <a:rPr b="1" sz="750">
                <a:solidFill>
                  <a:srgbClr val="166534"/>
                </a:solidFill>
                <a:latin typeface="Calibri"/>
              </a:rPr>
              <a:t>• </a:t>
            </a:r>
            <a:r>
              <a:rPr b="1" sz="750" u="sng">
                <a:solidFill>
                  <a:srgbClr val="1E40AF"/>
                </a:solidFill>
                <a:latin typeface="Calibri"/>
                <a:hlinkClick r:id="rId13"/>
              </a:rPr>
              <a:t>OpenCV — Computer Vision Pipeline ↗</a:t>
            </a:r>
            <a:r>
              <a:rPr b="0" sz="680">
                <a:solidFill>
                  <a:srgbClr val="64748B"/>
                </a:solidFill>
                <a:latin typeface="Calibri"/>
              </a:rPr>
              <a:t> (OpenCV Foundation)</a:t>
            </a:r>
          </a:p>
          <a:p>
            <a:pPr algn="l">
              <a:spcBef>
                <a:spcPts val="20"/>
              </a:spcBef>
              <a:spcAft>
                <a:spcPts val="100"/>
              </a:spcAft>
            </a:pPr>
            <a:r>
              <a:rPr b="0" sz="690">
                <a:solidFill>
                  <a:srgbClr val="334155"/>
                </a:solidFill>
                <a:latin typeface="Calibri"/>
              </a:rPr>
              <a:t>Scale OCR Verification: Perspective warp rectification, adaptive thresholding &amp; 7-segment digit recognition to extract tamper-evident weight proof from photos.</a:t>
            </a:r>
          </a:p>
          <a:p>
            <a:pPr algn="l">
              <a:spcBef>
                <a:spcPts val="180"/>
              </a:spcBef>
              <a:spcAft>
                <a:spcPts val="20"/>
              </a:spcAft>
            </a:pPr>
            <a:r>
              <a:rPr b="1" sz="750">
                <a:solidFill>
                  <a:srgbClr val="166534"/>
                </a:solidFill>
                <a:latin typeface="Calibri"/>
              </a:rPr>
              <a:t>• </a:t>
            </a:r>
            <a:r>
              <a:rPr b="1" sz="750" u="sng">
                <a:solidFill>
                  <a:srgbClr val="1E40AF"/>
                </a:solidFill>
                <a:latin typeface="Calibri"/>
                <a:hlinkClick r:id="rId14"/>
              </a:rPr>
              <a:t>PostGIS — Spatial Database ↗</a:t>
            </a:r>
            <a:r>
              <a:rPr b="0" sz="680">
                <a:solidFill>
                  <a:srgbClr val="64748B"/>
                </a:solidFill>
                <a:latin typeface="Calibri"/>
              </a:rPr>
              <a:t> (PostgreSQL Spatial Extension)</a:t>
            </a:r>
          </a:p>
          <a:p>
            <a:pPr algn="l">
              <a:spcBef>
                <a:spcPts val="20"/>
              </a:spcBef>
              <a:spcAft>
                <a:spcPts val="100"/>
              </a:spcAft>
            </a:pPr>
            <a:r>
              <a:rPr b="0" sz="690">
                <a:solidFill>
                  <a:srgbClr val="334155"/>
                </a:solidFill>
                <a:latin typeface="Calibri"/>
              </a:rPr>
              <a:t>Geospatial Clustering: ST_DWithin and K-Nearest-Neighbor spatial queries enabling location-based clustering and dynamic collector-to-hub routing.</a:t>
            </a:r>
          </a:p>
          <a:p>
            <a:pPr algn="l">
              <a:spcBef>
                <a:spcPts val="180"/>
              </a:spcBef>
              <a:spcAft>
                <a:spcPts val="20"/>
              </a:spcAft>
            </a:pPr>
            <a:r>
              <a:rPr b="1" sz="750">
                <a:solidFill>
                  <a:srgbClr val="166534"/>
                </a:solidFill>
                <a:latin typeface="Calibri"/>
              </a:rPr>
              <a:t>• </a:t>
            </a:r>
            <a:r>
              <a:rPr b="1" sz="750" u="sng">
                <a:solidFill>
                  <a:srgbClr val="1E40AF"/>
                </a:solidFill>
                <a:latin typeface="Calibri"/>
                <a:hlinkClick r:id="rId15"/>
              </a:rPr>
              <a:t>MDN — IndexedDB API &amp; Service Worker ↗</a:t>
            </a:r>
            <a:r>
              <a:rPr b="0" sz="680">
                <a:solidFill>
                  <a:srgbClr val="64748B"/>
                </a:solidFill>
                <a:latin typeface="Calibri"/>
              </a:rPr>
              <a:t> (W3C / Mozilla Standards)</a:t>
            </a:r>
          </a:p>
          <a:p>
            <a:pPr algn="l">
              <a:spcBef>
                <a:spcPts val="20"/>
              </a:spcBef>
              <a:spcAft>
                <a:spcPts val="100"/>
              </a:spcAft>
            </a:pPr>
            <a:r>
              <a:rPr b="0" sz="690">
                <a:solidFill>
                  <a:srgbClr val="334155"/>
                </a:solidFill>
                <a:latin typeface="Calibri"/>
              </a:rPr>
              <a:t>Offline-First Architecture: Local transactional queueing in zero-connectivity slum areas; automatically cryptographically signs and syncs when reconnected.</a:t>
            </a:r>
          </a:p>
          <a:p>
            <a:pPr algn="l">
              <a:spcBef>
                <a:spcPts val="300"/>
              </a:spcBef>
            </a:pPr>
            <a:r>
              <a:rPr b="1" sz="700">
                <a:solidFill>
                  <a:srgbClr val="166534"/>
                </a:solidFill>
                <a:latin typeface="Calibri"/>
              </a:rPr>
              <a:t>ARCHITECTURAL PRINCIPLE: </a:t>
            </a:r>
            <a:r>
              <a:rPr b="0" sz="690">
                <a:solidFill>
                  <a:srgbClr val="334155"/>
                </a:solidFill>
                <a:latin typeface="Calibri"/>
              </a:rPr>
              <a:t>Zero-capex, open-source stack that runs on entry-level Android smartphones with zero proprietary licensing cost.</a:t>
            </a:r>
          </a:p>
        </p:txBody>
      </p:sp>
      <p:sp>
        <p:nvSpPr>
          <p:cNvPr id="17413" name="Rounded Rectangle 17412"/>
          <p:cNvSpPr/>
          <p:nvPr/>
        </p:nvSpPr>
        <p:spPr>
          <a:xfrm>
            <a:off x="8046720" y="1261872"/>
            <a:ext cx="3584448" cy="4059936"/>
          </a:xfrm>
          <a:prstGeom prst="roundRect">
            <a:avLst/>
          </a:prstGeom>
          <a:solidFill>
            <a:srgbClr val="FFFFFF"/>
          </a:solidFill>
          <a:ln w="17780">
            <a:solidFill>
              <a:srgbClr val="B45309"/>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73152"/>
          <a:lstStyle/>
          <a:p>
            <a:pPr algn="l"/>
            <a:r>
              <a:rPr b="1" sz="960">
                <a:solidFill>
                  <a:srgbClr val="B45309"/>
                </a:solidFill>
                <a:latin typeface="Calibri"/>
              </a:rPr>
              <a:t>3. PRIMARY FIELD RESEARCH</a:t>
            </a:r>
          </a:p>
          <a:p>
            <a:pPr algn="l">
              <a:spcBef>
                <a:spcPts val="50"/>
              </a:spcBef>
              <a:spcAft>
                <a:spcPts val="200"/>
              </a:spcAft>
            </a:pPr>
            <a:r>
              <a:rPr b="0" sz="720">
                <a:solidFill>
                  <a:srgbClr val="64748B"/>
                </a:solidFill>
                <a:latin typeface="Calibri"/>
              </a:rPr>
              <a:t>On-Ground Interviews &amp; Operational Workflow Observation</a:t>
            </a:r>
          </a:p>
          <a:p>
            <a:pPr algn="l">
              <a:spcBef>
                <a:spcPts val="50"/>
              </a:spcBef>
              <a:spcAft>
                <a:spcPts val="300"/>
              </a:spcAft>
            </a:pPr>
            <a:r>
              <a:rPr b="1" sz="740">
                <a:solidFill>
                  <a:srgbClr val="B45309"/>
                </a:solidFill>
                <a:latin typeface="Calibri"/>
              </a:rPr>
              <a:t>FIELD SAMPLE: 2 Informal Collectors + 1 Main Aggregator</a:t>
            </a:r>
          </a:p>
          <a:p>
            <a:pPr algn="l">
              <a:spcBef>
                <a:spcPts val="200"/>
              </a:spcBef>
              <a:spcAft>
                <a:spcPts val="20"/>
              </a:spcAft>
            </a:pPr>
            <a:r>
              <a:rPr b="1" sz="750">
                <a:solidFill>
                  <a:srgbClr val="0F172A"/>
                </a:solidFill>
                <a:latin typeface="Calibri"/>
              </a:rPr>
              <a:t>Participant 01: Collector 01 (Daily Waste-Picker)</a:t>
            </a:r>
          </a:p>
          <a:p>
            <a:pPr algn="l">
              <a:spcBef>
                <a:spcPts val="20"/>
              </a:spcBef>
              <a:spcAft>
                <a:spcPts val="20"/>
              </a:spcAft>
            </a:pPr>
            <a:r>
              <a:rPr b="1" sz="690">
                <a:solidFill>
                  <a:srgbClr val="B45309"/>
                </a:solidFill>
                <a:latin typeface="Calibri"/>
              </a:rPr>
              <a:t>Process Told: </a:t>
            </a:r>
            <a:r>
              <a:rPr b="0" sz="680">
                <a:solidFill>
                  <a:srgbClr val="334155"/>
                </a:solidFill>
                <a:latin typeface="Calibri"/>
              </a:rPr>
              <a:t>Collects discarded electronics from repair shops &amp; bins ➔ Sells daily to roadside dealer for instant cash; accepts flat under-weighed estimate.</a:t>
            </a:r>
          </a:p>
          <a:p>
            <a:pPr algn="l">
              <a:spcBef>
                <a:spcPts val="20"/>
              </a:spcBef>
              <a:spcAft>
                <a:spcPts val="150"/>
              </a:spcAft>
            </a:pPr>
            <a:r>
              <a:rPr b="1" sz="690">
                <a:solidFill>
                  <a:srgbClr val="166534"/>
                </a:solidFill>
                <a:latin typeface="Calibri"/>
              </a:rPr>
              <a:t>What He Told: </a:t>
            </a:r>
            <a:r>
              <a:rPr b="0" sz="680">
                <a:solidFill>
                  <a:srgbClr val="0F172A"/>
                </a:solidFill>
                <a:latin typeface="Calibri"/>
              </a:rPr>
              <a:t>"Scrap dealers reduce 1–2 kg on mechanical spring scales and give flat rates for printed boards. If we know true rates and have scale photo proof, no one can cut our money."</a:t>
            </a:r>
          </a:p>
          <a:p>
            <a:pPr algn="l">
              <a:spcBef>
                <a:spcPts val="200"/>
              </a:spcBef>
              <a:spcAft>
                <a:spcPts val="20"/>
              </a:spcAft>
            </a:pPr>
            <a:r>
              <a:rPr b="1" sz="750">
                <a:solidFill>
                  <a:srgbClr val="0F172A"/>
                </a:solidFill>
                <a:latin typeface="Calibri"/>
              </a:rPr>
              <a:t>Participant 02: Collector 02 (Itinerant Scrap Buyer)</a:t>
            </a:r>
          </a:p>
          <a:p>
            <a:pPr algn="l">
              <a:spcBef>
                <a:spcPts val="20"/>
              </a:spcBef>
              <a:spcAft>
                <a:spcPts val="20"/>
              </a:spcAft>
            </a:pPr>
            <a:r>
              <a:rPr b="1" sz="690">
                <a:solidFill>
                  <a:srgbClr val="B45309"/>
                </a:solidFill>
                <a:latin typeface="Calibri"/>
              </a:rPr>
              <a:t>Process Told: </a:t>
            </a:r>
            <a:r>
              <a:rPr b="0" sz="680">
                <a:solidFill>
                  <a:srgbClr val="334155"/>
                </a:solidFill>
                <a:latin typeface="Calibri"/>
              </a:rPr>
              <a:t>Travels 15–20 km daily pushcart route buying home appliances ➔ Connectivity drops in narrow alleys ➔ Needs immediate price proof for household sellers.</a:t>
            </a:r>
          </a:p>
          <a:p>
            <a:pPr algn="l">
              <a:spcBef>
                <a:spcPts val="20"/>
              </a:spcBef>
              <a:spcAft>
                <a:spcPts val="150"/>
              </a:spcAft>
            </a:pPr>
            <a:r>
              <a:rPr b="1" sz="690">
                <a:solidFill>
                  <a:srgbClr val="166534"/>
                </a:solidFill>
                <a:latin typeface="Calibri"/>
              </a:rPr>
              <a:t>What He Told: </a:t>
            </a:r>
            <a:r>
              <a:rPr b="0" sz="680">
                <a:solidFill>
                  <a:srgbClr val="0F172A"/>
                </a:solidFill>
                <a:latin typeface="Calibri"/>
              </a:rPr>
              <a:t>"Households bargain hard because they don't trust our rates. An app showing live market scrap rates on screen builds trust and closes deals faster."</a:t>
            </a:r>
          </a:p>
          <a:p>
            <a:pPr algn="l">
              <a:spcBef>
                <a:spcPts val="200"/>
              </a:spcBef>
              <a:spcAft>
                <a:spcPts val="20"/>
              </a:spcAft>
            </a:pPr>
            <a:r>
              <a:rPr b="1" sz="750">
                <a:solidFill>
                  <a:srgbClr val="0F172A"/>
                </a:solidFill>
                <a:latin typeface="Calibri"/>
              </a:rPr>
              <a:t>Participant 03: Main Aggregator (Local Scrap Hub Operator)</a:t>
            </a:r>
          </a:p>
          <a:p>
            <a:pPr algn="l">
              <a:spcBef>
                <a:spcPts val="20"/>
              </a:spcBef>
              <a:spcAft>
                <a:spcPts val="20"/>
              </a:spcAft>
            </a:pPr>
            <a:r>
              <a:rPr b="1" sz="690">
                <a:solidFill>
                  <a:srgbClr val="B45309"/>
                </a:solidFill>
                <a:latin typeface="Calibri"/>
              </a:rPr>
              <a:t>Process Told: </a:t>
            </a:r>
            <a:r>
              <a:rPr b="0" sz="680">
                <a:solidFill>
                  <a:srgbClr val="334155"/>
                </a:solidFill>
                <a:latin typeface="Calibri"/>
              </a:rPr>
              <a:t>Buys small lots from 30+ collectors ➔ Stores in yard ➔ Records in paper bahi-khata ➔ Holds stock until truckload (1–2 tons) for recycler dispatch.</a:t>
            </a:r>
          </a:p>
          <a:p>
            <a:pPr algn="l">
              <a:spcBef>
                <a:spcPts val="20"/>
              </a:spcBef>
              <a:spcAft>
                <a:spcPts val="150"/>
              </a:spcAft>
            </a:pPr>
            <a:r>
              <a:rPr b="1" sz="690">
                <a:solidFill>
                  <a:srgbClr val="166534"/>
                </a:solidFill>
                <a:latin typeface="Calibri"/>
              </a:rPr>
              <a:t>What He Told: </a:t>
            </a:r>
            <a:r>
              <a:rPr b="0" sz="680">
                <a:solidFill>
                  <a:srgbClr val="0F172A"/>
                </a:solidFill>
                <a:latin typeface="Calibri"/>
              </a:rPr>
              <a:t>"Big recyclers pay higher rates but demand 500kg+ lots and manifests. Paper notebooks get messy; digital lotting lets us operate as certified formal collection hubs."</a:t>
            </a:r>
          </a:p>
          <a:p>
            <a:pPr algn="l">
              <a:spcBef>
                <a:spcPts val="250"/>
              </a:spcBef>
            </a:pPr>
            <a:r>
              <a:rPr b="1" sz="720">
                <a:solidFill>
                  <a:srgbClr val="0F172A"/>
                </a:solidFill>
                <a:latin typeface="Calibri"/>
              </a:rPr>
              <a:t>FIELD RESEARCH COVERAGE:</a:t>
            </a:r>
          </a:p>
          <a:p>
            <a:pPr algn="l">
              <a:spcBef>
                <a:spcPts val="50"/>
              </a:spcBef>
              <a:spcAft>
                <a:spcPts val="200"/>
              </a:spcAft>
            </a:pPr>
            <a:r>
              <a:rPr b="1" sz="690">
                <a:solidFill>
                  <a:srgbClr val="166534"/>
                </a:solidFill>
                <a:latin typeface="Calibri"/>
              </a:rPr>
              <a:t>Collection ➔ Pricing ➔ Weighing ➔ Aggregation ➔ Bulk Transfer ➔ Recycler</a:t>
            </a:r>
          </a:p>
          <a:p>
            <a:pPr algn="l">
              <a:spcBef>
                <a:spcPts val="150"/>
              </a:spcBef>
            </a:pPr>
            <a:r>
              <a:rPr b="1" sz="700">
                <a:solidFill>
                  <a:srgbClr val="B45309"/>
                </a:solidFill>
                <a:latin typeface="Calibri"/>
              </a:rPr>
              <a:t>Core Validation: </a:t>
            </a:r>
            <a:r>
              <a:rPr b="0" sz="680">
                <a:solidFill>
                  <a:srgbClr val="334155"/>
                </a:solidFill>
                <a:latin typeface="Calibri"/>
              </a:rPr>
              <a:t>Informal actors do not resist formalization when empowered with scale proof and market prices without disrupting their existing cash flows.</a:t>
            </a:r>
          </a:p>
        </p:txBody>
      </p:sp>
      <p:sp>
        <p:nvSpPr>
          <p:cNvPr id="17414" name="Rounded Rectangle 17413"/>
          <p:cNvSpPr/>
          <p:nvPr/>
        </p:nvSpPr>
        <p:spPr>
          <a:xfrm>
            <a:off x="548640" y="5376672"/>
            <a:ext cx="5440680" cy="877824"/>
          </a:xfrm>
          <a:prstGeom prst="roundRect">
            <a:avLst/>
          </a:prstGeom>
          <a:solidFill>
            <a:srgbClr val="F0FDF4"/>
          </a:solidFill>
          <a:ln w="17780">
            <a:solidFill>
              <a:srgbClr val="166534"/>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73152"/>
          <a:lstStyle/>
          <a:p>
            <a:pPr algn="l"/>
            <a:r>
              <a:rPr b="1" sz="919">
                <a:solidFill>
                  <a:srgbClr val="166534"/>
                </a:solidFill>
                <a:latin typeface="Calibri"/>
              </a:rPr>
              <a:t>PROTOTYPE WEB APPLICATION:  </a:t>
            </a:r>
            <a:r>
              <a:rPr b="1" sz="919" u="sng">
                <a:solidFill>
                  <a:srgbClr val="1E40AF"/>
                </a:solidFill>
                <a:latin typeface="Calibri"/>
                <a:hlinkClick r:id="rId16"/>
              </a:rPr>
              <a:t>https://recysaathi.vercel.app ↗</a:t>
            </a:r>
          </a:p>
          <a:p>
            <a:pPr algn="l">
              <a:spcBef>
                <a:spcPts val="300"/>
              </a:spcBef>
            </a:pPr>
            <a:r>
              <a:rPr b="1" sz="780">
                <a:solidFill>
                  <a:srgbClr val="0F172A"/>
                </a:solidFill>
                <a:latin typeface="Calibri"/>
              </a:rPr>
              <a:t>Live Responsive PWA: </a:t>
            </a:r>
            <a:r>
              <a:rPr b="0" sz="750">
                <a:solidFill>
                  <a:srgbClr val="334155"/>
                </a:solidFill>
                <a:latin typeface="Calibri"/>
              </a:rPr>
              <a:t>Mobile-optimized web app with visual scrap touch categories, offline IndexedDB transaction storage, and camera scale OCR weight extraction for budget Android phones.</a:t>
            </a:r>
          </a:p>
        </p:txBody>
      </p:sp>
      <p:sp>
        <p:nvSpPr>
          <p:cNvPr id="17415" name="Rounded Rectangle 17414"/>
          <p:cNvSpPr/>
          <p:nvPr/>
        </p:nvSpPr>
        <p:spPr>
          <a:xfrm>
            <a:off x="6190488" y="5376672"/>
            <a:ext cx="5440680" cy="877824"/>
          </a:xfrm>
          <a:prstGeom prst="roundRect">
            <a:avLst/>
          </a:prstGeom>
          <a:solidFill>
            <a:srgbClr val="F0F9FF"/>
          </a:solidFill>
          <a:ln w="17780">
            <a:solidFill>
              <a:srgbClr val="1E40AF"/>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73152"/>
          <a:lstStyle/>
          <a:p>
            <a:pPr algn="l"/>
            <a:r>
              <a:rPr b="1" sz="919">
                <a:solidFill>
                  <a:srgbClr val="1E40AF"/>
                </a:solidFill>
                <a:latin typeface="Calibri"/>
              </a:rPr>
              <a:t>YOUTUBE VIDEO DEMONSTRATION:  </a:t>
            </a:r>
            <a:r>
              <a:rPr b="1" sz="919" u="sng">
                <a:solidFill>
                  <a:srgbClr val="1E40AF"/>
                </a:solidFill>
                <a:latin typeface="Calibri"/>
                <a:hlinkClick r:id="rId17"/>
              </a:rPr>
              <a:t>https://youtu.be/ewastesetu-demo ↗</a:t>
            </a:r>
          </a:p>
          <a:p>
            <a:pPr algn="l">
              <a:spcBef>
                <a:spcPts val="300"/>
              </a:spcBef>
            </a:pPr>
            <a:r>
              <a:rPr b="1" sz="780">
                <a:solidFill>
                  <a:srgbClr val="0F172A"/>
                </a:solidFill>
                <a:latin typeface="Calibri"/>
              </a:rPr>
              <a:t>Complete System Walkthrough: </a:t>
            </a:r>
            <a:r>
              <a:rPr b="0" sz="750">
                <a:solidFill>
                  <a:srgbClr val="334155"/>
                </a:solidFill>
                <a:latin typeface="Calibri"/>
              </a:rPr>
              <a:t>End-to-end video demo of voice scrap logging, digital scale OCR weight capture, local hub batch lotting, and dual QR CPCB Form-6 manifest handover.</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